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0947b997-798f-1980-1bd9-5e217a5c495f}">
          <p14:sldIdLst>
            <p14:sldId id="256"/>
          </p14:sldIdLst>
        </p14:section>
        <p14:section name="문제와 기회" id="{da884f87-ca74-59bc-8779-d71edfee9e68}">
          <p14:sldIdLst>
            <p14:sldId id="257"/>
            <p14:sldId id="258"/>
          </p14:sldIdLst>
        </p14:section>
        <p14:section name="솔루션" id="{1046bc4e-01a5-70a9-ef30-bcc306735a5e}">
          <p14:sldIdLst>
            <p14:sldId id="259"/>
            <p14:sldId id="260"/>
          </p14:sldIdLst>
        </p14:section>
        <p14:section name="검증" id="{e0fdc00d-5ed5-04af-99b3-f2aba800ac7d}">
          <p14:sldIdLst>
            <p14:sldId id="261"/>
            <p14:sldId id="262"/>
          </p14:sldIdLst>
        </p14:section>
        <p14:section name="비즈니스" id="{24fc17b1-e7b3-b2c3-9312-b2bd80fcde33}">
          <p14:sldIdLst>
            <p14:sldId id="263"/>
            <p14:sldId id="264"/>
          </p14:sldIdLst>
        </p14:section>
        <p14:section name="Q&amp;A" id="{a25ec165-f457-163b-ee92-d0c8070a48b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F9C6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C1C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C6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C6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1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C6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416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뷰티</c:v>
                  </c:pt>
                  <c:pt idx="1">
                    <c:v>식품</c:v>
                  </c:pt>
                  <c:pt idx="2">
                    <c:v>홈리빙</c:v>
                  </c:pt>
                  <c:pt idx="3">
                    <c:v>건기식</c:v>
                  </c:pt>
                  <c:pt idx="4">
                    <c:v>육아용품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C1C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찜꽁은 고객이 찜해 둔 상품으로 공구를 열고, 목표 수량이 차면 할인가로 판매하는 카페24 홈리빙 브랜드용 도구입니다.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55448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011680"/>
            <a:ext cx="69494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93192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찜꽁 · 찜 공구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♥ 찜꽁 · 찜 공구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0116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찜만 쌓여 있던 수요를,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결제가 끝난 확정 주문으로</a:t>
            </a:r>
            <a:endParaRPr lang="en-US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393192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카페24 홈리빙 자체 브랜드를 위한 예약 공동구매 도구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HOP · 강민서, 김보성, 김혜수, 이규현, 하유정</a:t>
            </a:r>
            <a:endParaRPr lang="en-US" sz="1600" dirty="0"/>
          </a:p>
        </p:txBody>
      </p:sp>
      <p:pic>
        <p:nvPicPr>
          <p:cNvPr id="5" name="logo" descr="찜꽁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194560"/>
            <a:ext cx="3840480" cy="2437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· 기회 · 5개국 이커머스 조사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고객은 구매 직전에 멈추고, 해법은 비어 있습니다</a:t>
            </a:r>
            <a:endParaRPr lang="en-US" sz="3000" dirty="0"/>
          </a:p>
        </p:txBody>
      </p:sp>
      <p:sp>
        <p:nvSpPr>
          <p:cNvPr id="4" name="card-1"/>
          <p:cNvSpPr/>
          <p:nvPr/>
        </p:nvSpPr>
        <p:spPr>
          <a:xfrm>
            <a:off x="548640" y="1691640"/>
            <a:ext cx="3515258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-2"/>
          <p:cNvSpPr txBox="1"/>
          <p:nvPr/>
        </p:nvSpPr>
        <p:spPr>
          <a:xfrm>
            <a:off x="868680" y="19659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70.22%</a:t>
            </a:r>
            <a:endParaRPr lang="en-US" sz="4800" dirty="0"/>
          </a:p>
        </p:txBody>
      </p:sp>
      <p:sp>
        <p:nvSpPr>
          <p:cNvPr id="6" name="text-3"/>
          <p:cNvSpPr txBox="1"/>
          <p:nvPr/>
        </p:nvSpPr>
        <p:spPr>
          <a:xfrm>
            <a:off x="868680" y="30632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미국 평균 장바구니 이탈률</a:t>
            </a:r>
            <a:endParaRPr lang="en-US" sz="1600" dirty="0"/>
          </a:p>
        </p:txBody>
      </p:sp>
      <p:sp>
        <p:nvSpPr>
          <p:cNvPr id="7" name="text-4"/>
          <p:cNvSpPr txBox="1"/>
          <p:nvPr/>
        </p:nvSpPr>
        <p:spPr>
          <a:xfrm>
            <a:off x="868680" y="3566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찜·장바구니 단계에서 가장 많이 떠남 (Baymard, 50개 연구)</a:t>
            </a:r>
            <a:endParaRPr lang="en-US" sz="1200" dirty="0"/>
          </a:p>
        </p:txBody>
      </p:sp>
      <p:sp>
        <p:nvSpPr>
          <p:cNvPr id="8" name="card-5"/>
          <p:cNvSpPr/>
          <p:nvPr/>
        </p:nvSpPr>
        <p:spPr>
          <a:xfrm>
            <a:off x="4338218" y="1691640"/>
            <a:ext cx="3515258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-6"/>
          <p:cNvSpPr txBox="1"/>
          <p:nvPr/>
        </p:nvSpPr>
        <p:spPr>
          <a:xfrm>
            <a:off x="4658258" y="19659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 / 18</a:t>
            </a:r>
            <a:endParaRPr lang="en-US" sz="4800" dirty="0"/>
          </a:p>
        </p:txBody>
      </p:sp>
      <p:sp>
        <p:nvSpPr>
          <p:cNvPr id="10" name="text-7"/>
          <p:cNvSpPr txBox="1"/>
          <p:nvPr/>
        </p:nvSpPr>
        <p:spPr>
          <a:xfrm>
            <a:off x="4658258" y="30632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'프로모션 설계'가 주력인 숨은 기업</a:t>
            </a:r>
            <a:endParaRPr lang="en-US" sz="1600" dirty="0"/>
          </a:p>
        </p:txBody>
      </p:sp>
      <p:sp>
        <p:nvSpPr>
          <p:cNvPr id="11" name="text-8"/>
          <p:cNvSpPr txBox="1"/>
          <p:nvPr/>
        </p:nvSpPr>
        <p:spPr>
          <a:xfrm>
            <a:off x="4658258" y="3566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중국 群接龙(공동구매) 1곳뿐 · 한·영·일은 0곳</a:t>
            </a:r>
            <a:endParaRPr lang="en-US" sz="1200" dirty="0"/>
          </a:p>
        </p:txBody>
      </p:sp>
      <p:sp>
        <p:nvSpPr>
          <p:cNvPr id="12" name="card-9"/>
          <p:cNvSpPr/>
          <p:nvPr/>
        </p:nvSpPr>
        <p:spPr>
          <a:xfrm>
            <a:off x="8127797" y="1691640"/>
            <a:ext cx="3515258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text-10"/>
          <p:cNvSpPr txBox="1"/>
          <p:nvPr/>
        </p:nvSpPr>
        <p:spPr>
          <a:xfrm>
            <a:off x="8447837" y="19659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12.3점</a:t>
            </a:r>
            <a:endParaRPr lang="en-US" sz="4800" dirty="0"/>
          </a:p>
        </p:txBody>
      </p:sp>
      <p:sp>
        <p:nvSpPr>
          <p:cNvPr id="14" name="text-11"/>
          <p:cNvSpPr txBox="1"/>
          <p:nvPr/>
        </p:nvSpPr>
        <p:spPr>
          <a:xfrm>
            <a:off x="8447837" y="30632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 단계를 겨냥한 아이디어 평균 점수 1위</a:t>
            </a:r>
            <a:endParaRPr lang="en-US" sz="1600" dirty="0"/>
          </a:p>
        </p:txBody>
      </p:sp>
      <p:sp>
        <p:nvSpPr>
          <p:cNvPr id="15" name="text-12"/>
          <p:cNvSpPr txBox="1"/>
          <p:nvPr/>
        </p:nvSpPr>
        <p:spPr>
          <a:xfrm>
            <a:off x="8447837" y="3566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실현성 + 차별성 + 수익성, 15점 만점 (자체 평가)</a:t>
            </a:r>
            <a:endParaRPr lang="en-US" sz="1200" dirty="0"/>
          </a:p>
        </p:txBody>
      </p:sp>
      <p:sp>
        <p:nvSpPr>
          <p:cNvPr id="16" name="card-13"/>
          <p:cNvSpPr/>
          <p:nvPr/>
        </p:nvSpPr>
        <p:spPr>
          <a:xfrm>
            <a:off x="548640" y="470916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17" name="text-14"/>
          <p:cNvSpPr txBox="1"/>
          <p:nvPr/>
        </p:nvSpPr>
        <p:spPr>
          <a:xfrm>
            <a:off x="914400" y="470916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5개국 모두 "이 값이 맞나"에서 멈췄지만, 프로모션 설계는 아무도 풀지 않았다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→ 비어 있는 '프로모션 설계' 단계를 예약 공동구매로 채운다</a:t>
            </a:r>
            <a:endParaRPr lang="en-US" sz="1400" dirty="0"/>
          </a:p>
        </p:txBody>
      </p:sp>
      <p:sp>
        <p:nvSpPr>
          <p:cNvPr id="18" name="text-15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자료: 이커머스 벤치마킹 공동 조사표 · 5개국 × 쇼핑 7단계 · 숨은 기업 18곳 · 한국용 아이디어 25개 (2026-10-02)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· 문제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찜은 쌓이는데, 사는 사람도 만드는 사람도 없습니다</a:t>
            </a:r>
            <a:endParaRPr lang="en-US" sz="3000" dirty="0"/>
          </a:p>
        </p:txBody>
      </p:sp>
      <p:sp>
        <p:nvSpPr>
          <p:cNvPr id="4" name="card-16"/>
          <p:cNvSpPr/>
          <p:nvPr/>
        </p:nvSpPr>
        <p:spPr>
          <a:xfrm>
            <a:off x="548640" y="1691640"/>
            <a:ext cx="536432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iconbg-17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con-18" descr="고객 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30552"/>
            <a:ext cx="493776" cy="493776"/>
          </a:xfrm>
          <a:prstGeom prst="rect">
            <a:avLst/>
          </a:prstGeom>
        </p:spPr>
      </p:pic>
      <p:sp>
        <p:nvSpPr>
          <p:cNvPr id="7" name="text-19"/>
          <p:cNvSpPr txBox="1"/>
          <p:nvPr/>
        </p:nvSpPr>
        <p:spPr>
          <a:xfrm>
            <a:off x="1920240" y="2011680"/>
            <a:ext cx="362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고객 쪽</a:t>
            </a:r>
            <a:endParaRPr lang="en-US" sz="1200" dirty="0"/>
          </a:p>
        </p:txBody>
      </p:sp>
      <p:sp>
        <p:nvSpPr>
          <p:cNvPr id="8" name="text-20"/>
          <p:cNvSpPr txBox="1"/>
          <p:nvPr/>
        </p:nvSpPr>
        <p:spPr>
          <a:xfrm>
            <a:off x="1920240" y="2286000"/>
            <a:ext cx="362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찜은 하지만, 정가로는 망설인다</a:t>
            </a:r>
            <a:endParaRPr lang="en-US" sz="1900" dirty="0"/>
          </a:p>
        </p:txBody>
      </p:sp>
      <p:sp>
        <p:nvSpPr>
          <p:cNvPr id="9" name="text-21"/>
          <p:cNvSpPr txBox="1"/>
          <p:nvPr/>
        </p:nvSpPr>
        <p:spPr>
          <a:xfrm>
            <a:off x="914400" y="310896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'언젠가 살 것'을 찜으로 쌓아 둔다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찜해 두고 안 산 이유 1위: "할인할 때 사려고" (62%)</a:t>
            </a:r>
            <a:endParaRPr lang="en-US" sz="1500" dirty="0"/>
          </a:p>
        </p:txBody>
      </p:sp>
      <p:sp>
        <p:nvSpPr>
          <p:cNvPr id="10" name="card-22"/>
          <p:cNvSpPr/>
          <p:nvPr/>
        </p:nvSpPr>
        <p:spPr>
          <a:xfrm>
            <a:off x="6278728" y="1691640"/>
            <a:ext cx="536432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iconbg-23"/>
          <p:cNvSpPr/>
          <p:nvPr/>
        </p:nvSpPr>
        <p:spPr>
          <a:xfrm>
            <a:off x="6644488" y="1965960"/>
            <a:ext cx="822960" cy="8229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con-24" descr="판매자 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80" y="2130552"/>
            <a:ext cx="493776" cy="493776"/>
          </a:xfrm>
          <a:prstGeom prst="rect">
            <a:avLst/>
          </a:prstGeom>
        </p:spPr>
      </p:pic>
      <p:sp>
        <p:nvSpPr>
          <p:cNvPr id="13" name="text-25"/>
          <p:cNvSpPr txBox="1"/>
          <p:nvPr/>
        </p:nvSpPr>
        <p:spPr>
          <a:xfrm>
            <a:off x="7650328" y="2011680"/>
            <a:ext cx="362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판매자 쪽</a:t>
            </a:r>
            <a:endParaRPr lang="en-US" sz="1200" dirty="0"/>
          </a:p>
        </p:txBody>
      </p:sp>
      <p:sp>
        <p:nvSpPr>
          <p:cNvPr id="14" name="text-26"/>
          <p:cNvSpPr txBox="1"/>
          <p:nvPr/>
        </p:nvSpPr>
        <p:spPr>
          <a:xfrm>
            <a:off x="7650328" y="2286000"/>
            <a:ext cx="3626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몇 개 팔릴지 몰라 할인·재생산을 미룬다</a:t>
            </a:r>
            <a:endParaRPr lang="en-US" sz="1900" dirty="0"/>
          </a:p>
        </p:txBody>
      </p:sp>
      <p:sp>
        <p:nvSpPr>
          <p:cNvPr id="15" name="text-27"/>
          <p:cNvSpPr txBox="1"/>
          <p:nvPr/>
        </p:nvSpPr>
        <p:spPr>
          <a:xfrm>
            <a:off x="6644488" y="310896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원단 롤·가마 1회분처럼 생산 단위가 커 재고 부담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홈리빙 사례: 찜 2,000건에도 발주 수량을 못 정함</a:t>
            </a:r>
            <a:endParaRPr lang="en-US" sz="1500" dirty="0"/>
          </a:p>
        </p:txBody>
      </p:sp>
      <p:sp>
        <p:nvSpPr>
          <p:cNvPr id="16" name="card-28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17" name="text-29"/>
          <p:cNvSpPr txBox="1"/>
          <p:nvPr/>
        </p:nvSpPr>
        <p:spPr>
          <a:xfrm>
            <a:off x="914400" y="51206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→ 찜 수요를 결제가 끝난 확정 주문으로 바꿔 줄 도구가 없다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· 작동 방식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신청은 먼저, 결제는 목표를 채운 뒤에</a:t>
            </a:r>
            <a:endParaRPr lang="en-US" sz="3000" dirty="0"/>
          </a:p>
        </p:txBody>
      </p:sp>
      <p:sp>
        <p:nvSpPr>
          <p:cNvPr id="4" name="text-30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찜해 둔 상품으로 공구를 열고, 목표 수량이 차면 할인가로 팝니다.</a:t>
            </a:r>
            <a:endParaRPr lang="en-US" sz="1600" dirty="0"/>
          </a:p>
        </p:txBody>
      </p:sp>
      <p:sp>
        <p:nvSpPr>
          <p:cNvPr id="5" name="card-31"/>
          <p:cNvSpPr/>
          <p:nvPr/>
        </p:nvSpPr>
        <p:spPr>
          <a:xfrm>
            <a:off x="548640" y="2011680"/>
            <a:ext cx="339333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badge-32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-33"/>
          <p:cNvSpPr txBox="1"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-34"/>
          <p:cNvSpPr txBox="1"/>
          <p:nvPr/>
        </p:nvSpPr>
        <p:spPr>
          <a:xfrm>
            <a:off x="1508760" y="2286000"/>
            <a:ext cx="2204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판매자</a:t>
            </a:r>
            <a:endParaRPr lang="en-US" sz="1300" dirty="0"/>
          </a:p>
        </p:txBody>
      </p:sp>
      <p:sp>
        <p:nvSpPr>
          <p:cNvPr id="9" name="text-35"/>
          <p:cNvSpPr txBox="1"/>
          <p:nvPr/>
        </p:nvSpPr>
        <p:spPr>
          <a:xfrm>
            <a:off x="868680" y="29718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공구 개설</a:t>
            </a:r>
            <a:endParaRPr lang="en-US" sz="2000" dirty="0"/>
          </a:p>
        </p:txBody>
      </p:sp>
      <p:sp>
        <p:nvSpPr>
          <p:cNvPr id="10" name="text-36"/>
          <p:cNvSpPr txBox="1"/>
          <p:nvPr/>
        </p:nvSpPr>
        <p:spPr>
          <a:xfrm>
            <a:off x="868680" y="347472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찜·수신동의 고객을 대상으로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목표 수량·할인가·마감일 설정</a:t>
            </a:r>
            <a:endParaRPr lang="en-US" sz="1300" dirty="0"/>
          </a:p>
        </p:txBody>
      </p:sp>
      <p:sp>
        <p:nvSpPr>
          <p:cNvPr id="11" name="text-37"/>
          <p:cNvSpPr txBox="1"/>
          <p:nvPr/>
        </p:nvSpPr>
        <p:spPr>
          <a:xfrm>
            <a:off x="3941978" y="2011680"/>
            <a:ext cx="457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›</a:t>
            </a:r>
            <a:endParaRPr lang="en-US" sz="3600" dirty="0"/>
          </a:p>
        </p:txBody>
      </p:sp>
      <p:sp>
        <p:nvSpPr>
          <p:cNvPr id="12" name="card-38"/>
          <p:cNvSpPr/>
          <p:nvPr/>
        </p:nvSpPr>
        <p:spPr>
          <a:xfrm>
            <a:off x="4399178" y="2011680"/>
            <a:ext cx="3393338" cy="2331720"/>
          </a:xfrm>
          <a:prstGeom prst="roundRect">
            <a:avLst>
              <a:gd name="adj" fmla="val 4706"/>
            </a:avLst>
          </a:prstGeom>
          <a:solidFill>
            <a:schemeClr val="accent6"/>
          </a:solidFill>
          <a:ln/>
        </p:spPr>
      </p:sp>
      <p:sp>
        <p:nvSpPr>
          <p:cNvPr id="13" name="badge-39"/>
          <p:cNvSpPr/>
          <p:nvPr/>
        </p:nvSpPr>
        <p:spPr>
          <a:xfrm>
            <a:off x="4719218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-40"/>
          <p:cNvSpPr txBox="1"/>
          <p:nvPr/>
        </p:nvSpPr>
        <p:spPr>
          <a:xfrm>
            <a:off x="471921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-41"/>
          <p:cNvSpPr txBox="1"/>
          <p:nvPr/>
        </p:nvSpPr>
        <p:spPr>
          <a:xfrm>
            <a:off x="5359298" y="2286000"/>
            <a:ext cx="2204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고객</a:t>
            </a:r>
            <a:endParaRPr lang="en-US" sz="1300" dirty="0"/>
          </a:p>
        </p:txBody>
      </p:sp>
      <p:sp>
        <p:nvSpPr>
          <p:cNvPr id="16" name="text-42"/>
          <p:cNvSpPr txBox="1"/>
          <p:nvPr/>
        </p:nvSpPr>
        <p:spPr>
          <a:xfrm>
            <a:off x="4719218" y="29718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참여 신청</a:t>
            </a:r>
            <a:endParaRPr lang="en-US" sz="2000" dirty="0"/>
          </a:p>
        </p:txBody>
      </p:sp>
      <p:sp>
        <p:nvSpPr>
          <p:cNvPr id="17" name="text-43"/>
          <p:cNvSpPr txBox="1"/>
          <p:nvPr/>
        </p:nvSpPr>
        <p:spPr>
          <a:xfrm>
            <a:off x="4719218" y="347472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상품 페이지 위젯에서 결제 없이 신청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목표 달성 시 쿠폰으로 결제 (72시간)</a:t>
            </a:r>
            <a:endParaRPr lang="en-US" sz="1300" dirty="0"/>
          </a:p>
        </p:txBody>
      </p:sp>
      <p:sp>
        <p:nvSpPr>
          <p:cNvPr id="18" name="text-44"/>
          <p:cNvSpPr txBox="1"/>
          <p:nvPr/>
        </p:nvSpPr>
        <p:spPr>
          <a:xfrm>
            <a:off x="7792517" y="2011680"/>
            <a:ext cx="457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›</a:t>
            </a:r>
            <a:endParaRPr lang="en-US" sz="3600" dirty="0"/>
          </a:p>
        </p:txBody>
      </p:sp>
      <p:sp>
        <p:nvSpPr>
          <p:cNvPr id="19" name="card-45"/>
          <p:cNvSpPr/>
          <p:nvPr/>
        </p:nvSpPr>
        <p:spPr>
          <a:xfrm>
            <a:off x="8249717" y="2011680"/>
            <a:ext cx="339333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0" name="badge-46"/>
          <p:cNvSpPr/>
          <p:nvPr/>
        </p:nvSpPr>
        <p:spPr>
          <a:xfrm>
            <a:off x="8569757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47"/>
          <p:cNvSpPr txBox="1"/>
          <p:nvPr/>
        </p:nvSpPr>
        <p:spPr>
          <a:xfrm>
            <a:off x="8569757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-48"/>
          <p:cNvSpPr txBox="1"/>
          <p:nvPr/>
        </p:nvSpPr>
        <p:spPr>
          <a:xfrm>
            <a:off x="9209837" y="2286000"/>
            <a:ext cx="2204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판매자</a:t>
            </a:r>
            <a:endParaRPr lang="en-US" sz="1300" dirty="0"/>
          </a:p>
        </p:txBody>
      </p:sp>
      <p:sp>
        <p:nvSpPr>
          <p:cNvPr id="23" name="text-49"/>
          <p:cNvSpPr txBox="1"/>
          <p:nvPr/>
        </p:nvSpPr>
        <p:spPr>
          <a:xfrm>
            <a:off x="8569757" y="29718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확정 수량으로 발주</a:t>
            </a:r>
            <a:endParaRPr lang="en-US" sz="2000" dirty="0"/>
          </a:p>
        </p:txBody>
      </p:sp>
      <p:sp>
        <p:nvSpPr>
          <p:cNvPr id="24" name="text-50"/>
          <p:cNvSpPr txBox="1"/>
          <p:nvPr/>
        </p:nvSpPr>
        <p:spPr>
          <a:xfrm>
            <a:off x="8569757" y="347472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결제가 끝난 수량만 카운트해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딱 그만큼만 생산·발주</a:t>
            </a:r>
            <a:endParaRPr lang="en-US" sz="1300" dirty="0"/>
          </a:p>
        </p:txBody>
      </p:sp>
      <p:sp>
        <p:nvSpPr>
          <p:cNvPr id="25" name="text-51"/>
          <p:cNvSpPr txBox="1"/>
          <p:nvPr/>
        </p:nvSpPr>
        <p:spPr>
          <a:xfrm>
            <a:off x="54864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목표 미달이면?</a:t>
            </a:r>
            <a:endParaRPr lang="en-US" sz="1600" dirty="0"/>
          </a:p>
        </p:txBody>
      </p:sp>
      <p:sp>
        <p:nvSpPr>
          <p:cNvPr id="26" name="card-52"/>
          <p:cNvSpPr/>
          <p:nvPr/>
        </p:nvSpPr>
        <p:spPr>
          <a:xfrm>
            <a:off x="2743200" y="4617720"/>
            <a:ext cx="160020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-53"/>
          <p:cNvSpPr txBox="1"/>
          <p:nvPr/>
        </p:nvSpPr>
        <p:spPr>
          <a:xfrm>
            <a:off x="2743200" y="4617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고객 손해 0</a:t>
            </a:r>
            <a:endParaRPr lang="en-US" sz="1400" dirty="0"/>
          </a:p>
        </p:txBody>
      </p:sp>
      <p:sp>
        <p:nvSpPr>
          <p:cNvPr id="28" name="card-54"/>
          <p:cNvSpPr/>
          <p:nvPr/>
        </p:nvSpPr>
        <p:spPr>
          <a:xfrm>
            <a:off x="4526280" y="4617720"/>
            <a:ext cx="160020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-55"/>
          <p:cNvSpPr txBox="1"/>
          <p:nvPr/>
        </p:nvSpPr>
        <p:spPr>
          <a:xfrm>
            <a:off x="4526280" y="4617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재고 부담 0</a:t>
            </a:r>
            <a:endParaRPr lang="en-US" sz="1400" dirty="0"/>
          </a:p>
        </p:txBody>
      </p:sp>
      <p:sp>
        <p:nvSpPr>
          <p:cNvPr id="30" name="card-56"/>
          <p:cNvSpPr/>
          <p:nvPr/>
        </p:nvSpPr>
        <p:spPr>
          <a:xfrm>
            <a:off x="6309360" y="4617720"/>
            <a:ext cx="1600200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-57"/>
          <p:cNvSpPr txBox="1"/>
          <p:nvPr/>
        </p:nvSpPr>
        <p:spPr>
          <a:xfrm>
            <a:off x="6309360" y="4617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수수료 0원</a:t>
            </a:r>
            <a:endParaRPr lang="en-US" sz="1400" dirty="0"/>
          </a:p>
        </p:txBody>
      </p:sp>
      <p:sp>
        <p:nvSpPr>
          <p:cNvPr id="32" name="text-58"/>
          <p:cNvSpPr txBox="1"/>
          <p:nvPr/>
        </p:nvSpPr>
        <p:spPr>
          <a:xfrm>
            <a:off x="809244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'진행 안 됨' 안내만 보냅니다.</a:t>
            </a:r>
            <a:endParaRPr lang="en-US" sz="1300" dirty="0"/>
          </a:p>
        </p:txBody>
      </p:sp>
      <p:sp>
        <p:nvSpPr>
          <p:cNvPr id="33" name="card-59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4" name="text-60"/>
          <p:cNvSpPr txBox="1"/>
          <p:nvPr/>
        </p:nvSpPr>
        <p:spPr>
          <a:xfrm>
            <a:off x="868680" y="534924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돈의 흐름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고객 결제는 판매자 자사몰로 바로 → 우리는 결제금을 받지 않음 (PG 등록 불필요) · 우리 수익은 월 구독료 + 확정 결제액 수수료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· 기존 대안과의 차별점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새 고객이 아니라, 이미 찜한 내 고객을 전환합니다</a:t>
            </a:r>
            <a:endParaRPr lang="en-US" sz="3000" dirty="0"/>
          </a:p>
        </p:txBody>
      </p:sp>
      <p:graphicFrame>
        <p:nvGraphicFramePr>
          <p:cNvPr id="6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4251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대안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방식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한계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와디즈 · 텀블벅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크라우드펀딩 선주문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내 몰 밖에서 새 고객 모집 · 비용률 13~15%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올웨이즈 팀구매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플랫폼이 판매량 보장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10% 할인 필수 · 고객 데이터는 플랫폼 소유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카카오 톡딜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2명 모이면 할인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카카오 안에서만 동작 · 자사몰 고객과 단절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수동 운영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인스타 공구, 구글폼 + 문자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찜 데이터 활용 불가 · 수신동의·집계를 손으로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카페24 기본 기능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재입고 알림, 쿠폰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'목표를 채우면 할인'하는 조건부 구조가 없음</a:t>
                      </a:r>
                      <a:endParaRPr lang="en-US" sz="13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♥ 찜꽁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내 찜 고객 대상 조건부 공구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내 고객 데이터로 수요 확인 · 비용률 약 3~5%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9C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가설 검증 · 판매자 인터뷰 + 소비자 설문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판매자도 소비자도 같은 신호를 보냈습니다</a:t>
            </a:r>
            <a:endParaRPr lang="en-US" sz="3000" dirty="0"/>
          </a:p>
        </p:txBody>
      </p:sp>
      <p:sp>
        <p:nvSpPr>
          <p:cNvPr id="4" name="card-61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-62"/>
          <p:cNvSpPr txBox="1"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판매자 인터뷰 · 업종별 가설 지지 점수</a:t>
            </a:r>
            <a:endParaRPr lang="en-US" sz="1400" dirty="0"/>
          </a:p>
        </p:txBody>
      </p:sp>
      <p:sp>
        <p:nvSpPr>
          <p:cNvPr id="6" name="text-63"/>
          <p:cNvSpPr txBox="1"/>
          <p:nvPr/>
        </p:nvSpPr>
        <p:spPr>
          <a:xfrm>
            <a:off x="8229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가설 8개 × (지지 2 · 조건부 1 · 반대 0), 16점 만점</a:t>
            </a:r>
            <a:endParaRPr lang="en-US" sz="1100" dirty="0"/>
          </a:p>
        </p:txBody>
      </p:sp>
      <p:graphicFrame>
        <p:nvGraphicFramePr>
          <p:cNvPr id="7" name="industry-score-chart" descr=""/>
          <p:cNvGraphicFramePr/>
          <p:nvPr/>
        </p:nvGraphicFramePr>
        <p:xfrm>
          <a:off x="731520" y="2514600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-64"/>
          <p:cNvSpPr txBox="1"/>
          <p:nvPr/>
        </p:nvSpPr>
        <p:spPr>
          <a:xfrm>
            <a:off x="5943600" y="169164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소비자 설문 (자사몰 구매자 130명)</a:t>
            </a:r>
            <a:endParaRPr lang="en-US" sz="1400" dirty="0"/>
          </a:p>
        </p:txBody>
      </p:sp>
      <p:sp>
        <p:nvSpPr>
          <p:cNvPr id="9" name="card-65"/>
          <p:cNvSpPr/>
          <p:nvPr/>
        </p:nvSpPr>
        <p:spPr>
          <a:xfrm>
            <a:off x="5943600" y="2103120"/>
            <a:ext cx="177789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0" name="text-66"/>
          <p:cNvSpPr txBox="1"/>
          <p:nvPr/>
        </p:nvSpPr>
        <p:spPr>
          <a:xfrm>
            <a:off x="6126480" y="2240280"/>
            <a:ext cx="1412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100%</a:t>
            </a:r>
            <a:endParaRPr lang="en-US" sz="3200" dirty="0"/>
          </a:p>
        </p:txBody>
      </p:sp>
      <p:sp>
        <p:nvSpPr>
          <p:cNvPr id="11" name="text-67"/>
          <p:cNvSpPr txBox="1"/>
          <p:nvPr/>
        </p:nvSpPr>
        <p:spPr>
          <a:xfrm>
            <a:off x="6126480" y="2971800"/>
            <a:ext cx="1412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결제 없는 신청이면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누르겠다</a:t>
            </a:r>
            <a:endParaRPr lang="en-US" sz="1200" dirty="0"/>
          </a:p>
        </p:txBody>
      </p:sp>
      <p:sp>
        <p:nvSpPr>
          <p:cNvPr id="12" name="card-68"/>
          <p:cNvSpPr/>
          <p:nvPr/>
        </p:nvSpPr>
        <p:spPr>
          <a:xfrm>
            <a:off x="7904378" y="2103120"/>
            <a:ext cx="177789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3" name="text-69"/>
          <p:cNvSpPr txBox="1"/>
          <p:nvPr/>
        </p:nvSpPr>
        <p:spPr>
          <a:xfrm>
            <a:off x="8087258" y="2240280"/>
            <a:ext cx="1412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77%</a:t>
            </a:r>
            <a:endParaRPr lang="en-US" sz="3200" dirty="0"/>
          </a:p>
        </p:txBody>
      </p:sp>
      <p:sp>
        <p:nvSpPr>
          <p:cNvPr id="14" name="text-70"/>
          <p:cNvSpPr txBox="1"/>
          <p:nvPr/>
        </p:nvSpPr>
        <p:spPr>
          <a:xfrm>
            <a:off x="8087258" y="2971800"/>
            <a:ext cx="1412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72시간 안에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결제하겠다</a:t>
            </a:r>
            <a:endParaRPr lang="en-US" sz="1200" dirty="0"/>
          </a:p>
        </p:txBody>
      </p:sp>
      <p:sp>
        <p:nvSpPr>
          <p:cNvPr id="15" name="card-71"/>
          <p:cNvSpPr/>
          <p:nvPr/>
        </p:nvSpPr>
        <p:spPr>
          <a:xfrm>
            <a:off x="9865157" y="2103120"/>
            <a:ext cx="177789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text-72"/>
          <p:cNvSpPr txBox="1"/>
          <p:nvPr/>
        </p:nvSpPr>
        <p:spPr>
          <a:xfrm>
            <a:off x="10048037" y="2240280"/>
            <a:ext cx="1412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62%</a:t>
            </a:r>
            <a:endParaRPr lang="en-US" sz="3200" dirty="0"/>
          </a:p>
        </p:txBody>
      </p:sp>
      <p:sp>
        <p:nvSpPr>
          <p:cNvPr id="17" name="text-73"/>
          <p:cNvSpPr txBox="1"/>
          <p:nvPr/>
        </p:nvSpPr>
        <p:spPr>
          <a:xfrm>
            <a:off x="10048037" y="2971800"/>
            <a:ext cx="1412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찜한 상품 광고 문자는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괜찮다</a:t>
            </a:r>
            <a:endParaRPr lang="en-US" sz="1200" dirty="0"/>
          </a:p>
        </p:txBody>
      </p:sp>
      <p:sp>
        <p:nvSpPr>
          <p:cNvPr id="18" name="card-74"/>
          <p:cNvSpPr/>
          <p:nvPr/>
        </p:nvSpPr>
        <p:spPr>
          <a:xfrm>
            <a:off x="5943600" y="3931920"/>
            <a:ext cx="5699455" cy="1965960"/>
          </a:xfrm>
          <a:prstGeom prst="roundRect">
            <a:avLst>
              <a:gd name="adj" fmla="val 5581"/>
            </a:avLst>
          </a:prstGeom>
          <a:solidFill>
            <a:schemeClr val="tx1"/>
          </a:solidFill>
          <a:ln/>
        </p:spPr>
      </p:sp>
      <p:sp>
        <p:nvSpPr>
          <p:cNvPr id="19" name="text-75"/>
          <p:cNvSpPr txBox="1"/>
          <p:nvPr/>
        </p:nvSpPr>
        <p:spPr>
          <a:xfrm>
            <a:off x="6217920" y="4069080"/>
            <a:ext cx="5150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남은 숙제 → 파일럿에서 확인</a:t>
            </a:r>
            <a:endParaRPr lang="en-US" sz="1400" dirty="0"/>
          </a:p>
        </p:txBody>
      </p:sp>
      <p:sp>
        <p:nvSpPr>
          <p:cNvPr id="20" name="text-76"/>
          <p:cNvSpPr txBox="1"/>
          <p:nvPr/>
        </p:nvSpPr>
        <p:spPr>
          <a:xfrm>
            <a:off x="6217920" y="4434840"/>
            <a:ext cx="51508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할인: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소비자 62%가 20% 이상 원하지만, 판매자는 15~20%가 한계 → 10%·20% 공구로 신청률 비교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대기: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소비자 77%가 1주까지만 수용 → 1주 안에 출고 가능한 상품부터 공구</a:t>
            </a:r>
            <a:endParaRPr lang="en-US" sz="1300" dirty="0"/>
          </a:p>
        </p:txBody>
      </p:sp>
      <p:sp>
        <p:nvSpPr>
          <p:cNvPr id="21" name="text-77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판매자 인터뷰 5개 업종 · 소비자 구글폼 설문 2026.10.14 (의향 응답 기준, 홈리빙 구매자 31%)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· 타깃과 시장 규모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카페24 홈리빙 브랜드부터, 첫 시장은 3,517억</a:t>
            </a:r>
            <a:endParaRPr lang="en-US" sz="3000" dirty="0"/>
          </a:p>
        </p:txBody>
      </p:sp>
      <p:sp>
        <p:nvSpPr>
          <p:cNvPr id="4" name="text-78"/>
          <p:cNvSpPr txBox="1"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왜 홈리빙인가</a:t>
            </a:r>
            <a:endParaRPr lang="en-US" sz="1400" dirty="0"/>
          </a:p>
        </p:txBody>
      </p:sp>
      <p:sp>
        <p:nvSpPr>
          <p:cNvPr id="5" name="card-79"/>
          <p:cNvSpPr/>
          <p:nvPr/>
        </p:nvSpPr>
        <p:spPr>
          <a:xfrm>
            <a:off x="548640" y="2148840"/>
            <a:ext cx="52120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6" name="badge-80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-81"/>
          <p:cNvSpPr txBox="1"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-82"/>
          <p:cNvSpPr txBox="1"/>
          <p:nvPr/>
        </p:nvSpPr>
        <p:spPr>
          <a:xfrm>
            <a:off x="155448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문제가 가장 선명하다</a:t>
            </a:r>
            <a:endParaRPr lang="en-US" sz="1700" dirty="0"/>
          </a:p>
        </p:txBody>
      </p:sp>
      <p:sp>
        <p:nvSpPr>
          <p:cNvPr id="9" name="text-83"/>
          <p:cNvSpPr txBox="1"/>
          <p:nvPr/>
        </p:nvSpPr>
        <p:spPr>
          <a:xfrm>
            <a:off x="155448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찜 2,000건에도 수량 결정 불가 · 재입고 알림 구매 전환 21%</a:t>
            </a:r>
            <a:endParaRPr lang="en-US" sz="1200" dirty="0"/>
          </a:p>
        </p:txBody>
      </p:sp>
      <p:sp>
        <p:nvSpPr>
          <p:cNvPr id="10" name="card-84"/>
          <p:cNvSpPr/>
          <p:nvPr/>
        </p:nvSpPr>
        <p:spPr>
          <a:xfrm>
            <a:off x="548640" y="3337560"/>
            <a:ext cx="52120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badge-85"/>
          <p:cNvSpPr/>
          <p:nvPr/>
        </p:nvSpPr>
        <p:spPr>
          <a:xfrm>
            <a:off x="822960" y="35935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-86"/>
          <p:cNvSpPr txBox="1"/>
          <p:nvPr/>
        </p:nvSpPr>
        <p:spPr>
          <a:xfrm>
            <a:off x="82296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-87"/>
          <p:cNvSpPr txBox="1"/>
          <p:nvPr/>
        </p:nvSpPr>
        <p:spPr>
          <a:xfrm>
            <a:off x="155448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기다림을 받아들인다</a:t>
            </a:r>
            <a:endParaRPr lang="en-US" sz="1700" dirty="0"/>
          </a:p>
        </p:txBody>
      </p:sp>
      <p:sp>
        <p:nvSpPr>
          <p:cNvPr id="14" name="text-88"/>
          <p:cNvSpPr txBox="1"/>
          <p:nvPr/>
        </p:nvSpPr>
        <p:spPr>
          <a:xfrm>
            <a:off x="1554480" y="3840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결제 후 2~3주 대기 수용 → 확정 후 생산 구조 가능</a:t>
            </a:r>
            <a:endParaRPr lang="en-US" sz="1200" dirty="0"/>
          </a:p>
        </p:txBody>
      </p:sp>
      <p:sp>
        <p:nvSpPr>
          <p:cNvPr id="15" name="card-89"/>
          <p:cNvSpPr/>
          <p:nvPr/>
        </p:nvSpPr>
        <p:spPr>
          <a:xfrm>
            <a:off x="548640" y="4526280"/>
            <a:ext cx="52120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6" name="badge-90"/>
          <p:cNvSpPr/>
          <p:nvPr/>
        </p:nvSpPr>
        <p:spPr>
          <a:xfrm>
            <a:off x="822960" y="47823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-91"/>
          <p:cNvSpPr txBox="1"/>
          <p:nvPr/>
        </p:nvSpPr>
        <p:spPr>
          <a:xfrm>
            <a:off x="82296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-92"/>
          <p:cNvSpPr txBox="1"/>
          <p:nvPr/>
        </p:nvSpPr>
        <p:spPr>
          <a:xfrm>
            <a:off x="155448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필요한 때가 정해져 있다</a:t>
            </a:r>
            <a:endParaRPr lang="en-US" sz="1700" dirty="0"/>
          </a:p>
        </p:txBody>
      </p:sp>
      <p:sp>
        <p:nvSpPr>
          <p:cNvPr id="19" name="text-93"/>
          <p:cNvSpPr txBox="1"/>
          <p:nvPr/>
        </p:nvSpPr>
        <p:spPr>
          <a:xfrm>
            <a:off x="1554480" y="5029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이사·계절 수요로 찜이 오래 쌓임 → 공구 시점이 분명</a:t>
            </a:r>
            <a:endParaRPr lang="en-US" sz="1200" dirty="0"/>
          </a:p>
        </p:txBody>
      </p:sp>
      <p:sp>
        <p:nvSpPr>
          <p:cNvPr id="20" name="TAM-94"/>
          <p:cNvSpPr/>
          <p:nvPr/>
        </p:nvSpPr>
        <p:spPr>
          <a:xfrm>
            <a:off x="6172200" y="2560320"/>
            <a:ext cx="3108960" cy="31089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-95"/>
          <p:cNvSpPr txBox="1"/>
          <p:nvPr/>
        </p:nvSpPr>
        <p:spPr>
          <a:xfrm>
            <a:off x="61722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TAM</a:t>
            </a:r>
            <a:endParaRPr lang="en-US" sz="1300" dirty="0"/>
          </a:p>
        </p:txBody>
      </p:sp>
      <p:sp>
        <p:nvSpPr>
          <p:cNvPr id="22" name="SAM-96"/>
          <p:cNvSpPr/>
          <p:nvPr/>
        </p:nvSpPr>
        <p:spPr>
          <a:xfrm>
            <a:off x="6720840" y="3657600"/>
            <a:ext cx="2011680" cy="2011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-97"/>
          <p:cNvSpPr txBox="1"/>
          <p:nvPr/>
        </p:nvSpPr>
        <p:spPr>
          <a:xfrm>
            <a:off x="672084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SAM</a:t>
            </a:r>
            <a:endParaRPr lang="en-US" sz="1300" dirty="0"/>
          </a:p>
        </p:txBody>
      </p:sp>
      <p:sp>
        <p:nvSpPr>
          <p:cNvPr id="24" name="SOM-98"/>
          <p:cNvSpPr/>
          <p:nvPr/>
        </p:nvSpPr>
        <p:spPr>
          <a:xfrm>
            <a:off x="7246620" y="47091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99"/>
          <p:cNvSpPr txBox="1"/>
          <p:nvPr/>
        </p:nvSpPr>
        <p:spPr>
          <a:xfrm>
            <a:off x="7246620" y="47091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SOM</a:t>
            </a:r>
            <a:endParaRPr lang="en-US" sz="1300" dirty="0"/>
          </a:p>
        </p:txBody>
      </p:sp>
      <p:sp>
        <p:nvSpPr>
          <p:cNvPr id="26" name="text-100"/>
          <p:cNvSpPr txBox="1"/>
          <p:nvPr/>
        </p:nvSpPr>
        <p:spPr>
          <a:xfrm>
            <a:off x="94640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5조 5,346억 원</a:t>
            </a:r>
            <a:endParaRPr lang="en-US" sz="1800" dirty="0"/>
          </a:p>
        </p:txBody>
      </p:sp>
      <p:sp>
        <p:nvSpPr>
          <p:cNvPr id="27" name="text-101"/>
          <p:cNvSpPr txBox="1"/>
          <p:nvPr/>
        </p:nvSpPr>
        <p:spPr>
          <a:xfrm>
            <a:off x="946404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TAM · 국내 온라인 홈리빙(가구) 거래액, 2025</a:t>
            </a:r>
            <a:endParaRPr lang="en-US" sz="1000" dirty="0"/>
          </a:p>
        </p:txBody>
      </p:sp>
      <p:sp>
        <p:nvSpPr>
          <p:cNvPr id="28" name="text-102"/>
          <p:cNvSpPr txBox="1"/>
          <p:nvPr/>
        </p:nvSpPr>
        <p:spPr>
          <a:xfrm>
            <a:off x="946404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3,517억 원</a:t>
            </a:r>
            <a:endParaRPr lang="en-US" sz="1800" dirty="0"/>
          </a:p>
        </p:txBody>
      </p:sp>
      <p:sp>
        <p:nvSpPr>
          <p:cNvPr id="29" name="text-103"/>
          <p:cNvSpPr txBox="1"/>
          <p:nvPr/>
        </p:nvSpPr>
        <p:spPr>
          <a:xfrm>
            <a:off x="946404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SAM · 전문몰 가구 거래액 (자사몰과 가장 가까운 구분)</a:t>
            </a:r>
            <a:endParaRPr lang="en-US" sz="1000" dirty="0"/>
          </a:p>
        </p:txBody>
      </p:sp>
      <p:sp>
        <p:nvSpPr>
          <p:cNvPr id="30" name="text-104"/>
          <p:cNvSpPr txBox="1"/>
          <p:nvPr/>
        </p:nvSpPr>
        <p:spPr>
          <a:xfrm>
            <a:off x="946404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약 35억 원</a:t>
            </a:r>
            <a:endParaRPr lang="en-US" sz="1800" dirty="0"/>
          </a:p>
        </p:txBody>
      </p:sp>
      <p:sp>
        <p:nvSpPr>
          <p:cNvPr id="31" name="text-105"/>
          <p:cNvSpPr txBox="1"/>
          <p:nvPr/>
        </p:nvSpPr>
        <p:spPr>
          <a:xfrm>
            <a:off x="9464040" y="5029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SOM · 3년 내 SAM의 1% (판매자 거래액 기준)</a:t>
            </a:r>
            <a:endParaRPr lang="en-US" sz="1000" dirty="0"/>
          </a:p>
        </p:txBody>
      </p:sp>
      <p:sp>
        <p:nvSpPr>
          <p:cNvPr id="32" name="text-106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통계청 「2025년 12월 및 연간 온라인쇼핑동향」(2026.2.2), 2025년 잠정치 · SOM은 점유율 가정에 따른 추정치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요금제와 수익 구조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월 구독 + 확정 결제액에만 붙는 성공 수수료</a:t>
            </a:r>
            <a:endParaRPr lang="en-US" sz="3000" dirty="0"/>
          </a:p>
        </p:txBody>
      </p:sp>
      <p:sp>
        <p:nvSpPr>
          <p:cNvPr id="4" name="card-107"/>
          <p:cNvSpPr/>
          <p:nvPr/>
        </p:nvSpPr>
        <p:spPr>
          <a:xfrm>
            <a:off x="548640" y="169164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text-108"/>
          <p:cNvSpPr txBox="1"/>
          <p:nvPr/>
        </p:nvSpPr>
        <p:spPr>
          <a:xfrm>
            <a:off x="868680" y="187452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체험</a:t>
            </a:r>
            <a:endParaRPr lang="en-US" sz="1400" dirty="0"/>
          </a:p>
        </p:txBody>
      </p:sp>
      <p:sp>
        <p:nvSpPr>
          <p:cNvPr id="6" name="text-109"/>
          <p:cNvSpPr txBox="1"/>
          <p:nvPr/>
        </p:nvSpPr>
        <p:spPr>
          <a:xfrm>
            <a:off x="868680" y="224028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0원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/ 월</a:t>
            </a:r>
            <a:endParaRPr lang="en-US" sz="1400" dirty="0"/>
          </a:p>
        </p:txBody>
      </p:sp>
      <p:sp>
        <p:nvSpPr>
          <p:cNvPr id="7" name="text-110"/>
          <p:cNvSpPr txBox="1"/>
          <p:nvPr/>
        </p:nvSpPr>
        <p:spPr>
          <a:xfrm>
            <a:off x="868680" y="283464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수수료 5%</a:t>
            </a:r>
            <a:endParaRPr lang="en-US" sz="1500" dirty="0"/>
          </a:p>
        </p:txBody>
      </p:sp>
      <p:sp>
        <p:nvSpPr>
          <p:cNvPr id="8" name="text-111"/>
          <p:cNvSpPr txBox="1"/>
          <p:nvPr/>
        </p:nvSpPr>
        <p:spPr>
          <a:xfrm>
            <a:off x="868680" y="320040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1년에 2~3번, 한정 컬러·재생산 때만</a:t>
            </a:r>
            <a:endParaRPr lang="en-US" sz="1200" dirty="0"/>
          </a:p>
        </p:txBody>
      </p:sp>
      <p:sp>
        <p:nvSpPr>
          <p:cNvPr id="9" name="card-112"/>
          <p:cNvSpPr/>
          <p:nvPr/>
        </p:nvSpPr>
        <p:spPr>
          <a:xfrm>
            <a:off x="4338218" y="169164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</p:spPr>
      </p:sp>
      <p:sp>
        <p:nvSpPr>
          <p:cNvPr id="10" name="text-113"/>
          <p:cNvSpPr txBox="1"/>
          <p:nvPr/>
        </p:nvSpPr>
        <p:spPr>
          <a:xfrm>
            <a:off x="4658258" y="187452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스타터 · 기본안</a:t>
            </a:r>
            <a:endParaRPr lang="en-US" sz="1400" dirty="0"/>
          </a:p>
        </p:txBody>
      </p:sp>
      <p:sp>
        <p:nvSpPr>
          <p:cNvPr id="11" name="text-114"/>
          <p:cNvSpPr txBox="1"/>
          <p:nvPr/>
        </p:nvSpPr>
        <p:spPr>
          <a:xfrm>
            <a:off x="4658258" y="224028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29,000원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/ 월</a:t>
            </a:r>
            <a:endParaRPr lang="en-US" sz="1400" dirty="0"/>
          </a:p>
        </p:txBody>
      </p:sp>
      <p:sp>
        <p:nvSpPr>
          <p:cNvPr id="12" name="text-115"/>
          <p:cNvSpPr txBox="1"/>
          <p:nvPr/>
        </p:nvSpPr>
        <p:spPr>
          <a:xfrm>
            <a:off x="4658258" y="283464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수수료 3%</a:t>
            </a:r>
            <a:endParaRPr lang="en-US" sz="1500" dirty="0"/>
          </a:p>
        </p:txBody>
      </p:sp>
      <p:sp>
        <p:nvSpPr>
          <p:cNvPr id="13" name="text-116"/>
          <p:cNvSpPr txBox="1"/>
          <p:nvPr/>
        </p:nvSpPr>
        <p:spPr>
          <a:xfrm>
            <a:off x="4658258" y="320040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월 1~2회, 공구당 50~100개</a:t>
            </a:r>
            <a:endParaRPr lang="en-US" sz="1200" dirty="0"/>
          </a:p>
        </p:txBody>
      </p:sp>
      <p:sp>
        <p:nvSpPr>
          <p:cNvPr id="14" name="card-117"/>
          <p:cNvSpPr/>
          <p:nvPr/>
        </p:nvSpPr>
        <p:spPr>
          <a:xfrm>
            <a:off x="8127797" y="169164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5" name="text-118"/>
          <p:cNvSpPr txBox="1"/>
          <p:nvPr/>
        </p:nvSpPr>
        <p:spPr>
          <a:xfrm>
            <a:off x="8447837" y="187452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그로스</a:t>
            </a:r>
            <a:endParaRPr lang="en-US" sz="1400" dirty="0"/>
          </a:p>
        </p:txBody>
      </p:sp>
      <p:sp>
        <p:nvSpPr>
          <p:cNvPr id="16" name="text-119"/>
          <p:cNvSpPr txBox="1"/>
          <p:nvPr/>
        </p:nvSpPr>
        <p:spPr>
          <a:xfrm>
            <a:off x="8447837" y="224028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79,000원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/ 월</a:t>
            </a:r>
            <a:endParaRPr lang="en-US" sz="1400" dirty="0"/>
          </a:p>
        </p:txBody>
      </p:sp>
      <p:sp>
        <p:nvSpPr>
          <p:cNvPr id="17" name="text-120"/>
          <p:cNvSpPr txBox="1"/>
          <p:nvPr/>
        </p:nvSpPr>
        <p:spPr>
          <a:xfrm>
            <a:off x="8447837" y="283464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수수료 2%</a:t>
            </a:r>
            <a:endParaRPr lang="en-US" sz="1500" dirty="0"/>
          </a:p>
        </p:txBody>
      </p:sp>
      <p:sp>
        <p:nvSpPr>
          <p:cNvPr id="18" name="text-121"/>
          <p:cNvSpPr txBox="1"/>
          <p:nvPr/>
        </p:nvSpPr>
        <p:spPr>
          <a:xfrm>
            <a:off x="8447837" y="320040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월 3회 이상, 또는 객단가 10만 원+ 침구</a:t>
            </a:r>
            <a:endParaRPr lang="en-US" sz="1200" dirty="0"/>
          </a:p>
        </p:txBody>
      </p:sp>
      <p:sp>
        <p:nvSpPr>
          <p:cNvPr id="19" name="text-122"/>
          <p:cNvSpPr txBox="1"/>
          <p:nvPr/>
        </p:nvSpPr>
        <p:spPr>
          <a:xfrm>
            <a:off x="548640" y="41148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스타터 몰 1곳 · 월 기준 (추정)</a:t>
            </a:r>
            <a:endParaRPr lang="en-US" sz="1400" dirty="0"/>
          </a:p>
        </p:txBody>
      </p:sp>
      <p:sp>
        <p:nvSpPr>
          <p:cNvPr id="20" name="card-123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-124"/>
          <p:cNvSpPr txBox="1"/>
          <p:nvPr/>
        </p:nvSpPr>
        <p:spPr>
          <a:xfrm>
            <a:off x="914400" y="466344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1,870만 원</a:t>
            </a:r>
            <a:endParaRPr lang="en-US" sz="3000" dirty="0"/>
          </a:p>
        </p:txBody>
      </p:sp>
      <p:sp>
        <p:nvSpPr>
          <p:cNvPr id="22" name="text-125"/>
          <p:cNvSpPr txBox="1"/>
          <p:nvPr/>
        </p:nvSpPr>
        <p:spPr>
          <a:xfrm>
            <a:off x="914400" y="525780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월 확정 결제액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공구 2회 × 결제 120건 × 77,900원</a:t>
            </a:r>
            <a:endParaRPr lang="en-US" sz="1200" dirty="0"/>
          </a:p>
        </p:txBody>
      </p:sp>
      <p:sp>
        <p:nvSpPr>
          <p:cNvPr id="23" name="text-126"/>
          <p:cNvSpPr txBox="1"/>
          <p:nvPr/>
        </p:nvSpPr>
        <p:spPr>
          <a:xfrm>
            <a:off x="4612538" y="466344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59만 원</a:t>
            </a:r>
            <a:endParaRPr lang="en-US" sz="3000" dirty="0"/>
          </a:p>
        </p:txBody>
      </p:sp>
      <p:sp>
        <p:nvSpPr>
          <p:cNvPr id="24" name="text-127"/>
          <p:cNvSpPr txBox="1"/>
          <p:nvPr/>
        </p:nvSpPr>
        <p:spPr>
          <a:xfrm>
            <a:off x="4612538" y="525780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우리 월 매출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구독 2.9만 + 수수료 3% 56만</a:t>
            </a:r>
            <a:endParaRPr lang="en-US" sz="1200" dirty="0"/>
          </a:p>
        </p:txBody>
      </p:sp>
      <p:sp>
        <p:nvSpPr>
          <p:cNvPr id="25" name="text-128"/>
          <p:cNvSpPr txBox="1"/>
          <p:nvPr/>
        </p:nvSpPr>
        <p:spPr>
          <a:xfrm>
            <a:off x="8310677" y="4663440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77%</a:t>
            </a:r>
            <a:endParaRPr lang="en-US" sz="3000" dirty="0"/>
          </a:p>
        </p:txBody>
      </p:sp>
      <p:sp>
        <p:nvSpPr>
          <p:cNvPr id="26" name="text-129"/>
          <p:cNvSpPr txBox="1"/>
          <p:nvPr/>
        </p:nvSpPr>
        <p:spPr>
          <a:xfrm>
            <a:off x="8310677" y="5257800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공헌이익률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공헌이익 45.7만 원</a:t>
            </a:r>
            <a:endParaRPr lang="en-US" sz="1200" dirty="0"/>
          </a:p>
        </p:txBody>
      </p:sp>
      <p:sp>
        <p:nvSpPr>
          <p:cNvPr id="27" name="text-130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목표 미달 시 수수료 0원 · 판매자 비용률 약 3~5% (할인 제외, 와디즈 13~15%) · 초대 2,000명, 신청 10%, 결제 60%, 스토어 수수료 20% 가정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4주 파일럿과 판정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결과를 보기 전에 판정 규칙을 정했습니다</a:t>
            </a:r>
            <a:endParaRPr lang="en-US" sz="3000" dirty="0"/>
          </a:p>
        </p:txBody>
      </p:sp>
      <p:sp>
        <p:nvSpPr>
          <p:cNvPr id="4" name="text-131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핵심 목표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확정 수량으로 생산을 결정한 홈리빙 판매자 1곳</a:t>
            </a:r>
            <a:endParaRPr lang="en-US" sz="1600" dirty="0"/>
          </a:p>
        </p:txBody>
      </p:sp>
      <p:sp>
        <p:nvSpPr>
          <p:cNvPr id="5" name="card-132"/>
          <p:cNvSpPr/>
          <p:nvPr/>
        </p:nvSpPr>
        <p:spPr>
          <a:xfrm>
            <a:off x="548640" y="1965960"/>
            <a:ext cx="2567864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text-133"/>
          <p:cNvSpPr txBox="1"/>
          <p:nvPr/>
        </p:nvSpPr>
        <p:spPr>
          <a:xfrm>
            <a:off x="822960" y="2057400"/>
            <a:ext cx="2019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3몰 · 3건</a:t>
            </a:r>
            <a:endParaRPr lang="en-US" sz="2800" dirty="0"/>
          </a:p>
        </p:txBody>
      </p:sp>
      <p:sp>
        <p:nvSpPr>
          <p:cNvPr id="7" name="text-134"/>
          <p:cNvSpPr txBox="1"/>
          <p:nvPr/>
        </p:nvSpPr>
        <p:spPr>
          <a:xfrm>
            <a:off x="822960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파일럿 규모</a:t>
            </a:r>
            <a:endParaRPr lang="en-US" sz="1300" dirty="0"/>
          </a:p>
        </p:txBody>
      </p:sp>
      <p:sp>
        <p:nvSpPr>
          <p:cNvPr id="8" name="card-135"/>
          <p:cNvSpPr/>
          <p:nvPr/>
        </p:nvSpPr>
        <p:spPr>
          <a:xfrm>
            <a:off x="3390824" y="1965960"/>
            <a:ext cx="2567864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9" name="text-136"/>
          <p:cNvSpPr txBox="1"/>
          <p:nvPr/>
        </p:nvSpPr>
        <p:spPr>
          <a:xfrm>
            <a:off x="3665144" y="2057400"/>
            <a:ext cx="2019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60%+</a:t>
            </a:r>
            <a:endParaRPr lang="en-US" sz="2800" dirty="0"/>
          </a:p>
        </p:txBody>
      </p:sp>
      <p:sp>
        <p:nvSpPr>
          <p:cNvPr id="10" name="text-137"/>
          <p:cNvSpPr txBox="1"/>
          <p:nvPr/>
        </p:nvSpPr>
        <p:spPr>
          <a:xfrm>
            <a:off x="3665144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공구 성사율</a:t>
            </a:r>
            <a:endParaRPr lang="en-US" sz="1300" dirty="0"/>
          </a:p>
        </p:txBody>
      </p:sp>
      <p:sp>
        <p:nvSpPr>
          <p:cNvPr id="11" name="card-138"/>
          <p:cNvSpPr/>
          <p:nvPr/>
        </p:nvSpPr>
        <p:spPr>
          <a:xfrm>
            <a:off x="6233008" y="1965960"/>
            <a:ext cx="2567864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2" name="text-139"/>
          <p:cNvSpPr txBox="1"/>
          <p:nvPr/>
        </p:nvSpPr>
        <p:spPr>
          <a:xfrm>
            <a:off x="6507328" y="2057400"/>
            <a:ext cx="2019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5%+</a:t>
            </a:r>
            <a:endParaRPr lang="en-US" sz="2800" dirty="0"/>
          </a:p>
        </p:txBody>
      </p:sp>
      <p:sp>
        <p:nvSpPr>
          <p:cNvPr id="13" name="text-140"/>
          <p:cNvSpPr txBox="1"/>
          <p:nvPr/>
        </p:nvSpPr>
        <p:spPr>
          <a:xfrm>
            <a:off x="6507328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초대 → 신청</a:t>
            </a:r>
            <a:endParaRPr lang="en-US" sz="1300" dirty="0"/>
          </a:p>
        </p:txBody>
      </p:sp>
      <p:sp>
        <p:nvSpPr>
          <p:cNvPr id="14" name="card-141"/>
          <p:cNvSpPr/>
          <p:nvPr/>
        </p:nvSpPr>
        <p:spPr>
          <a:xfrm>
            <a:off x="9075191" y="1965960"/>
            <a:ext cx="2567864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5" name="text-142"/>
          <p:cNvSpPr txBox="1"/>
          <p:nvPr/>
        </p:nvSpPr>
        <p:spPr>
          <a:xfrm>
            <a:off x="9349511" y="2057400"/>
            <a:ext cx="2019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50%+</a:t>
            </a:r>
            <a:endParaRPr lang="en-US" sz="2800" dirty="0"/>
          </a:p>
        </p:txBody>
      </p:sp>
      <p:sp>
        <p:nvSpPr>
          <p:cNvPr id="16" name="text-143"/>
          <p:cNvSpPr txBox="1"/>
          <p:nvPr/>
        </p:nvSpPr>
        <p:spPr>
          <a:xfrm>
            <a:off x="9349511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신청 → 결제 (72시간)</a:t>
            </a:r>
            <a:endParaRPr lang="en-US" sz="1300" dirty="0"/>
          </a:p>
        </p:txBody>
      </p:sp>
      <p:sp>
        <p:nvSpPr>
          <p:cNvPr id="17" name="badge-144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ext-145"/>
          <p:cNvSpPr txBox="1"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1주</a:t>
            </a:r>
            <a:endParaRPr lang="en-US" sz="1200" dirty="0"/>
          </a:p>
        </p:txBody>
      </p:sp>
      <p:sp>
        <p:nvSpPr>
          <p:cNvPr id="19" name="text-146"/>
          <p:cNvSpPr txBox="1"/>
          <p:nvPr/>
        </p:nvSpPr>
        <p:spPr>
          <a:xfrm>
            <a:off x="1234440" y="338328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관문 확인 · 파일럿 3몰 섭외</a:t>
            </a:r>
            <a:endParaRPr lang="en-US" sz="1300" dirty="0"/>
          </a:p>
        </p:txBody>
      </p:sp>
      <p:sp>
        <p:nvSpPr>
          <p:cNvPr id="20" name="text-147"/>
          <p:cNvSpPr txBox="1"/>
          <p:nvPr/>
        </p:nvSpPr>
        <p:spPr>
          <a:xfrm>
            <a:off x="3116504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badge-148"/>
          <p:cNvSpPr/>
          <p:nvPr/>
        </p:nvSpPr>
        <p:spPr>
          <a:xfrm>
            <a:off x="3390824" y="33832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-149"/>
          <p:cNvSpPr txBox="1"/>
          <p:nvPr/>
        </p:nvSpPr>
        <p:spPr>
          <a:xfrm>
            <a:off x="3390824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2주</a:t>
            </a:r>
            <a:endParaRPr lang="en-US" sz="1200" dirty="0"/>
          </a:p>
        </p:txBody>
      </p:sp>
      <p:sp>
        <p:nvSpPr>
          <p:cNvPr id="23" name="text-150"/>
          <p:cNvSpPr txBox="1"/>
          <p:nvPr/>
        </p:nvSpPr>
        <p:spPr>
          <a:xfrm>
            <a:off x="4076624" y="338328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초대 문자 → 신청 연동</a:t>
            </a:r>
            <a:endParaRPr lang="en-US" sz="1300" dirty="0"/>
          </a:p>
        </p:txBody>
      </p:sp>
      <p:sp>
        <p:nvSpPr>
          <p:cNvPr id="24" name="text-151"/>
          <p:cNvSpPr txBox="1"/>
          <p:nvPr/>
        </p:nvSpPr>
        <p:spPr>
          <a:xfrm>
            <a:off x="5958688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25" name="badge-152"/>
          <p:cNvSpPr/>
          <p:nvPr/>
        </p:nvSpPr>
        <p:spPr>
          <a:xfrm>
            <a:off x="6233008" y="33832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-153"/>
          <p:cNvSpPr txBox="1"/>
          <p:nvPr/>
        </p:nvSpPr>
        <p:spPr>
          <a:xfrm>
            <a:off x="623300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3주</a:t>
            </a:r>
            <a:endParaRPr lang="en-US" sz="1200" dirty="0"/>
          </a:p>
        </p:txBody>
      </p:sp>
      <p:sp>
        <p:nvSpPr>
          <p:cNvPr id="27" name="text-154"/>
          <p:cNvSpPr txBox="1"/>
          <p:nvPr/>
        </p:nvSpPr>
        <p:spPr>
          <a:xfrm>
            <a:off x="6918808" y="338328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17일 차 공구 3건 오픈</a:t>
            </a:r>
            <a:endParaRPr lang="en-US" sz="1300" dirty="0"/>
          </a:p>
        </p:txBody>
      </p:sp>
      <p:sp>
        <p:nvSpPr>
          <p:cNvPr id="28" name="text-155"/>
          <p:cNvSpPr txBox="1"/>
          <p:nvPr/>
        </p:nvSpPr>
        <p:spPr>
          <a:xfrm>
            <a:off x="8800871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29" name="badge-156"/>
          <p:cNvSpPr/>
          <p:nvPr/>
        </p:nvSpPr>
        <p:spPr>
          <a:xfrm>
            <a:off x="9075191" y="33832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0" name="text-157"/>
          <p:cNvSpPr txBox="1"/>
          <p:nvPr/>
        </p:nvSpPr>
        <p:spPr>
          <a:xfrm>
            <a:off x="9075191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4주</a:t>
            </a:r>
            <a:endParaRPr lang="en-US" sz="1200" dirty="0"/>
          </a:p>
        </p:txBody>
      </p:sp>
      <p:sp>
        <p:nvSpPr>
          <p:cNvPr id="31" name="text-158"/>
          <p:cNvSpPr txBox="1"/>
          <p:nvPr/>
        </p:nvSpPr>
        <p:spPr>
          <a:xfrm>
            <a:off x="9760991" y="3383280"/>
            <a:ext cx="183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결제 집계 → 발주 판정</a:t>
            </a:r>
            <a:endParaRPr lang="en-US" sz="1300" dirty="0"/>
          </a:p>
        </p:txBody>
      </p:sp>
      <p:sp>
        <p:nvSpPr>
          <p:cNvPr id="32" name="text-159"/>
          <p:cNvSpPr txBox="1"/>
          <p:nvPr/>
        </p:nvSpPr>
        <p:spPr>
          <a:xfrm>
            <a:off x="548640" y="42062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28일 차 판정</a:t>
            </a:r>
            <a:endParaRPr lang="en-US" sz="1400" dirty="0"/>
          </a:p>
        </p:txBody>
      </p:sp>
      <p:sp>
        <p:nvSpPr>
          <p:cNvPr id="33" name="card-160"/>
          <p:cNvSpPr/>
          <p:nvPr/>
        </p:nvSpPr>
        <p:spPr>
          <a:xfrm>
            <a:off x="548640" y="457200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34" name="text-161"/>
          <p:cNvSpPr txBox="1"/>
          <p:nvPr/>
        </p:nvSpPr>
        <p:spPr>
          <a:xfrm>
            <a:off x="822960" y="47091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Go</a:t>
            </a:r>
            <a:endParaRPr lang="en-US" sz="2000" dirty="0"/>
          </a:p>
        </p:txBody>
      </p:sp>
      <p:sp>
        <p:nvSpPr>
          <p:cNvPr id="35" name="text-162"/>
          <p:cNvSpPr txBox="1"/>
          <p:nvPr/>
        </p:nvSpPr>
        <p:spPr>
          <a:xfrm>
            <a:off x="822960" y="51663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모든 기준 충족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→ 5주 차 심사 → 파일럿 10몰</a:t>
            </a:r>
            <a:endParaRPr lang="en-US" sz="1300" dirty="0"/>
          </a:p>
        </p:txBody>
      </p:sp>
      <p:sp>
        <p:nvSpPr>
          <p:cNvPr id="36" name="card-163"/>
          <p:cNvSpPr/>
          <p:nvPr/>
        </p:nvSpPr>
        <p:spPr>
          <a:xfrm>
            <a:off x="4338218" y="457200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</p:sp>
      <p:sp>
        <p:nvSpPr>
          <p:cNvPr id="37" name="text-164"/>
          <p:cNvSpPr txBox="1"/>
          <p:nvPr/>
        </p:nvSpPr>
        <p:spPr>
          <a:xfrm>
            <a:off x="4612538" y="47091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보완</a:t>
            </a:r>
            <a:endParaRPr lang="en-US" sz="2000" dirty="0"/>
          </a:p>
        </p:txBody>
      </p:sp>
      <p:sp>
        <p:nvSpPr>
          <p:cNvPr id="38" name="text-165"/>
          <p:cNvSpPr txBox="1"/>
          <p:nvPr/>
        </p:nvSpPr>
        <p:spPr>
          <a:xfrm>
            <a:off x="4612538" y="51663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결제 전환만 50% 미만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→ 조건 바꿔 2주 · 2건 추가</a:t>
            </a:r>
            <a:endParaRPr lang="en-US" sz="1300" dirty="0"/>
          </a:p>
        </p:txBody>
      </p:sp>
      <p:sp>
        <p:nvSpPr>
          <p:cNvPr id="39" name="card-166"/>
          <p:cNvSpPr/>
          <p:nvPr/>
        </p:nvSpPr>
        <p:spPr>
          <a:xfrm>
            <a:off x="8127797" y="457200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0" name="text-167"/>
          <p:cNvSpPr txBox="1"/>
          <p:nvPr/>
        </p:nvSpPr>
        <p:spPr>
          <a:xfrm>
            <a:off x="8402117" y="47091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재검토</a:t>
            </a:r>
            <a:endParaRPr lang="en-US" sz="2000" dirty="0"/>
          </a:p>
        </p:txBody>
      </p:sp>
      <p:sp>
        <p:nvSpPr>
          <p:cNvPr id="41" name="text-168"/>
          <p:cNvSpPr txBox="1"/>
          <p:nvPr/>
        </p:nvSpPr>
        <p:spPr>
          <a:xfrm>
            <a:off x="8402117" y="51663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신청 전환 모두 2% 미만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→ 개발 중단, 가정부터 다시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09 ·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멘토님께 여쭙고 싶은 것</a:t>
            </a:r>
            <a:endParaRPr lang="en-US" sz="3200" dirty="0"/>
          </a:p>
        </p:txBody>
      </p:sp>
      <p:sp>
        <p:nvSpPr>
          <p:cNvPr id="4" name="card-169"/>
          <p:cNvSpPr/>
          <p:nvPr/>
        </p:nvSpPr>
        <p:spPr>
          <a:xfrm>
            <a:off x="548640" y="182880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5" name="badge-170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171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172"/>
          <p:cNvSpPr txBox="1"/>
          <p:nvPr/>
        </p:nvSpPr>
        <p:spPr>
          <a:xfrm>
            <a:off x="822960" y="26974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신청이 결제로 이어질까요?</a:t>
            </a:r>
            <a:endParaRPr lang="en-US" sz="1600" dirty="0"/>
          </a:p>
        </p:txBody>
      </p:sp>
      <p:sp>
        <p:nvSpPr>
          <p:cNvPr id="8" name="text-173"/>
          <p:cNvSpPr txBox="1"/>
          <p:nvPr/>
        </p:nvSpPr>
        <p:spPr>
          <a:xfrm>
            <a:off x="822960" y="310896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신청 → 결제 50% 목표와 결제 기간(24·48·72시간)이 현실적인지</a:t>
            </a:r>
            <a:endParaRPr lang="en-US" sz="1200" dirty="0"/>
          </a:p>
        </p:txBody>
      </p:sp>
      <p:sp>
        <p:nvSpPr>
          <p:cNvPr id="9" name="card-174"/>
          <p:cNvSpPr/>
          <p:nvPr/>
        </p:nvSpPr>
        <p:spPr>
          <a:xfrm>
            <a:off x="4338218" y="182880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10" name="badge-175"/>
          <p:cNvSpPr/>
          <p:nvPr/>
        </p:nvSpPr>
        <p:spPr>
          <a:xfrm>
            <a:off x="4612538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176"/>
          <p:cNvSpPr txBox="1"/>
          <p:nvPr/>
        </p:nvSpPr>
        <p:spPr>
          <a:xfrm>
            <a:off x="461253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-177"/>
          <p:cNvSpPr txBox="1"/>
          <p:nvPr/>
        </p:nvSpPr>
        <p:spPr>
          <a:xfrm>
            <a:off x="4612538" y="26974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카페24 의존, 괜찮을까요?</a:t>
            </a:r>
            <a:endParaRPr lang="en-US" sz="1600" dirty="0"/>
          </a:p>
        </p:txBody>
      </p:sp>
      <p:sp>
        <p:nvSpPr>
          <p:cNvPr id="13" name="text-178"/>
          <p:cNvSpPr txBox="1"/>
          <p:nvPr/>
        </p:nvSpPr>
        <p:spPr>
          <a:xfrm>
            <a:off x="4612538" y="310896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스토어 출시 → 공식 제휴 순서, 카페24 직접 개발 위험 대비책</a:t>
            </a:r>
            <a:endParaRPr lang="en-US" sz="1200" dirty="0"/>
          </a:p>
        </p:txBody>
      </p:sp>
      <p:sp>
        <p:nvSpPr>
          <p:cNvPr id="14" name="card-179"/>
          <p:cNvSpPr/>
          <p:nvPr/>
        </p:nvSpPr>
        <p:spPr>
          <a:xfrm>
            <a:off x="8127797" y="182880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15" name="badge-180"/>
          <p:cNvSpPr/>
          <p:nvPr/>
        </p:nvSpPr>
        <p:spPr>
          <a:xfrm>
            <a:off x="8402117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-181"/>
          <p:cNvSpPr txBox="1"/>
          <p:nvPr/>
        </p:nvSpPr>
        <p:spPr>
          <a:xfrm>
            <a:off x="8402117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-182"/>
          <p:cNvSpPr txBox="1"/>
          <p:nvPr/>
        </p:nvSpPr>
        <p:spPr>
          <a:xfrm>
            <a:off x="8402117" y="26974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요금제가 셀러 빈도에 맞을까요?</a:t>
            </a:r>
            <a:endParaRPr lang="en-US" sz="1600" dirty="0"/>
          </a:p>
        </p:txBody>
      </p:sp>
      <p:sp>
        <p:nvSpPr>
          <p:cNvPr id="18" name="text-183"/>
          <p:cNvSpPr txBox="1"/>
          <p:nvPr/>
        </p:nvSpPr>
        <p:spPr>
          <a:xfrm>
            <a:off x="8402117" y="310896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체험·스타터·그로스 3단 구성이 공구 빈도와 맞는지</a:t>
            </a:r>
            <a:endParaRPr lang="en-US" sz="1200" dirty="0"/>
          </a:p>
        </p:txBody>
      </p:sp>
      <p:sp>
        <p:nvSpPr>
          <p:cNvPr id="19" name="card-184"/>
          <p:cNvSpPr/>
          <p:nvPr/>
        </p:nvSpPr>
        <p:spPr>
          <a:xfrm>
            <a:off x="548640" y="406908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20" name="badge-185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-186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-187"/>
          <p:cNvSpPr txBox="1"/>
          <p:nvPr/>
        </p:nvSpPr>
        <p:spPr>
          <a:xfrm>
            <a:off x="822960" y="4937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파일럿 3몰을 어디서 찾을까요?</a:t>
            </a:r>
            <a:endParaRPr lang="en-US" sz="1600" dirty="0"/>
          </a:p>
        </p:txBody>
      </p:sp>
      <p:sp>
        <p:nvSpPr>
          <p:cNvPr id="23" name="text-188"/>
          <p:cNvSpPr txBox="1"/>
          <p:nvPr/>
        </p:nvSpPr>
        <p:spPr>
          <a:xfrm>
            <a:off x="822960" y="53492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찜 100개+ 품절 상품이 있는 브랜드를 1주 안에 섭외하는 방법</a:t>
            </a:r>
            <a:endParaRPr lang="en-US" sz="1200" dirty="0"/>
          </a:p>
        </p:txBody>
      </p:sp>
      <p:sp>
        <p:nvSpPr>
          <p:cNvPr id="24" name="card-189"/>
          <p:cNvSpPr/>
          <p:nvPr/>
        </p:nvSpPr>
        <p:spPr>
          <a:xfrm>
            <a:off x="4338218" y="406908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25" name="badge-190"/>
          <p:cNvSpPr/>
          <p:nvPr/>
        </p:nvSpPr>
        <p:spPr>
          <a:xfrm>
            <a:off x="4612538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-191"/>
          <p:cNvSpPr txBox="1"/>
          <p:nvPr/>
        </p:nvSpPr>
        <p:spPr>
          <a:xfrm>
            <a:off x="461253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-192"/>
          <p:cNvSpPr txBox="1"/>
          <p:nvPr/>
        </p:nvSpPr>
        <p:spPr>
          <a:xfrm>
            <a:off x="4612538" y="4937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수요 신호를 어떻게 보충할까요?</a:t>
            </a:r>
            <a:endParaRPr lang="en-US" sz="1600" dirty="0"/>
          </a:p>
        </p:txBody>
      </p:sp>
      <p:sp>
        <p:nvSpPr>
          <p:cNvPr id="28" name="text-193"/>
          <p:cNvSpPr txBox="1"/>
          <p:nvPr/>
        </p:nvSpPr>
        <p:spPr>
          <a:xfrm>
            <a:off x="4612538" y="53492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장바구니 데이터만으로 공구 오픈 기준을 잡아도 되는지</a:t>
            </a:r>
            <a:endParaRPr lang="en-US" sz="1200" dirty="0"/>
          </a:p>
        </p:txBody>
      </p:sp>
      <p:sp>
        <p:nvSpPr>
          <p:cNvPr id="29" name="card-194"/>
          <p:cNvSpPr/>
          <p:nvPr/>
        </p:nvSpPr>
        <p:spPr>
          <a:xfrm>
            <a:off x="8127797" y="406908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accent4"/>
          </a:solidFill>
          <a:ln/>
        </p:spPr>
      </p:sp>
      <p:sp>
        <p:nvSpPr>
          <p:cNvPr id="30" name="badge-195"/>
          <p:cNvSpPr/>
          <p:nvPr/>
        </p:nvSpPr>
        <p:spPr>
          <a:xfrm>
            <a:off x="8402117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-196"/>
          <p:cNvSpPr txBox="1"/>
          <p:nvPr/>
        </p:nvSpPr>
        <p:spPr>
          <a:xfrm>
            <a:off x="8402117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-197"/>
          <p:cNvSpPr txBox="1"/>
          <p:nvPr/>
        </p:nvSpPr>
        <p:spPr>
          <a:xfrm>
            <a:off x="8402117" y="4937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문제정의가 뾰족한가요?</a:t>
            </a:r>
            <a:endParaRPr lang="en-US" sz="1600" dirty="0"/>
          </a:p>
        </p:txBody>
      </p:sp>
      <p:sp>
        <p:nvSpPr>
          <p:cNvPr id="33" name="text-198"/>
          <p:cNvSpPr txBox="1"/>
          <p:nvPr/>
        </p:nvSpPr>
        <p:spPr>
          <a:xfrm>
            <a:off x="8402117" y="53492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보완할 점이 있다면 솔직한 피드백 부탁드립니다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jimkkong">
  <a:themeElements>
    <a:clrScheme name="Jjimkkong">
      <a:dk1>
        <a:srgbClr val="1C1C1F"/>
      </a:dk1>
      <a:lt1>
        <a:srgbClr val="FFFFFF"/>
      </a:lt1>
      <a:dk2>
        <a:srgbClr val="5C5C66"/>
      </a:dk2>
      <a:lt2>
        <a:srgbClr val="FFF0F3"/>
      </a:lt2>
      <a:accent1>
        <a:srgbClr val="E94162"/>
      </a:accent1>
      <a:accent2>
        <a:srgbClr val="FC7598"/>
      </a:accent2>
      <a:accent3>
        <a:srgbClr val="F9C6D3"/>
      </a:accent3>
      <a:accent4>
        <a:srgbClr val="2E2E35"/>
      </a:accent4>
      <a:accent5>
        <a:srgbClr val="9A9AA5"/>
      </a:accent5>
      <a:accent6>
        <a:srgbClr val="FFE3EA"/>
      </a:accent6>
      <a:hlink>
        <a:srgbClr val="E94162"/>
      </a:hlink>
      <a:folHlink>
        <a:srgbClr val="9A9AA5"/>
      </a:folHlink>
    </a:clrScheme>
    <a:fontScheme name="Jjimkko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찜꽁 · 찜 공구 요약본</dc:title>
  <dc:subject>PptxGenJS Presentation</dc:subject>
  <dc:creator>HOP</dc:creator>
  <cp:lastModifiedBy>HOP</cp:lastModifiedBy>
  <cp:revision>1</cp:revision>
  <dcterms:created xsi:type="dcterms:W3CDTF">2026-10-15T02:00:49Z</dcterms:created>
  <dcterms:modified xsi:type="dcterms:W3CDTF">2026-10-15T02:00:49Z</dcterms:modified>
</cp:coreProperties>
</file>