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VP" id="{c48b214d-9c2b-b4e9-be5e-5bd9126d00ce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MVP의 핵심 목표는 '확정 수량으로 생산을 결정한 홈리빙 판매자 1곳'을 만드는 것입니다. 파일럿 3몰에서 공구 3건 이상을 열어 확인합니다.
이를 위해 세 가지 질문에 답합니다.
1) 찜 고객이 결제 없는 신청을 누를까? → 초대 문자를 받은 회원 중 신청 비율 5% 이상
2) 목표 수량이 찰까? → 연 공구 중 목표를 달성한 비율 60% 이상
3) 신청자가 실제로 결제할까? → 72시간 안에 쿠폰으로 결제한 비율 50% 이상
북극성 지표는 '월간 공구 확정 결제액'입니다. 판매자 성과와 우리 매출이 함께 움직이는 지표이기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MVP에는 공구가 한 번 끝까지 돌아가는 데 꼭 필요한 기능 10개만 넣었습니다. 5명이 약 10주 걸리는 규모입니다.
① 개설(판매자, 모바일 웹앱): 카페24 앱 설치·권한 연결, 상품별 찜 수·수신동의자 수를 보는 수요 레이더, 목표 수량·할인가·마감일을 정하는 공구 개설, 동의자에게만 (광고) 표기를 자동으로 붙이는 초대 문자.
② 신청(고객, 설치 없이 위젯·문자): 진행률과 신청 버튼이 있는 상품 페이지 위젯, 로그인 회원만 결제 없이 하는 참여 신청, 마감 판정과 결과 안내, 달성 시 회원 전용 쿠폰 자동 발급.
③ 발주(판매자): 쿠폰을 쓴 주문만 집계하는 결제 추적, 확정 수량 리포트와 발주 메모.
출시 후에는 성과 대시보드, 재입고 신청자 연동, 미결제 자리 대기열 순서로 붙입니다.
자체 결제, 비회원 참여, 새 고객을 찾는 마켓플레이스는 만들지 않습니다. 결제금을 받지 않고, 이미 찜한 내 고객만 전환하는 도구이기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4주 일정과 판정 규칙은 결과를 보기 전에 미리 정했습니다.
1주 차: 관문 4개 확인(회원 검증, 쿠폰 발급, 지정 몰 설치, 찜 100명)과 파일럿 3몰 섭외. 통과 기준은 위조 ID 100% 거부, 쿠폰 누락 0.
2주 차: 대상 추출, 수신동의 필터, 문자 발송, 위젯·신청 API 연동. 테스트몰에서 초대부터 신청까지 통과해야 합니다.
3주 차: 마감 판정, 쿠폰 발급, 주문 대사, 리포트를 붙이고 17일 차에 공구 3건 오픈. 연동 오류 0이 기준입니다.
4주 차: 22일 차 판정, 72시간 결제, 26일 차 확정 리포트와 발주 인터뷰.
28일 차 판정: 모든 기준을 충족하면 GO(5주 차 심사 후 파일럿 10몰로 확대), 결제 전환만 50% 미만이면 조건을 바꿔 공구 2건을 더 하는 2주 보완, 신청 전환이 모두 2% 미만이면 개발을 중단하고 가정부터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03120"/>
            <a:ext cx="58521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114800"/>
            <a:ext cx="5852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ua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31520"/>
            <a:ext cx="1091153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7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MVP · 1 / 3 · 목표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MVP로 확인할 것 3가지</a:t>
            </a:r>
            <a:endParaRPr lang="en-US" sz="3600" dirty="0"/>
          </a:p>
        </p:txBody>
      </p:sp>
      <p:sp>
        <p:nvSpPr>
          <p:cNvPr id="5" name="card-1"/>
          <p:cNvSpPr/>
          <p:nvPr/>
        </p:nvSpPr>
        <p:spPr>
          <a:xfrm>
            <a:off x="640080" y="1691640"/>
            <a:ext cx="10911535" cy="68580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6" name="text-2"/>
          <p:cNvSpPr txBox="1"/>
          <p:nvPr/>
        </p:nvSpPr>
        <p:spPr>
          <a:xfrm>
            <a:off x="640080" y="16916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핵심 목표  </a:t>
            </a:r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확정 수량으로 생산을 결정한 홈리빙 판매자 1곳</a:t>
            </a:r>
            <a:endParaRPr lang="en-US" sz="2000" dirty="0"/>
          </a:p>
        </p:txBody>
      </p:sp>
      <p:sp>
        <p:nvSpPr>
          <p:cNvPr id="7" name="card-3"/>
          <p:cNvSpPr/>
          <p:nvPr/>
        </p:nvSpPr>
        <p:spPr>
          <a:xfrm>
            <a:off x="640080" y="2651760"/>
            <a:ext cx="3362858" cy="3429000"/>
          </a:xfrm>
          <a:prstGeom prst="roundRect">
            <a:avLst>
              <a:gd name="adj" fmla="val 4079"/>
            </a:avLst>
          </a:prstGeom>
          <a:solidFill>
            <a:schemeClr val="bg2"/>
          </a:solidFill>
          <a:ln/>
        </p:spPr>
      </p:sp>
      <p:sp>
        <p:nvSpPr>
          <p:cNvPr id="8" name="circle-4"/>
          <p:cNvSpPr/>
          <p:nvPr/>
        </p:nvSpPr>
        <p:spPr>
          <a:xfrm>
            <a:off x="960120" y="2971800"/>
            <a:ext cx="868680" cy="8686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9" name="icon-5" descr="찜 고객이 신청할까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154680"/>
            <a:ext cx="502920" cy="502920"/>
          </a:xfrm>
          <a:prstGeom prst="rect">
            <a:avLst/>
          </a:prstGeom>
        </p:spPr>
      </p:pic>
      <p:sp>
        <p:nvSpPr>
          <p:cNvPr id="10" name="text-6"/>
          <p:cNvSpPr txBox="1"/>
          <p:nvPr/>
        </p:nvSpPr>
        <p:spPr>
          <a:xfrm>
            <a:off x="2011680" y="2926080"/>
            <a:ext cx="18083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찜 고객이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신청할까?</a:t>
            </a:r>
            <a:endParaRPr lang="en-US" sz="2000" dirty="0"/>
          </a:p>
        </p:txBody>
      </p:sp>
      <p:sp>
        <p:nvSpPr>
          <p:cNvPr id="11" name="text-7"/>
          <p:cNvSpPr txBox="1"/>
          <p:nvPr/>
        </p:nvSpPr>
        <p:spPr>
          <a:xfrm>
            <a:off x="640080" y="3977640"/>
            <a:ext cx="3362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↓</a:t>
            </a:r>
            <a:endParaRPr lang="en-US" sz="2200" dirty="0"/>
          </a:p>
        </p:txBody>
      </p:sp>
      <p:sp>
        <p:nvSpPr>
          <p:cNvPr id="12" name="text-8"/>
          <p:cNvSpPr txBox="1"/>
          <p:nvPr/>
        </p:nvSpPr>
        <p:spPr>
          <a:xfrm>
            <a:off x="960120" y="4434840"/>
            <a:ext cx="27227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5%</a:t>
            </a:r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 이상</a:t>
            </a:r>
            <a:endParaRPr lang="en-US" sz="1600" dirty="0"/>
          </a:p>
        </p:txBody>
      </p:sp>
      <p:sp>
        <p:nvSpPr>
          <p:cNvPr id="13" name="text-9"/>
          <p:cNvSpPr txBox="1"/>
          <p:nvPr/>
        </p:nvSpPr>
        <p:spPr>
          <a:xfrm>
            <a:off x="960120" y="5394960"/>
            <a:ext cx="2722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초대 → 신청</a:t>
            </a:r>
            <a:endParaRPr lang="en-US" sz="1600" dirty="0"/>
          </a:p>
        </p:txBody>
      </p:sp>
      <p:sp>
        <p:nvSpPr>
          <p:cNvPr id="14" name="text-10"/>
          <p:cNvSpPr txBox="1"/>
          <p:nvPr/>
        </p:nvSpPr>
        <p:spPr>
          <a:xfrm>
            <a:off x="4002938" y="2651760"/>
            <a:ext cx="411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›</a:t>
            </a:r>
            <a:endParaRPr lang="en-US" sz="4400" dirty="0"/>
          </a:p>
        </p:txBody>
      </p:sp>
      <p:sp>
        <p:nvSpPr>
          <p:cNvPr id="15" name="card-11"/>
          <p:cNvSpPr/>
          <p:nvPr/>
        </p:nvSpPr>
        <p:spPr>
          <a:xfrm>
            <a:off x="4414418" y="2651760"/>
            <a:ext cx="3362858" cy="3429000"/>
          </a:xfrm>
          <a:prstGeom prst="roundRect">
            <a:avLst>
              <a:gd name="adj" fmla="val 4079"/>
            </a:avLst>
          </a:prstGeom>
          <a:solidFill>
            <a:schemeClr val="bg2"/>
          </a:solidFill>
          <a:ln/>
        </p:spPr>
      </p:sp>
      <p:sp>
        <p:nvSpPr>
          <p:cNvPr id="16" name="circle-12"/>
          <p:cNvSpPr/>
          <p:nvPr/>
        </p:nvSpPr>
        <p:spPr>
          <a:xfrm>
            <a:off x="4734458" y="2971800"/>
            <a:ext cx="868680" cy="8686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7" name="icon-13" descr="목표 수량이 찰까?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338" y="3154680"/>
            <a:ext cx="502920" cy="502920"/>
          </a:xfrm>
          <a:prstGeom prst="rect">
            <a:avLst/>
          </a:prstGeom>
        </p:spPr>
      </p:pic>
      <p:sp>
        <p:nvSpPr>
          <p:cNvPr id="18" name="text-14"/>
          <p:cNvSpPr txBox="1"/>
          <p:nvPr/>
        </p:nvSpPr>
        <p:spPr>
          <a:xfrm>
            <a:off x="5786018" y="2926080"/>
            <a:ext cx="18083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목표 수량이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찰까?</a:t>
            </a:r>
            <a:endParaRPr lang="en-US" sz="2000" dirty="0"/>
          </a:p>
        </p:txBody>
      </p:sp>
      <p:sp>
        <p:nvSpPr>
          <p:cNvPr id="19" name="text-15"/>
          <p:cNvSpPr txBox="1"/>
          <p:nvPr/>
        </p:nvSpPr>
        <p:spPr>
          <a:xfrm>
            <a:off x="4414418" y="3977640"/>
            <a:ext cx="3362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↓</a:t>
            </a:r>
            <a:endParaRPr lang="en-US" sz="2200" dirty="0"/>
          </a:p>
        </p:txBody>
      </p:sp>
      <p:sp>
        <p:nvSpPr>
          <p:cNvPr id="20" name="text-16"/>
          <p:cNvSpPr txBox="1"/>
          <p:nvPr/>
        </p:nvSpPr>
        <p:spPr>
          <a:xfrm>
            <a:off x="4734458" y="4434840"/>
            <a:ext cx="27227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60%</a:t>
            </a:r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 이상</a:t>
            </a:r>
            <a:endParaRPr lang="en-US" sz="1600" dirty="0"/>
          </a:p>
        </p:txBody>
      </p:sp>
      <p:sp>
        <p:nvSpPr>
          <p:cNvPr id="21" name="text-17"/>
          <p:cNvSpPr txBox="1"/>
          <p:nvPr/>
        </p:nvSpPr>
        <p:spPr>
          <a:xfrm>
            <a:off x="4734458" y="5394960"/>
            <a:ext cx="2722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공구 성사율</a:t>
            </a:r>
            <a:endParaRPr lang="en-US" sz="1600" dirty="0"/>
          </a:p>
        </p:txBody>
      </p:sp>
      <p:sp>
        <p:nvSpPr>
          <p:cNvPr id="22" name="text-18"/>
          <p:cNvSpPr txBox="1"/>
          <p:nvPr/>
        </p:nvSpPr>
        <p:spPr>
          <a:xfrm>
            <a:off x="7777277" y="2651760"/>
            <a:ext cx="411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›</a:t>
            </a:r>
            <a:endParaRPr lang="en-US" sz="4400" dirty="0"/>
          </a:p>
        </p:txBody>
      </p:sp>
      <p:sp>
        <p:nvSpPr>
          <p:cNvPr id="23" name="card-19"/>
          <p:cNvSpPr/>
          <p:nvPr/>
        </p:nvSpPr>
        <p:spPr>
          <a:xfrm>
            <a:off x="8188757" y="2651760"/>
            <a:ext cx="3362858" cy="3429000"/>
          </a:xfrm>
          <a:prstGeom prst="roundRect">
            <a:avLst>
              <a:gd name="adj" fmla="val 4079"/>
            </a:avLst>
          </a:prstGeom>
          <a:solidFill>
            <a:schemeClr val="bg2"/>
          </a:solidFill>
          <a:ln/>
        </p:spPr>
      </p:sp>
      <p:sp>
        <p:nvSpPr>
          <p:cNvPr id="24" name="circle-20"/>
          <p:cNvSpPr/>
          <p:nvPr/>
        </p:nvSpPr>
        <p:spPr>
          <a:xfrm>
            <a:off x="8508797" y="2971800"/>
            <a:ext cx="868680" cy="8686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5" name="icon-21" descr="신청자가 결제할까?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677" y="3154680"/>
            <a:ext cx="502920" cy="502920"/>
          </a:xfrm>
          <a:prstGeom prst="rect">
            <a:avLst/>
          </a:prstGeom>
        </p:spPr>
      </p:pic>
      <p:sp>
        <p:nvSpPr>
          <p:cNvPr id="26" name="text-22"/>
          <p:cNvSpPr txBox="1"/>
          <p:nvPr/>
        </p:nvSpPr>
        <p:spPr>
          <a:xfrm>
            <a:off x="9560357" y="2926080"/>
            <a:ext cx="18083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신청자가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결제할까?</a:t>
            </a:r>
            <a:endParaRPr lang="en-US" sz="2000" dirty="0"/>
          </a:p>
        </p:txBody>
      </p:sp>
      <p:sp>
        <p:nvSpPr>
          <p:cNvPr id="27" name="text-23"/>
          <p:cNvSpPr txBox="1"/>
          <p:nvPr/>
        </p:nvSpPr>
        <p:spPr>
          <a:xfrm>
            <a:off x="8188757" y="3977640"/>
            <a:ext cx="3362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↓</a:t>
            </a:r>
            <a:endParaRPr lang="en-US" sz="2200" dirty="0"/>
          </a:p>
        </p:txBody>
      </p:sp>
      <p:sp>
        <p:nvSpPr>
          <p:cNvPr id="28" name="text-24"/>
          <p:cNvSpPr txBox="1"/>
          <p:nvPr/>
        </p:nvSpPr>
        <p:spPr>
          <a:xfrm>
            <a:off x="8508797" y="4434840"/>
            <a:ext cx="27227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50%</a:t>
            </a:r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 이상</a:t>
            </a:r>
            <a:endParaRPr lang="en-US" sz="1600" dirty="0"/>
          </a:p>
        </p:txBody>
      </p:sp>
      <p:sp>
        <p:nvSpPr>
          <p:cNvPr id="29" name="text-25"/>
          <p:cNvSpPr txBox="1"/>
          <p:nvPr/>
        </p:nvSpPr>
        <p:spPr>
          <a:xfrm>
            <a:off x="8508797" y="5394960"/>
            <a:ext cx="27227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72시간 안 결제</a:t>
            </a:r>
            <a:endParaRPr lang="en-US" sz="1600" dirty="0"/>
          </a:p>
        </p:txBody>
      </p:sp>
      <p:sp>
        <p:nvSpPr>
          <p:cNvPr id="30" name="text-26"/>
          <p:cNvSpPr txBox="1"/>
          <p:nvPr/>
        </p:nvSpPr>
        <p:spPr>
          <a:xfrm>
            <a:off x="640080" y="6355080"/>
            <a:ext cx="9814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파일럿 3몰 · 공구 3건 이상 · 북극성 지표: 월간 공구 확정 결제액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MVP · 2 / 3 · 범위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흐름 하나, 기능 10개만</a:t>
            </a:r>
            <a:endParaRPr lang="en-US" sz="3600" dirty="0"/>
          </a:p>
        </p:txBody>
      </p:sp>
      <p:sp>
        <p:nvSpPr>
          <p:cNvPr id="5" name="card-27"/>
          <p:cNvSpPr/>
          <p:nvPr/>
        </p:nvSpPr>
        <p:spPr>
          <a:xfrm>
            <a:off x="9174175" y="868680"/>
            <a:ext cx="2377440" cy="54864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/>
        </p:spPr>
      </p:sp>
      <p:sp>
        <p:nvSpPr>
          <p:cNvPr id="6" name="text-28"/>
          <p:cNvSpPr txBox="1"/>
          <p:nvPr/>
        </p:nvSpPr>
        <p:spPr>
          <a:xfrm>
            <a:off x="9174175" y="868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5명 · 약 10주</a:t>
            </a:r>
            <a:endParaRPr lang="en-US" sz="1800" dirty="0"/>
          </a:p>
        </p:txBody>
      </p:sp>
      <p:sp>
        <p:nvSpPr>
          <p:cNvPr id="7" name="card-29"/>
          <p:cNvSpPr/>
          <p:nvPr/>
        </p:nvSpPr>
        <p:spPr>
          <a:xfrm>
            <a:off x="640080" y="1737360"/>
            <a:ext cx="3362858" cy="260604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8" name="circle-30"/>
          <p:cNvSpPr/>
          <p:nvPr/>
        </p:nvSpPr>
        <p:spPr>
          <a:xfrm>
            <a:off x="914400" y="2011680"/>
            <a:ext cx="868680" cy="8686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9" name="icon-31" descr="개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94560"/>
            <a:ext cx="502920" cy="502920"/>
          </a:xfrm>
          <a:prstGeom prst="rect">
            <a:avLst/>
          </a:prstGeom>
        </p:spPr>
      </p:pic>
      <p:sp>
        <p:nvSpPr>
          <p:cNvPr id="10" name="text-32"/>
          <p:cNvSpPr txBox="1"/>
          <p:nvPr/>
        </p:nvSpPr>
        <p:spPr>
          <a:xfrm>
            <a:off x="1965960" y="2011680"/>
            <a:ext cx="1899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개설</a:t>
            </a:r>
            <a:endParaRPr lang="en-US" sz="2600" dirty="0"/>
          </a:p>
        </p:txBody>
      </p:sp>
      <p:sp>
        <p:nvSpPr>
          <p:cNvPr id="11" name="text-33"/>
          <p:cNvSpPr txBox="1"/>
          <p:nvPr/>
        </p:nvSpPr>
        <p:spPr>
          <a:xfrm>
            <a:off x="1965960" y="2514600"/>
            <a:ext cx="1899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판매자 · 모바일 웹앱</a:t>
            </a:r>
            <a:endParaRPr lang="en-US" sz="1300" dirty="0"/>
          </a:p>
        </p:txBody>
      </p:sp>
      <p:sp>
        <p:nvSpPr>
          <p:cNvPr id="12" name="card-34"/>
          <p:cNvSpPr/>
          <p:nvPr/>
        </p:nvSpPr>
        <p:spPr>
          <a:xfrm>
            <a:off x="914400" y="3108960"/>
            <a:ext cx="1338529" cy="45720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3" name="text-35"/>
          <p:cNvSpPr txBox="1"/>
          <p:nvPr/>
        </p:nvSpPr>
        <p:spPr>
          <a:xfrm>
            <a:off x="914400" y="3108960"/>
            <a:ext cx="1338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  </a:t>
            </a:r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앱 설치</a:t>
            </a:r>
            <a:endParaRPr lang="en-US" sz="1300" dirty="0"/>
          </a:p>
        </p:txBody>
      </p:sp>
      <p:sp>
        <p:nvSpPr>
          <p:cNvPr id="14" name="card-36"/>
          <p:cNvSpPr/>
          <p:nvPr/>
        </p:nvSpPr>
        <p:spPr>
          <a:xfrm>
            <a:off x="2390089" y="3108960"/>
            <a:ext cx="1338529" cy="45720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5" name="text-37"/>
          <p:cNvSpPr txBox="1"/>
          <p:nvPr/>
        </p:nvSpPr>
        <p:spPr>
          <a:xfrm>
            <a:off x="2390089" y="3108960"/>
            <a:ext cx="1338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  </a:t>
            </a:r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수요 레이더</a:t>
            </a:r>
            <a:endParaRPr lang="en-US" sz="1300" dirty="0"/>
          </a:p>
        </p:txBody>
      </p:sp>
      <p:sp>
        <p:nvSpPr>
          <p:cNvPr id="16" name="card-38"/>
          <p:cNvSpPr/>
          <p:nvPr/>
        </p:nvSpPr>
        <p:spPr>
          <a:xfrm>
            <a:off x="914400" y="3703320"/>
            <a:ext cx="1338529" cy="45720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7" name="text-39"/>
          <p:cNvSpPr txBox="1"/>
          <p:nvPr/>
        </p:nvSpPr>
        <p:spPr>
          <a:xfrm>
            <a:off x="914400" y="3703320"/>
            <a:ext cx="1338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  </a:t>
            </a:r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공구 개설</a:t>
            </a:r>
            <a:endParaRPr lang="en-US" sz="1300" dirty="0"/>
          </a:p>
        </p:txBody>
      </p:sp>
      <p:sp>
        <p:nvSpPr>
          <p:cNvPr id="18" name="card-40"/>
          <p:cNvSpPr/>
          <p:nvPr/>
        </p:nvSpPr>
        <p:spPr>
          <a:xfrm>
            <a:off x="2390089" y="3703320"/>
            <a:ext cx="1338529" cy="45720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9" name="text-41"/>
          <p:cNvSpPr txBox="1"/>
          <p:nvPr/>
        </p:nvSpPr>
        <p:spPr>
          <a:xfrm>
            <a:off x="2390089" y="3703320"/>
            <a:ext cx="1338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  </a:t>
            </a:r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초대 문자</a:t>
            </a:r>
            <a:endParaRPr lang="en-US" sz="1300" dirty="0"/>
          </a:p>
        </p:txBody>
      </p:sp>
      <p:sp>
        <p:nvSpPr>
          <p:cNvPr id="20" name="text-42"/>
          <p:cNvSpPr txBox="1"/>
          <p:nvPr/>
        </p:nvSpPr>
        <p:spPr>
          <a:xfrm>
            <a:off x="4002938" y="1737360"/>
            <a:ext cx="411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›</a:t>
            </a:r>
            <a:endParaRPr lang="en-US" sz="4400" dirty="0"/>
          </a:p>
        </p:txBody>
      </p:sp>
      <p:sp>
        <p:nvSpPr>
          <p:cNvPr id="21" name="card-43"/>
          <p:cNvSpPr/>
          <p:nvPr/>
        </p:nvSpPr>
        <p:spPr>
          <a:xfrm>
            <a:off x="4414418" y="1737360"/>
            <a:ext cx="3362858" cy="260604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22" name="circle-44"/>
          <p:cNvSpPr/>
          <p:nvPr/>
        </p:nvSpPr>
        <p:spPr>
          <a:xfrm>
            <a:off x="4688738" y="2011680"/>
            <a:ext cx="868680" cy="8686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3" name="icon-45" descr="신청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618" y="2194560"/>
            <a:ext cx="502920" cy="502920"/>
          </a:xfrm>
          <a:prstGeom prst="rect">
            <a:avLst/>
          </a:prstGeom>
        </p:spPr>
      </p:pic>
      <p:sp>
        <p:nvSpPr>
          <p:cNvPr id="24" name="text-46"/>
          <p:cNvSpPr txBox="1"/>
          <p:nvPr/>
        </p:nvSpPr>
        <p:spPr>
          <a:xfrm>
            <a:off x="5740298" y="2011680"/>
            <a:ext cx="1899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신청</a:t>
            </a:r>
            <a:endParaRPr lang="en-US" sz="2600" dirty="0"/>
          </a:p>
        </p:txBody>
      </p:sp>
      <p:sp>
        <p:nvSpPr>
          <p:cNvPr id="25" name="text-47"/>
          <p:cNvSpPr txBox="1"/>
          <p:nvPr/>
        </p:nvSpPr>
        <p:spPr>
          <a:xfrm>
            <a:off x="5740298" y="2514600"/>
            <a:ext cx="1899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고객 · 위젯·문자</a:t>
            </a:r>
            <a:endParaRPr lang="en-US" sz="1300" dirty="0"/>
          </a:p>
        </p:txBody>
      </p:sp>
      <p:sp>
        <p:nvSpPr>
          <p:cNvPr id="26" name="card-48"/>
          <p:cNvSpPr/>
          <p:nvPr/>
        </p:nvSpPr>
        <p:spPr>
          <a:xfrm>
            <a:off x="4688738" y="3108960"/>
            <a:ext cx="1338529" cy="45720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7" name="text-49"/>
          <p:cNvSpPr txBox="1"/>
          <p:nvPr/>
        </p:nvSpPr>
        <p:spPr>
          <a:xfrm>
            <a:off x="4688738" y="3108960"/>
            <a:ext cx="1338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5  </a:t>
            </a:r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위젯</a:t>
            </a:r>
            <a:endParaRPr lang="en-US" sz="1300" dirty="0"/>
          </a:p>
        </p:txBody>
      </p:sp>
      <p:sp>
        <p:nvSpPr>
          <p:cNvPr id="28" name="card-50"/>
          <p:cNvSpPr/>
          <p:nvPr/>
        </p:nvSpPr>
        <p:spPr>
          <a:xfrm>
            <a:off x="6164428" y="3108960"/>
            <a:ext cx="1338529" cy="45720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9" name="text-51"/>
          <p:cNvSpPr txBox="1"/>
          <p:nvPr/>
        </p:nvSpPr>
        <p:spPr>
          <a:xfrm>
            <a:off x="6164428" y="3108960"/>
            <a:ext cx="1338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6  </a:t>
            </a:r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참여 신청</a:t>
            </a:r>
            <a:endParaRPr lang="en-US" sz="1300" dirty="0"/>
          </a:p>
        </p:txBody>
      </p:sp>
      <p:sp>
        <p:nvSpPr>
          <p:cNvPr id="30" name="card-52"/>
          <p:cNvSpPr/>
          <p:nvPr/>
        </p:nvSpPr>
        <p:spPr>
          <a:xfrm>
            <a:off x="4688738" y="3703320"/>
            <a:ext cx="1338529" cy="45720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31" name="text-53"/>
          <p:cNvSpPr txBox="1"/>
          <p:nvPr/>
        </p:nvSpPr>
        <p:spPr>
          <a:xfrm>
            <a:off x="4688738" y="3703320"/>
            <a:ext cx="1338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7  </a:t>
            </a:r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마감 판정</a:t>
            </a:r>
            <a:endParaRPr lang="en-US" sz="1300" dirty="0"/>
          </a:p>
        </p:txBody>
      </p:sp>
      <p:sp>
        <p:nvSpPr>
          <p:cNvPr id="32" name="card-54"/>
          <p:cNvSpPr/>
          <p:nvPr/>
        </p:nvSpPr>
        <p:spPr>
          <a:xfrm>
            <a:off x="6164428" y="3703320"/>
            <a:ext cx="1338529" cy="45720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33" name="text-55"/>
          <p:cNvSpPr txBox="1"/>
          <p:nvPr/>
        </p:nvSpPr>
        <p:spPr>
          <a:xfrm>
            <a:off x="6164428" y="3703320"/>
            <a:ext cx="1338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8  </a:t>
            </a:r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쿠폰 발급</a:t>
            </a:r>
            <a:endParaRPr lang="en-US" sz="1300" dirty="0"/>
          </a:p>
        </p:txBody>
      </p:sp>
      <p:sp>
        <p:nvSpPr>
          <p:cNvPr id="34" name="text-56"/>
          <p:cNvSpPr txBox="1"/>
          <p:nvPr/>
        </p:nvSpPr>
        <p:spPr>
          <a:xfrm>
            <a:off x="7777277" y="1737360"/>
            <a:ext cx="411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›</a:t>
            </a:r>
            <a:endParaRPr lang="en-US" sz="4400" dirty="0"/>
          </a:p>
        </p:txBody>
      </p:sp>
      <p:sp>
        <p:nvSpPr>
          <p:cNvPr id="35" name="card-57"/>
          <p:cNvSpPr/>
          <p:nvPr/>
        </p:nvSpPr>
        <p:spPr>
          <a:xfrm>
            <a:off x="8188757" y="1737360"/>
            <a:ext cx="3362858" cy="260604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36" name="circle-58"/>
          <p:cNvSpPr/>
          <p:nvPr/>
        </p:nvSpPr>
        <p:spPr>
          <a:xfrm>
            <a:off x="8463077" y="2011680"/>
            <a:ext cx="868680" cy="8686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37" name="icon-59" descr="발주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5957" y="2194560"/>
            <a:ext cx="502920" cy="502920"/>
          </a:xfrm>
          <a:prstGeom prst="rect">
            <a:avLst/>
          </a:prstGeom>
        </p:spPr>
      </p:pic>
      <p:sp>
        <p:nvSpPr>
          <p:cNvPr id="38" name="text-60"/>
          <p:cNvSpPr txBox="1"/>
          <p:nvPr/>
        </p:nvSpPr>
        <p:spPr>
          <a:xfrm>
            <a:off x="9514637" y="2011680"/>
            <a:ext cx="1899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발주</a:t>
            </a:r>
            <a:endParaRPr lang="en-US" sz="2600" dirty="0"/>
          </a:p>
        </p:txBody>
      </p:sp>
      <p:sp>
        <p:nvSpPr>
          <p:cNvPr id="39" name="text-61"/>
          <p:cNvSpPr txBox="1"/>
          <p:nvPr/>
        </p:nvSpPr>
        <p:spPr>
          <a:xfrm>
            <a:off x="9514637" y="2514600"/>
            <a:ext cx="1899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판매자 · 모바일 웹앱</a:t>
            </a:r>
            <a:endParaRPr lang="en-US" sz="1300" dirty="0"/>
          </a:p>
        </p:txBody>
      </p:sp>
      <p:sp>
        <p:nvSpPr>
          <p:cNvPr id="40" name="card-62"/>
          <p:cNvSpPr/>
          <p:nvPr/>
        </p:nvSpPr>
        <p:spPr>
          <a:xfrm>
            <a:off x="8463077" y="3108960"/>
            <a:ext cx="1338529" cy="45720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41" name="text-63"/>
          <p:cNvSpPr txBox="1"/>
          <p:nvPr/>
        </p:nvSpPr>
        <p:spPr>
          <a:xfrm>
            <a:off x="8463077" y="3108960"/>
            <a:ext cx="1338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9  </a:t>
            </a:r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결제 추적</a:t>
            </a:r>
            <a:endParaRPr lang="en-US" sz="1300" dirty="0"/>
          </a:p>
        </p:txBody>
      </p:sp>
      <p:sp>
        <p:nvSpPr>
          <p:cNvPr id="42" name="card-64"/>
          <p:cNvSpPr/>
          <p:nvPr/>
        </p:nvSpPr>
        <p:spPr>
          <a:xfrm>
            <a:off x="9938766" y="3108960"/>
            <a:ext cx="1338529" cy="45720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43" name="text-65"/>
          <p:cNvSpPr txBox="1"/>
          <p:nvPr/>
        </p:nvSpPr>
        <p:spPr>
          <a:xfrm>
            <a:off x="9938766" y="3108960"/>
            <a:ext cx="1338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10  </a:t>
            </a:r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확정 리포트</a:t>
            </a:r>
            <a:endParaRPr lang="en-US" sz="1300" dirty="0"/>
          </a:p>
        </p:txBody>
      </p:sp>
      <p:sp>
        <p:nvSpPr>
          <p:cNvPr id="44" name="card-66"/>
          <p:cNvSpPr/>
          <p:nvPr/>
        </p:nvSpPr>
        <p:spPr>
          <a:xfrm>
            <a:off x="640080" y="4617720"/>
            <a:ext cx="5318608" cy="1463040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45" name="text-67"/>
          <p:cNvSpPr txBox="1"/>
          <p:nvPr/>
        </p:nvSpPr>
        <p:spPr>
          <a:xfrm>
            <a:off x="960120" y="4818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NEXT</a:t>
            </a:r>
            <a:endParaRPr lang="en-US" sz="1300" dirty="0"/>
          </a:p>
        </p:txBody>
      </p:sp>
      <p:sp>
        <p:nvSpPr>
          <p:cNvPr id="46" name="text-68"/>
          <p:cNvSpPr txBox="1"/>
          <p:nvPr/>
        </p:nvSpPr>
        <p:spPr>
          <a:xfrm>
            <a:off x="960120" y="5093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출시 후 다음</a:t>
            </a:r>
            <a:endParaRPr lang="en-US" sz="1800" dirty="0"/>
          </a:p>
        </p:txBody>
      </p:sp>
      <p:sp>
        <p:nvSpPr>
          <p:cNvPr id="47" name="text-69"/>
          <p:cNvSpPr txBox="1"/>
          <p:nvPr/>
        </p:nvSpPr>
        <p:spPr>
          <a:xfrm>
            <a:off x="960120" y="5550408"/>
            <a:ext cx="14680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성과 대시보드</a:t>
            </a:r>
            <a:endParaRPr lang="en-US" sz="1400" dirty="0"/>
          </a:p>
        </p:txBody>
      </p:sp>
      <p:sp>
        <p:nvSpPr>
          <p:cNvPr id="48" name="text-70"/>
          <p:cNvSpPr txBox="1"/>
          <p:nvPr/>
        </p:nvSpPr>
        <p:spPr>
          <a:xfrm>
            <a:off x="2565349" y="5550408"/>
            <a:ext cx="14680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재입고 연동</a:t>
            </a:r>
            <a:endParaRPr lang="en-US" sz="1400" dirty="0"/>
          </a:p>
        </p:txBody>
      </p:sp>
      <p:sp>
        <p:nvSpPr>
          <p:cNvPr id="49" name="text-71"/>
          <p:cNvSpPr txBox="1"/>
          <p:nvPr/>
        </p:nvSpPr>
        <p:spPr>
          <a:xfrm>
            <a:off x="4170578" y="5550408"/>
            <a:ext cx="14680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미결제 대기열</a:t>
            </a:r>
            <a:endParaRPr lang="en-US" sz="1400" dirty="0"/>
          </a:p>
        </p:txBody>
      </p:sp>
      <p:sp>
        <p:nvSpPr>
          <p:cNvPr id="50" name="card-72"/>
          <p:cNvSpPr/>
          <p:nvPr/>
        </p:nvSpPr>
        <p:spPr>
          <a:xfrm>
            <a:off x="6233008" y="4617720"/>
            <a:ext cx="5318608" cy="1463040"/>
          </a:xfrm>
          <a:prstGeom prst="roundRect">
            <a:avLst>
              <a:gd name="adj" fmla="val 9375"/>
            </a:avLst>
          </a:prstGeom>
          <a:solidFill>
            <a:schemeClr val="tx1"/>
          </a:solidFill>
          <a:ln/>
        </p:spPr>
      </p:sp>
      <p:sp>
        <p:nvSpPr>
          <p:cNvPr id="51" name="text-73"/>
          <p:cNvSpPr txBox="1"/>
          <p:nvPr/>
        </p:nvSpPr>
        <p:spPr>
          <a:xfrm>
            <a:off x="6553048" y="4818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NO</a:t>
            </a:r>
            <a:endParaRPr lang="en-US" sz="1300" dirty="0"/>
          </a:p>
        </p:txBody>
      </p:sp>
      <p:sp>
        <p:nvSpPr>
          <p:cNvPr id="52" name="text-74"/>
          <p:cNvSpPr txBox="1"/>
          <p:nvPr/>
        </p:nvSpPr>
        <p:spPr>
          <a:xfrm>
            <a:off x="6553048" y="5093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만들지 않는 것</a:t>
            </a:r>
            <a:endParaRPr lang="en-US" sz="1800" dirty="0"/>
          </a:p>
        </p:txBody>
      </p:sp>
      <p:sp>
        <p:nvSpPr>
          <p:cNvPr id="53" name="text-75"/>
          <p:cNvSpPr txBox="1"/>
          <p:nvPr/>
        </p:nvSpPr>
        <p:spPr>
          <a:xfrm>
            <a:off x="6553048" y="5550408"/>
            <a:ext cx="14680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✕  </a:t>
            </a:r>
            <a:pPr indent="0" marL="0">
              <a:buNone/>
            </a:pPr>
            <a:r>
              <a:rPr lang="en-US" sz="1400" strike="sngStrike" dirty="0">
                <a:solidFill>
                  <a:schemeClr val="accent5"/>
                </a:solidFill>
              </a:rPr>
              <a:t>자체 결제</a:t>
            </a:r>
            <a:endParaRPr lang="en-US" sz="1400" dirty="0"/>
          </a:p>
        </p:txBody>
      </p:sp>
      <p:sp>
        <p:nvSpPr>
          <p:cNvPr id="54" name="text-76"/>
          <p:cNvSpPr txBox="1"/>
          <p:nvPr/>
        </p:nvSpPr>
        <p:spPr>
          <a:xfrm>
            <a:off x="8158277" y="5550408"/>
            <a:ext cx="14680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✕  </a:t>
            </a:r>
            <a:pPr indent="0" marL="0">
              <a:buNone/>
            </a:pPr>
            <a:r>
              <a:rPr lang="en-US" sz="1400" strike="sngStrike" dirty="0">
                <a:solidFill>
                  <a:schemeClr val="accent5"/>
                </a:solidFill>
              </a:rPr>
              <a:t>비회원 참여</a:t>
            </a:r>
            <a:endParaRPr lang="en-US" sz="1400" dirty="0"/>
          </a:p>
        </p:txBody>
      </p:sp>
      <p:sp>
        <p:nvSpPr>
          <p:cNvPr id="55" name="text-77"/>
          <p:cNvSpPr txBox="1"/>
          <p:nvPr/>
        </p:nvSpPr>
        <p:spPr>
          <a:xfrm>
            <a:off x="9763506" y="5550408"/>
            <a:ext cx="14680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✕  </a:t>
            </a:r>
            <a:pPr indent="0" marL="0">
              <a:buNone/>
            </a:pPr>
            <a:r>
              <a:rPr lang="en-US" sz="1400" strike="sngStrike" dirty="0">
                <a:solidFill>
                  <a:schemeClr val="accent5"/>
                </a:solidFill>
              </a:rPr>
              <a:t>마켓플레이스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MVP · 3 / 3 · 판정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4주 뒤, 결과로 다음을 정한다</a:t>
            </a:r>
            <a:endParaRPr lang="en-US" sz="3600" dirty="0"/>
          </a:p>
        </p:txBody>
      </p:sp>
      <p:sp>
        <p:nvSpPr>
          <p:cNvPr id="5" name="timeline"/>
          <p:cNvSpPr/>
          <p:nvPr/>
        </p:nvSpPr>
        <p:spPr>
          <a:xfrm>
            <a:off x="1920240" y="2148840"/>
            <a:ext cx="8351215" cy="0"/>
          </a:xfrm>
          <a:prstGeom prst="line">
            <a:avLst/>
          </a:prstGeom>
          <a:noFill/>
          <a:ln w="38100">
            <a:solidFill>
              <a:srgbClr val="F9C6D3"/>
            </a:solidFill>
            <a:prstDash val="solid"/>
          </a:ln>
        </p:spPr>
      </p:sp>
      <p:sp>
        <p:nvSpPr>
          <p:cNvPr id="6" name="circle-78"/>
          <p:cNvSpPr/>
          <p:nvPr/>
        </p:nvSpPr>
        <p:spPr>
          <a:xfrm>
            <a:off x="1554480" y="178308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7" name="text-79"/>
          <p:cNvSpPr txBox="1"/>
          <p:nvPr/>
        </p:nvSpPr>
        <p:spPr>
          <a:xfrm>
            <a:off x="155448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1주</a:t>
            </a:r>
            <a:endParaRPr lang="en-US" sz="1400" dirty="0"/>
          </a:p>
        </p:txBody>
      </p:sp>
      <p:sp>
        <p:nvSpPr>
          <p:cNvPr id="8" name="text-80"/>
          <p:cNvSpPr txBox="1"/>
          <p:nvPr/>
        </p:nvSpPr>
        <p:spPr>
          <a:xfrm>
            <a:off x="640080" y="26517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관문 확인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3몰 섭외</a:t>
            </a:r>
            <a:endParaRPr lang="en-US" sz="1700" dirty="0"/>
          </a:p>
        </p:txBody>
      </p:sp>
      <p:sp>
        <p:nvSpPr>
          <p:cNvPr id="9" name="card-81"/>
          <p:cNvSpPr/>
          <p:nvPr/>
        </p:nvSpPr>
        <p:spPr>
          <a:xfrm>
            <a:off x="822960" y="3429000"/>
            <a:ext cx="2194560" cy="411480"/>
          </a:xfrm>
          <a:prstGeom prst="roundRect">
            <a:avLst>
              <a:gd name="adj" fmla="val 33333"/>
            </a:avLst>
          </a:prstGeom>
          <a:solidFill>
            <a:schemeClr val="bg2"/>
          </a:solidFill>
          <a:ln/>
        </p:spPr>
      </p:sp>
      <p:sp>
        <p:nvSpPr>
          <p:cNvPr id="10" name="text-82"/>
          <p:cNvSpPr txBox="1"/>
          <p:nvPr/>
        </p:nvSpPr>
        <p:spPr>
          <a:xfrm>
            <a:off x="822960" y="3429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위조 ID 100% 거부</a:t>
            </a:r>
            <a:endParaRPr lang="en-US" sz="1200" dirty="0"/>
          </a:p>
        </p:txBody>
      </p:sp>
      <p:sp>
        <p:nvSpPr>
          <p:cNvPr id="11" name="circle-83"/>
          <p:cNvSpPr/>
          <p:nvPr/>
        </p:nvSpPr>
        <p:spPr>
          <a:xfrm>
            <a:off x="4338218" y="178308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2" name="text-84"/>
          <p:cNvSpPr txBox="1"/>
          <p:nvPr/>
        </p:nvSpPr>
        <p:spPr>
          <a:xfrm>
            <a:off x="4338218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2주</a:t>
            </a:r>
            <a:endParaRPr lang="en-US" sz="1400" dirty="0"/>
          </a:p>
        </p:txBody>
      </p:sp>
      <p:sp>
        <p:nvSpPr>
          <p:cNvPr id="13" name="text-85"/>
          <p:cNvSpPr txBox="1"/>
          <p:nvPr/>
        </p:nvSpPr>
        <p:spPr>
          <a:xfrm>
            <a:off x="3423818" y="26517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초대 → 신청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연동</a:t>
            </a:r>
            <a:endParaRPr lang="en-US" sz="1700" dirty="0"/>
          </a:p>
        </p:txBody>
      </p:sp>
      <p:sp>
        <p:nvSpPr>
          <p:cNvPr id="14" name="card-86"/>
          <p:cNvSpPr/>
          <p:nvPr/>
        </p:nvSpPr>
        <p:spPr>
          <a:xfrm>
            <a:off x="3606698" y="3429000"/>
            <a:ext cx="2194560" cy="411480"/>
          </a:xfrm>
          <a:prstGeom prst="roundRect">
            <a:avLst>
              <a:gd name="adj" fmla="val 33333"/>
            </a:avLst>
          </a:prstGeom>
          <a:solidFill>
            <a:schemeClr val="bg2"/>
          </a:solidFill>
          <a:ln/>
        </p:spPr>
      </p:sp>
      <p:sp>
        <p:nvSpPr>
          <p:cNvPr id="15" name="text-87"/>
          <p:cNvSpPr txBox="1"/>
          <p:nvPr/>
        </p:nvSpPr>
        <p:spPr>
          <a:xfrm>
            <a:off x="3606698" y="3429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테스트몰 전 과정 통과</a:t>
            </a:r>
            <a:endParaRPr lang="en-US" sz="1200" dirty="0"/>
          </a:p>
        </p:txBody>
      </p:sp>
      <p:sp>
        <p:nvSpPr>
          <p:cNvPr id="16" name="circle-88"/>
          <p:cNvSpPr/>
          <p:nvPr/>
        </p:nvSpPr>
        <p:spPr>
          <a:xfrm>
            <a:off x="7121957" y="178308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7" name="text-89"/>
          <p:cNvSpPr txBox="1"/>
          <p:nvPr/>
        </p:nvSpPr>
        <p:spPr>
          <a:xfrm>
            <a:off x="7121957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3주</a:t>
            </a:r>
            <a:endParaRPr lang="en-US" sz="1400" dirty="0"/>
          </a:p>
        </p:txBody>
      </p:sp>
      <p:sp>
        <p:nvSpPr>
          <p:cNvPr id="18" name="text-90"/>
          <p:cNvSpPr txBox="1"/>
          <p:nvPr/>
        </p:nvSpPr>
        <p:spPr>
          <a:xfrm>
            <a:off x="6207557" y="26517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공구 3건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오픈 (17일 차)</a:t>
            </a:r>
            <a:endParaRPr lang="en-US" sz="1700" dirty="0"/>
          </a:p>
        </p:txBody>
      </p:sp>
      <p:sp>
        <p:nvSpPr>
          <p:cNvPr id="19" name="card-91"/>
          <p:cNvSpPr/>
          <p:nvPr/>
        </p:nvSpPr>
        <p:spPr>
          <a:xfrm>
            <a:off x="6390437" y="3429000"/>
            <a:ext cx="2194560" cy="411480"/>
          </a:xfrm>
          <a:prstGeom prst="roundRect">
            <a:avLst>
              <a:gd name="adj" fmla="val 33333"/>
            </a:avLst>
          </a:prstGeom>
          <a:solidFill>
            <a:schemeClr val="bg2"/>
          </a:solidFill>
          <a:ln/>
        </p:spPr>
      </p:sp>
      <p:sp>
        <p:nvSpPr>
          <p:cNvPr id="20" name="text-92"/>
          <p:cNvSpPr txBox="1"/>
          <p:nvPr/>
        </p:nvSpPr>
        <p:spPr>
          <a:xfrm>
            <a:off x="6390437" y="3429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연동 오류 0</a:t>
            </a:r>
            <a:endParaRPr lang="en-US" sz="1200" dirty="0"/>
          </a:p>
        </p:txBody>
      </p:sp>
      <p:sp>
        <p:nvSpPr>
          <p:cNvPr id="21" name="circle-93"/>
          <p:cNvSpPr/>
          <p:nvPr/>
        </p:nvSpPr>
        <p:spPr>
          <a:xfrm>
            <a:off x="9905695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-94"/>
          <p:cNvSpPr txBox="1"/>
          <p:nvPr/>
        </p:nvSpPr>
        <p:spPr>
          <a:xfrm>
            <a:off x="9905695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4주</a:t>
            </a:r>
            <a:endParaRPr lang="en-US" sz="1400" dirty="0"/>
          </a:p>
        </p:txBody>
      </p:sp>
      <p:sp>
        <p:nvSpPr>
          <p:cNvPr id="23" name="text-95"/>
          <p:cNvSpPr txBox="1"/>
          <p:nvPr/>
        </p:nvSpPr>
        <p:spPr>
          <a:xfrm>
            <a:off x="8991295" y="26517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72시간 결제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→ 확정 리포트</a:t>
            </a:r>
            <a:endParaRPr lang="en-US" sz="1700" dirty="0"/>
          </a:p>
        </p:txBody>
      </p:sp>
      <p:sp>
        <p:nvSpPr>
          <p:cNvPr id="24" name="card-96"/>
          <p:cNvSpPr/>
          <p:nvPr/>
        </p:nvSpPr>
        <p:spPr>
          <a:xfrm>
            <a:off x="9174175" y="3429000"/>
            <a:ext cx="2194560" cy="411480"/>
          </a:xfrm>
          <a:prstGeom prst="roundRect">
            <a:avLst>
              <a:gd name="adj" fmla="val 33333"/>
            </a:avLst>
          </a:prstGeom>
          <a:solidFill>
            <a:schemeClr val="bg2"/>
          </a:solidFill>
          <a:ln/>
        </p:spPr>
      </p:sp>
      <p:sp>
        <p:nvSpPr>
          <p:cNvPr id="25" name="text-97"/>
          <p:cNvSpPr txBox="1"/>
          <p:nvPr/>
        </p:nvSpPr>
        <p:spPr>
          <a:xfrm>
            <a:off x="9174175" y="3429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✓ 28일 차 판정</a:t>
            </a:r>
            <a:endParaRPr lang="en-US" sz="1200" dirty="0"/>
          </a:p>
        </p:txBody>
      </p:sp>
      <p:sp>
        <p:nvSpPr>
          <p:cNvPr id="26" name="text-98"/>
          <p:cNvSpPr txBox="1"/>
          <p:nvPr/>
        </p:nvSpPr>
        <p:spPr>
          <a:xfrm>
            <a:off x="64008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28일 차 판정</a:t>
            </a:r>
            <a:endParaRPr lang="en-US" sz="1600" dirty="0"/>
          </a:p>
        </p:txBody>
      </p:sp>
      <p:sp>
        <p:nvSpPr>
          <p:cNvPr id="27" name="card-99"/>
          <p:cNvSpPr/>
          <p:nvPr/>
        </p:nvSpPr>
        <p:spPr>
          <a:xfrm>
            <a:off x="640080" y="4572000"/>
            <a:ext cx="3454298" cy="150876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/>
        </p:spPr>
      </p:sp>
      <p:sp>
        <p:nvSpPr>
          <p:cNvPr id="28" name="text-100"/>
          <p:cNvSpPr txBox="1"/>
          <p:nvPr/>
        </p:nvSpPr>
        <p:spPr>
          <a:xfrm>
            <a:off x="960120" y="475488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GO</a:t>
            </a:r>
            <a:endParaRPr lang="en-US" sz="2800" dirty="0"/>
          </a:p>
        </p:txBody>
      </p:sp>
      <p:sp>
        <p:nvSpPr>
          <p:cNvPr id="29" name="text-101"/>
          <p:cNvSpPr txBox="1"/>
          <p:nvPr/>
        </p:nvSpPr>
        <p:spPr>
          <a:xfrm>
            <a:off x="960120" y="534924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모든 기준 충족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→ 파일럿 10몰로 확대</a:t>
            </a:r>
            <a:endParaRPr lang="en-US" sz="1600" dirty="0"/>
          </a:p>
        </p:txBody>
      </p:sp>
      <p:sp>
        <p:nvSpPr>
          <p:cNvPr id="30" name="card-102"/>
          <p:cNvSpPr/>
          <p:nvPr/>
        </p:nvSpPr>
        <p:spPr>
          <a:xfrm>
            <a:off x="4368698" y="4572000"/>
            <a:ext cx="3454298" cy="1508760"/>
          </a:xfrm>
          <a:prstGeom prst="roundRect">
            <a:avLst>
              <a:gd name="adj" fmla="val 9091"/>
            </a:avLst>
          </a:prstGeom>
          <a:solidFill>
            <a:schemeClr val="accent6"/>
          </a:solidFill>
          <a:ln/>
        </p:spPr>
      </p:sp>
      <p:sp>
        <p:nvSpPr>
          <p:cNvPr id="31" name="text-103"/>
          <p:cNvSpPr txBox="1"/>
          <p:nvPr/>
        </p:nvSpPr>
        <p:spPr>
          <a:xfrm>
            <a:off x="4688738" y="475488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보완</a:t>
            </a:r>
            <a:endParaRPr lang="en-US" sz="2800" dirty="0"/>
          </a:p>
        </p:txBody>
      </p:sp>
      <p:sp>
        <p:nvSpPr>
          <p:cNvPr id="32" name="text-104"/>
          <p:cNvSpPr txBox="1"/>
          <p:nvPr/>
        </p:nvSpPr>
        <p:spPr>
          <a:xfrm>
            <a:off x="4688738" y="534924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1"/>
                </a:solidFill>
              </a:rPr>
              <a:t>결제 전환만 50% 미만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→ 조건 바꿔 2주 더</a:t>
            </a:r>
            <a:endParaRPr lang="en-US" sz="1600" dirty="0"/>
          </a:p>
        </p:txBody>
      </p:sp>
      <p:sp>
        <p:nvSpPr>
          <p:cNvPr id="33" name="card-105"/>
          <p:cNvSpPr/>
          <p:nvPr/>
        </p:nvSpPr>
        <p:spPr>
          <a:xfrm>
            <a:off x="8097317" y="4572000"/>
            <a:ext cx="3454298" cy="1508760"/>
          </a:xfrm>
          <a:prstGeom prst="roundRect">
            <a:avLst>
              <a:gd name="adj" fmla="val 9091"/>
            </a:avLst>
          </a:prstGeom>
          <a:solidFill>
            <a:schemeClr val="tx1"/>
          </a:solidFill>
          <a:ln/>
        </p:spPr>
      </p:sp>
      <p:sp>
        <p:nvSpPr>
          <p:cNvPr id="34" name="text-106"/>
          <p:cNvSpPr txBox="1"/>
          <p:nvPr/>
        </p:nvSpPr>
        <p:spPr>
          <a:xfrm>
            <a:off x="8417357" y="475488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중단</a:t>
            </a:r>
            <a:endParaRPr lang="en-US" sz="2800" dirty="0"/>
          </a:p>
        </p:txBody>
      </p:sp>
      <p:sp>
        <p:nvSpPr>
          <p:cNvPr id="35" name="text-107"/>
          <p:cNvSpPr txBox="1"/>
          <p:nvPr/>
        </p:nvSpPr>
        <p:spPr>
          <a:xfrm>
            <a:off x="8417357" y="534924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accent2"/>
                </a:solidFill>
              </a:rPr>
              <a:t>신청 전환 모두 2% 미만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→ 가정부터 다시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jimkkong">
  <a:themeElements>
    <a:clrScheme name="Jjimkkong">
      <a:dk1>
        <a:srgbClr val="1C1C1F"/>
      </a:dk1>
      <a:lt1>
        <a:srgbClr val="FFFFFF"/>
      </a:lt1>
      <a:dk2>
        <a:srgbClr val="6B6B75"/>
      </a:dk2>
      <a:lt2>
        <a:srgbClr val="FFF0F3"/>
      </a:lt2>
      <a:accent1>
        <a:srgbClr val="E94162"/>
      </a:accent1>
      <a:accent2>
        <a:srgbClr val="FC7598"/>
      </a:accent2>
      <a:accent3>
        <a:srgbClr val="F9C6D3"/>
      </a:accent3>
      <a:accent4>
        <a:srgbClr val="2E2E35"/>
      </a:accent4>
      <a:accent5>
        <a:srgbClr val="C9C9D1"/>
      </a:accent5>
      <a:accent6>
        <a:srgbClr val="FFE3EA"/>
      </a:accent6>
      <a:hlink>
        <a:srgbClr val="E94162"/>
      </a:hlink>
      <a:folHlink>
        <a:srgbClr val="9A9AA5"/>
      </a:folHlink>
    </a:clrScheme>
    <a:fontScheme name="Jjimkkong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찜꽁 · MVP 범위</dc:title>
  <dc:subject>PptxGenJS Presentation</dc:subject>
  <dc:creator>HOP</dc:creator>
  <cp:lastModifiedBy>HOP</cp:lastModifiedBy>
  <cp:revision>1</cp:revision>
  <dcterms:created xsi:type="dcterms:W3CDTF">2026-10-15T05:39:25Z</dcterms:created>
  <dcterms:modified xsi:type="dcterms:W3CDTF">2026-10-15T05:39:25Z</dcterms:modified>
</cp:coreProperties>
</file>