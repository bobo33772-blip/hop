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VP 범위" id="{706b1bf3-04de-7da3-cbfa-8fc185784ee3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MVP에는 공구가 한 번 돌아가는 데 꼭 필요한 기능 10개만 넣었습니다. 5명이 약 10주 걸리는 규모입니다.
① 개설(판매자): 카페24 앱 설치·권한 연결, 상품별 찜 수와 수신동의자 수를 보여 주는 수요 레이더, 목표 수량·할인가·마감일을 정하는 공구 개설, 수신동의자에게만 (광고) 표기를 자동으로 붙여 보내는 초대 문자.
② 신청(고객): 상품 페이지 위젯(진행률, 신청 버튼), 로그인 회원만 결제 없이 하는 참여 신청, 마감 판정과 결과 안내, 목표 달성 시 회원 전용 쿠폰 자동 발급.
③ 발주(판매자): 쿠폰을 쓴 주문만 집계하는 결제 추적, 확정 수량 리포트와 발주 메모.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세 칸으로 나눴습니다.
지금(MVP): 앞 장의 필수 기능 10개입니다.
다음(출시 후): 성과 대시보드, 재입고 신청자 연동, 미결제 자리 대기열 순서로 붙입니다.
하지 않는 것: 자체 결제(결제금을 받지 않아 PG 등록이 필요 없도록), 비회원 참여(회원 검증과 수신동의 관리를 위해), 새 고객을 찾는 마켓플레이스(우리는 이미 찜한 내 고객을 전환하는 도구이기 때문에)는 만들지 않습니다.
사용 방식: 판매자는 모바일 웹앱(PWA)으로, 고객은 아무것도 설치하지 않고 상품 페이지 위젯과 문자로 이용합니다.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5852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11480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sua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31520"/>
            <a:ext cx="109115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MVP 범위 · 1 /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꼭 필요한 기능 10개만 만든다</a:t>
            </a:r>
            <a:endParaRPr lang="en-US" sz="3600" dirty="0"/>
          </a:p>
        </p:txBody>
      </p:sp>
      <p:sp>
        <p:nvSpPr>
          <p:cNvPr id="5" name="card-1"/>
          <p:cNvSpPr/>
          <p:nvPr/>
        </p:nvSpPr>
        <p:spPr>
          <a:xfrm>
            <a:off x="9174175" y="868680"/>
            <a:ext cx="2377440" cy="548640"/>
          </a:xfrm>
          <a:prstGeom prst="roundRect">
            <a:avLst>
              <a:gd name="adj" fmla="val 25000"/>
            </a:avLst>
          </a:prstGeom>
          <a:solidFill>
            <a:schemeClr val="tx1"/>
          </a:solidFill>
          <a:ln/>
        </p:spPr>
      </p:sp>
      <p:sp>
        <p:nvSpPr>
          <p:cNvPr id="6" name="text-2"/>
          <p:cNvSpPr txBox="1"/>
          <p:nvPr/>
        </p:nvSpPr>
        <p:spPr>
          <a:xfrm>
            <a:off x="9174175" y="868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5명 · 약 10주</a:t>
            </a:r>
            <a:endParaRPr lang="en-US" sz="1800" dirty="0"/>
          </a:p>
        </p:txBody>
      </p:sp>
      <p:sp>
        <p:nvSpPr>
          <p:cNvPr id="7" name="circle-3"/>
          <p:cNvSpPr/>
          <p:nvPr/>
        </p:nvSpPr>
        <p:spPr>
          <a:xfrm>
            <a:off x="640080" y="1783080"/>
            <a:ext cx="868680" cy="8686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con-4" descr="개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502920" cy="502920"/>
          </a:xfrm>
          <a:prstGeom prst="rect">
            <a:avLst/>
          </a:prstGeom>
        </p:spPr>
      </p:pic>
      <p:sp>
        <p:nvSpPr>
          <p:cNvPr id="9" name="text-5"/>
          <p:cNvSpPr txBox="1"/>
          <p:nvPr/>
        </p:nvSpPr>
        <p:spPr>
          <a:xfrm>
            <a:off x="1691640" y="1783080"/>
            <a:ext cx="2265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1. 개설</a:t>
            </a:r>
            <a:endParaRPr lang="en-US" sz="2400" dirty="0"/>
          </a:p>
        </p:txBody>
      </p:sp>
      <p:sp>
        <p:nvSpPr>
          <p:cNvPr id="10" name="text-6"/>
          <p:cNvSpPr txBox="1"/>
          <p:nvPr/>
        </p:nvSpPr>
        <p:spPr>
          <a:xfrm>
            <a:off x="1691640" y="2286000"/>
            <a:ext cx="2265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판매자 · 4개</a:t>
            </a:r>
            <a:endParaRPr lang="en-US" sz="1400" dirty="0"/>
          </a:p>
        </p:txBody>
      </p:sp>
      <p:sp>
        <p:nvSpPr>
          <p:cNvPr id="11" name="card-7"/>
          <p:cNvSpPr/>
          <p:nvPr/>
        </p:nvSpPr>
        <p:spPr>
          <a:xfrm>
            <a:off x="640080" y="2880360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12" name="circle-8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-9"/>
          <p:cNvSpPr txBox="1"/>
          <p:nvPr/>
        </p:nvSpPr>
        <p:spPr>
          <a:xfrm>
            <a:off x="82296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4" name="text-10"/>
          <p:cNvSpPr txBox="1"/>
          <p:nvPr/>
        </p:nvSpPr>
        <p:spPr>
          <a:xfrm>
            <a:off x="1371600" y="2880360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앱 설치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카페24 권한 연결</a:t>
            </a:r>
            <a:endParaRPr lang="en-US" sz="1600" dirty="0"/>
          </a:p>
        </p:txBody>
      </p:sp>
      <p:sp>
        <p:nvSpPr>
          <p:cNvPr id="15" name="card-11"/>
          <p:cNvSpPr/>
          <p:nvPr/>
        </p:nvSpPr>
        <p:spPr>
          <a:xfrm>
            <a:off x="640080" y="3721608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16" name="circle-12"/>
          <p:cNvSpPr/>
          <p:nvPr/>
        </p:nvSpPr>
        <p:spPr>
          <a:xfrm>
            <a:off x="822960" y="38953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13"/>
          <p:cNvSpPr txBox="1"/>
          <p:nvPr/>
        </p:nvSpPr>
        <p:spPr>
          <a:xfrm>
            <a:off x="822960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-14"/>
          <p:cNvSpPr txBox="1"/>
          <p:nvPr/>
        </p:nvSpPr>
        <p:spPr>
          <a:xfrm>
            <a:off x="1371600" y="3721608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수요 레이더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상품별 찜 수 · 수신동의자 수</a:t>
            </a:r>
            <a:endParaRPr lang="en-US" sz="1600" dirty="0"/>
          </a:p>
        </p:txBody>
      </p:sp>
      <p:sp>
        <p:nvSpPr>
          <p:cNvPr id="19" name="card-15"/>
          <p:cNvSpPr/>
          <p:nvPr/>
        </p:nvSpPr>
        <p:spPr>
          <a:xfrm>
            <a:off x="640080" y="4562856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20" name="circle-16"/>
          <p:cNvSpPr/>
          <p:nvPr/>
        </p:nvSpPr>
        <p:spPr>
          <a:xfrm>
            <a:off x="822960" y="47365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-17"/>
          <p:cNvSpPr txBox="1"/>
          <p:nvPr/>
        </p:nvSpPr>
        <p:spPr>
          <a:xfrm>
            <a:off x="82296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-18"/>
          <p:cNvSpPr txBox="1"/>
          <p:nvPr/>
        </p:nvSpPr>
        <p:spPr>
          <a:xfrm>
            <a:off x="1371600" y="4562856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공구 개설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목표 수량 · 할인가 · 마감일</a:t>
            </a:r>
            <a:endParaRPr lang="en-US" sz="1600" dirty="0"/>
          </a:p>
        </p:txBody>
      </p:sp>
      <p:sp>
        <p:nvSpPr>
          <p:cNvPr id="23" name="card-19"/>
          <p:cNvSpPr/>
          <p:nvPr/>
        </p:nvSpPr>
        <p:spPr>
          <a:xfrm>
            <a:off x="640080" y="5404104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24" name="circle-20"/>
          <p:cNvSpPr/>
          <p:nvPr/>
        </p:nvSpPr>
        <p:spPr>
          <a:xfrm>
            <a:off x="822960" y="5577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-21"/>
          <p:cNvSpPr txBox="1"/>
          <p:nvPr/>
        </p:nvSpPr>
        <p:spPr>
          <a:xfrm>
            <a:off x="822960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-22"/>
          <p:cNvSpPr txBox="1"/>
          <p:nvPr/>
        </p:nvSpPr>
        <p:spPr>
          <a:xfrm>
            <a:off x="1371600" y="5404104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초대 문자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동의자만 · (광고) 표기 자동</a:t>
            </a:r>
            <a:endParaRPr lang="en-US" sz="1600" dirty="0"/>
          </a:p>
        </p:txBody>
      </p:sp>
      <p:sp>
        <p:nvSpPr>
          <p:cNvPr id="27" name="text-23"/>
          <p:cNvSpPr txBox="1"/>
          <p:nvPr/>
        </p:nvSpPr>
        <p:spPr>
          <a:xfrm>
            <a:off x="4002938" y="178308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›</a:t>
            </a:r>
            <a:endParaRPr lang="en-US" sz="4000" dirty="0"/>
          </a:p>
        </p:txBody>
      </p:sp>
      <p:sp>
        <p:nvSpPr>
          <p:cNvPr id="28" name="circle-24"/>
          <p:cNvSpPr/>
          <p:nvPr/>
        </p:nvSpPr>
        <p:spPr>
          <a:xfrm>
            <a:off x="4414418" y="1783080"/>
            <a:ext cx="868680" cy="8686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9" name="icon-25" descr="신청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298" y="1965960"/>
            <a:ext cx="502920" cy="502920"/>
          </a:xfrm>
          <a:prstGeom prst="rect">
            <a:avLst/>
          </a:prstGeom>
        </p:spPr>
      </p:pic>
      <p:sp>
        <p:nvSpPr>
          <p:cNvPr id="30" name="text-26"/>
          <p:cNvSpPr txBox="1"/>
          <p:nvPr/>
        </p:nvSpPr>
        <p:spPr>
          <a:xfrm>
            <a:off x="5465978" y="1783080"/>
            <a:ext cx="2265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2. 신청</a:t>
            </a:r>
            <a:endParaRPr lang="en-US" sz="2400" dirty="0"/>
          </a:p>
        </p:txBody>
      </p:sp>
      <p:sp>
        <p:nvSpPr>
          <p:cNvPr id="31" name="text-27"/>
          <p:cNvSpPr txBox="1"/>
          <p:nvPr/>
        </p:nvSpPr>
        <p:spPr>
          <a:xfrm>
            <a:off x="5465978" y="2286000"/>
            <a:ext cx="2265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고객 · 4개</a:t>
            </a:r>
            <a:endParaRPr lang="en-US" sz="1400" dirty="0"/>
          </a:p>
        </p:txBody>
      </p:sp>
      <p:sp>
        <p:nvSpPr>
          <p:cNvPr id="32" name="card-28"/>
          <p:cNvSpPr/>
          <p:nvPr/>
        </p:nvSpPr>
        <p:spPr>
          <a:xfrm>
            <a:off x="4414418" y="2880360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33" name="circle-29"/>
          <p:cNvSpPr/>
          <p:nvPr/>
        </p:nvSpPr>
        <p:spPr>
          <a:xfrm>
            <a:off x="4597298" y="3054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-30"/>
          <p:cNvSpPr txBox="1"/>
          <p:nvPr/>
        </p:nvSpPr>
        <p:spPr>
          <a:xfrm>
            <a:off x="459729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5" name="text-31"/>
          <p:cNvSpPr txBox="1"/>
          <p:nvPr/>
        </p:nvSpPr>
        <p:spPr>
          <a:xfrm>
            <a:off x="5145938" y="2880360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위젯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진행률 · 신청 버튼</a:t>
            </a:r>
            <a:endParaRPr lang="en-US" sz="1600" dirty="0"/>
          </a:p>
        </p:txBody>
      </p:sp>
      <p:sp>
        <p:nvSpPr>
          <p:cNvPr id="36" name="card-32"/>
          <p:cNvSpPr/>
          <p:nvPr/>
        </p:nvSpPr>
        <p:spPr>
          <a:xfrm>
            <a:off x="4414418" y="3721608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37" name="circle-33"/>
          <p:cNvSpPr/>
          <p:nvPr/>
        </p:nvSpPr>
        <p:spPr>
          <a:xfrm>
            <a:off x="4597298" y="38953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8" name="text-34"/>
          <p:cNvSpPr txBox="1"/>
          <p:nvPr/>
        </p:nvSpPr>
        <p:spPr>
          <a:xfrm>
            <a:off x="4597298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9" name="text-35"/>
          <p:cNvSpPr txBox="1"/>
          <p:nvPr/>
        </p:nvSpPr>
        <p:spPr>
          <a:xfrm>
            <a:off x="5145938" y="3721608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참여 신청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로그인 회원 · 결제 없음</a:t>
            </a:r>
            <a:endParaRPr lang="en-US" sz="1600" dirty="0"/>
          </a:p>
        </p:txBody>
      </p:sp>
      <p:sp>
        <p:nvSpPr>
          <p:cNvPr id="40" name="card-36"/>
          <p:cNvSpPr/>
          <p:nvPr/>
        </p:nvSpPr>
        <p:spPr>
          <a:xfrm>
            <a:off x="4414418" y="4562856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41" name="circle-37"/>
          <p:cNvSpPr/>
          <p:nvPr/>
        </p:nvSpPr>
        <p:spPr>
          <a:xfrm>
            <a:off x="4597298" y="47365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text-38"/>
          <p:cNvSpPr txBox="1"/>
          <p:nvPr/>
        </p:nvSpPr>
        <p:spPr>
          <a:xfrm>
            <a:off x="4597298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3" name="text-39"/>
          <p:cNvSpPr txBox="1"/>
          <p:nvPr/>
        </p:nvSpPr>
        <p:spPr>
          <a:xfrm>
            <a:off x="5145938" y="4562856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마감 판정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결과 자동 안내</a:t>
            </a:r>
            <a:endParaRPr lang="en-US" sz="1600" dirty="0"/>
          </a:p>
        </p:txBody>
      </p:sp>
      <p:sp>
        <p:nvSpPr>
          <p:cNvPr id="44" name="card-40"/>
          <p:cNvSpPr/>
          <p:nvPr/>
        </p:nvSpPr>
        <p:spPr>
          <a:xfrm>
            <a:off x="4414418" y="5404104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45" name="circle-41"/>
          <p:cNvSpPr/>
          <p:nvPr/>
        </p:nvSpPr>
        <p:spPr>
          <a:xfrm>
            <a:off x="4597298" y="5577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6" name="text-42"/>
          <p:cNvSpPr txBox="1"/>
          <p:nvPr/>
        </p:nvSpPr>
        <p:spPr>
          <a:xfrm>
            <a:off x="4597298" y="5577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7" name="text-43"/>
          <p:cNvSpPr txBox="1"/>
          <p:nvPr/>
        </p:nvSpPr>
        <p:spPr>
          <a:xfrm>
            <a:off x="5145938" y="5404104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쿠폰 발급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달성 시 회원 전용 쿠폰</a:t>
            </a:r>
            <a:endParaRPr lang="en-US" sz="1600" dirty="0"/>
          </a:p>
        </p:txBody>
      </p:sp>
      <p:sp>
        <p:nvSpPr>
          <p:cNvPr id="48" name="text-44"/>
          <p:cNvSpPr txBox="1"/>
          <p:nvPr/>
        </p:nvSpPr>
        <p:spPr>
          <a:xfrm>
            <a:off x="7777277" y="178308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›</a:t>
            </a:r>
            <a:endParaRPr lang="en-US" sz="4000" dirty="0"/>
          </a:p>
        </p:txBody>
      </p:sp>
      <p:sp>
        <p:nvSpPr>
          <p:cNvPr id="49" name="circle-45"/>
          <p:cNvSpPr/>
          <p:nvPr/>
        </p:nvSpPr>
        <p:spPr>
          <a:xfrm>
            <a:off x="8188757" y="17830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ircle-46"/>
          <p:cNvSpPr/>
          <p:nvPr/>
        </p:nvSpPr>
        <p:spPr>
          <a:xfrm>
            <a:off x="8298485" y="1892808"/>
            <a:ext cx="649224" cy="649224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1" name="icon-47" descr="발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1965960"/>
            <a:ext cx="502920" cy="502920"/>
          </a:xfrm>
          <a:prstGeom prst="rect">
            <a:avLst/>
          </a:prstGeom>
        </p:spPr>
      </p:pic>
      <p:sp>
        <p:nvSpPr>
          <p:cNvPr id="52" name="text-48"/>
          <p:cNvSpPr txBox="1"/>
          <p:nvPr/>
        </p:nvSpPr>
        <p:spPr>
          <a:xfrm>
            <a:off x="9240317" y="1783080"/>
            <a:ext cx="2265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발주</a:t>
            </a:r>
            <a:endParaRPr lang="en-US" sz="2400" dirty="0"/>
          </a:p>
        </p:txBody>
      </p:sp>
      <p:sp>
        <p:nvSpPr>
          <p:cNvPr id="53" name="text-49"/>
          <p:cNvSpPr txBox="1"/>
          <p:nvPr/>
        </p:nvSpPr>
        <p:spPr>
          <a:xfrm>
            <a:off x="9240317" y="2286000"/>
            <a:ext cx="2265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판매자 · 2개</a:t>
            </a:r>
            <a:endParaRPr lang="en-US" sz="1400" dirty="0"/>
          </a:p>
        </p:txBody>
      </p:sp>
      <p:sp>
        <p:nvSpPr>
          <p:cNvPr id="54" name="card-50"/>
          <p:cNvSpPr/>
          <p:nvPr/>
        </p:nvSpPr>
        <p:spPr>
          <a:xfrm>
            <a:off x="8188757" y="2880360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55" name="circle-51"/>
          <p:cNvSpPr/>
          <p:nvPr/>
        </p:nvSpPr>
        <p:spPr>
          <a:xfrm>
            <a:off x="8371637" y="3054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6" name="text-52"/>
          <p:cNvSpPr txBox="1"/>
          <p:nvPr/>
        </p:nvSpPr>
        <p:spPr>
          <a:xfrm>
            <a:off x="8371637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7" name="text-53"/>
          <p:cNvSpPr txBox="1"/>
          <p:nvPr/>
        </p:nvSpPr>
        <p:spPr>
          <a:xfrm>
            <a:off x="8920277" y="2880360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결제 추적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쿠폰 쓴 주문만 집계</a:t>
            </a:r>
            <a:endParaRPr lang="en-US" sz="1600" dirty="0"/>
          </a:p>
        </p:txBody>
      </p:sp>
      <p:sp>
        <p:nvSpPr>
          <p:cNvPr id="58" name="card-54"/>
          <p:cNvSpPr/>
          <p:nvPr/>
        </p:nvSpPr>
        <p:spPr>
          <a:xfrm>
            <a:off x="8188757" y="3721608"/>
            <a:ext cx="3362858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59" name="circle-55"/>
          <p:cNvSpPr/>
          <p:nvPr/>
        </p:nvSpPr>
        <p:spPr>
          <a:xfrm>
            <a:off x="8371637" y="38953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0" name="text-56"/>
          <p:cNvSpPr txBox="1"/>
          <p:nvPr/>
        </p:nvSpPr>
        <p:spPr>
          <a:xfrm>
            <a:off x="8371637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1" name="text-57"/>
          <p:cNvSpPr txBox="1"/>
          <p:nvPr/>
        </p:nvSpPr>
        <p:spPr>
          <a:xfrm>
            <a:off x="8920277" y="3721608"/>
            <a:ext cx="2494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확정 리포트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확정 수량 · 발주 메모</a:t>
            </a:r>
            <a:endParaRPr lang="en-US" sz="1600" dirty="0"/>
          </a:p>
        </p:txBody>
      </p:sp>
      <p:sp>
        <p:nvSpPr>
          <p:cNvPr id="62" name="card-58"/>
          <p:cNvSpPr/>
          <p:nvPr/>
        </p:nvSpPr>
        <p:spPr>
          <a:xfrm>
            <a:off x="8188757" y="4572000"/>
            <a:ext cx="3362858" cy="1463040"/>
          </a:xfrm>
          <a:prstGeom prst="roundRect">
            <a:avLst>
              <a:gd name="adj" fmla="val 9375"/>
            </a:avLst>
          </a:prstGeom>
          <a:solidFill>
            <a:schemeClr val="tx1"/>
          </a:solidFill>
          <a:ln/>
        </p:spPr>
      </p:sp>
      <p:sp>
        <p:nvSpPr>
          <p:cNvPr id="63" name="text-59"/>
          <p:cNvSpPr txBox="1"/>
          <p:nvPr/>
        </p:nvSpPr>
        <p:spPr>
          <a:xfrm>
            <a:off x="8463077" y="4572000"/>
            <a:ext cx="28142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결과물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확정 수량만큼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생산·발주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MVP 범위 · 2 /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지금 할 것, 나중에 할 것, 안 할 것</a:t>
            </a:r>
            <a:endParaRPr lang="en-US" sz="3600" dirty="0"/>
          </a:p>
        </p:txBody>
      </p:sp>
      <p:sp>
        <p:nvSpPr>
          <p:cNvPr id="5" name="card-60"/>
          <p:cNvSpPr/>
          <p:nvPr/>
        </p:nvSpPr>
        <p:spPr>
          <a:xfrm>
            <a:off x="640080" y="1783080"/>
            <a:ext cx="3362858" cy="329184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</p:spPr>
      </p:sp>
      <p:sp>
        <p:nvSpPr>
          <p:cNvPr id="6" name="text-61"/>
          <p:cNvSpPr txBox="1"/>
          <p:nvPr/>
        </p:nvSpPr>
        <p:spPr>
          <a:xfrm>
            <a:off x="960120" y="205740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NOW</a:t>
            </a:r>
            <a:endParaRPr lang="en-US" sz="1400" dirty="0"/>
          </a:p>
        </p:txBody>
      </p:sp>
      <p:sp>
        <p:nvSpPr>
          <p:cNvPr id="7" name="text-62"/>
          <p:cNvSpPr txBox="1"/>
          <p:nvPr/>
        </p:nvSpPr>
        <p:spPr>
          <a:xfrm>
            <a:off x="960120" y="2423160"/>
            <a:ext cx="2722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지금 · MVP</a:t>
            </a:r>
            <a:endParaRPr lang="en-US" sz="2400" dirty="0"/>
          </a:p>
        </p:txBody>
      </p:sp>
      <p:sp>
        <p:nvSpPr>
          <p:cNvPr id="8" name="text-63"/>
          <p:cNvSpPr txBox="1"/>
          <p:nvPr/>
        </p:nvSpPr>
        <p:spPr>
          <a:xfrm>
            <a:off x="960120" y="3108960"/>
            <a:ext cx="27227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bg1"/>
                </a:solidFill>
              </a:rPr>
              <a:t>10</a:t>
            </a:r>
            <a:endParaRPr lang="en-US" sz="9600" dirty="0"/>
          </a:p>
        </p:txBody>
      </p:sp>
      <p:sp>
        <p:nvSpPr>
          <p:cNvPr id="9" name="text-64"/>
          <p:cNvSpPr txBox="1"/>
          <p:nvPr/>
        </p:nvSpPr>
        <p:spPr>
          <a:xfrm>
            <a:off x="960120" y="434340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필수 기능 (앞 장)</a:t>
            </a:r>
            <a:endParaRPr lang="en-US" sz="1600" dirty="0"/>
          </a:p>
        </p:txBody>
      </p:sp>
      <p:sp>
        <p:nvSpPr>
          <p:cNvPr id="10" name="text-65"/>
          <p:cNvSpPr txBox="1"/>
          <p:nvPr/>
        </p:nvSpPr>
        <p:spPr>
          <a:xfrm>
            <a:off x="4002938" y="1783080"/>
            <a:ext cx="411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›</a:t>
            </a:r>
            <a:endParaRPr lang="en-US" sz="4000" dirty="0"/>
          </a:p>
        </p:txBody>
      </p:sp>
      <p:sp>
        <p:nvSpPr>
          <p:cNvPr id="11" name="card-66"/>
          <p:cNvSpPr/>
          <p:nvPr/>
        </p:nvSpPr>
        <p:spPr>
          <a:xfrm>
            <a:off x="4414418" y="1783080"/>
            <a:ext cx="336285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12" name="text-67"/>
          <p:cNvSpPr txBox="1"/>
          <p:nvPr/>
        </p:nvSpPr>
        <p:spPr>
          <a:xfrm>
            <a:off x="4734458" y="205740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</a:t>
            </a:r>
            <a:endParaRPr lang="en-US" sz="1400" dirty="0"/>
          </a:p>
        </p:txBody>
      </p:sp>
      <p:sp>
        <p:nvSpPr>
          <p:cNvPr id="13" name="text-68"/>
          <p:cNvSpPr txBox="1"/>
          <p:nvPr/>
        </p:nvSpPr>
        <p:spPr>
          <a:xfrm>
            <a:off x="4734458" y="2423160"/>
            <a:ext cx="2722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출시 후 다음</a:t>
            </a:r>
            <a:endParaRPr lang="en-US" sz="2400" dirty="0"/>
          </a:p>
        </p:txBody>
      </p:sp>
      <p:sp>
        <p:nvSpPr>
          <p:cNvPr id="14" name="circle-69"/>
          <p:cNvSpPr/>
          <p:nvPr/>
        </p:nvSpPr>
        <p:spPr>
          <a:xfrm>
            <a:off x="4734458" y="3154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-70"/>
          <p:cNvSpPr txBox="1"/>
          <p:nvPr/>
        </p:nvSpPr>
        <p:spPr>
          <a:xfrm>
            <a:off x="473445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-71"/>
          <p:cNvSpPr txBox="1"/>
          <p:nvPr/>
        </p:nvSpPr>
        <p:spPr>
          <a:xfrm>
            <a:off x="5283098" y="3154680"/>
            <a:ext cx="2265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성과 대시보드</a:t>
            </a:r>
            <a:endParaRPr lang="en-US" sz="1600" dirty="0"/>
          </a:p>
        </p:txBody>
      </p:sp>
      <p:sp>
        <p:nvSpPr>
          <p:cNvPr id="17" name="circle-72"/>
          <p:cNvSpPr/>
          <p:nvPr/>
        </p:nvSpPr>
        <p:spPr>
          <a:xfrm>
            <a:off x="4734458" y="37490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-73"/>
          <p:cNvSpPr txBox="1"/>
          <p:nvPr/>
        </p:nvSpPr>
        <p:spPr>
          <a:xfrm>
            <a:off x="4734458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-74"/>
          <p:cNvSpPr txBox="1"/>
          <p:nvPr/>
        </p:nvSpPr>
        <p:spPr>
          <a:xfrm>
            <a:off x="5283098" y="3749040"/>
            <a:ext cx="2265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재입고 신청자 연동</a:t>
            </a:r>
            <a:endParaRPr lang="en-US" sz="1600" dirty="0"/>
          </a:p>
        </p:txBody>
      </p:sp>
      <p:sp>
        <p:nvSpPr>
          <p:cNvPr id="20" name="circle-75"/>
          <p:cNvSpPr/>
          <p:nvPr/>
        </p:nvSpPr>
        <p:spPr>
          <a:xfrm>
            <a:off x="4734458" y="43434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-76"/>
          <p:cNvSpPr txBox="1"/>
          <p:nvPr/>
        </p:nvSpPr>
        <p:spPr>
          <a:xfrm>
            <a:off x="4734458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-77"/>
          <p:cNvSpPr txBox="1"/>
          <p:nvPr/>
        </p:nvSpPr>
        <p:spPr>
          <a:xfrm>
            <a:off x="5283098" y="4343400"/>
            <a:ext cx="2265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미결제 자리 대기열</a:t>
            </a:r>
            <a:endParaRPr lang="en-US" sz="1600" dirty="0"/>
          </a:p>
        </p:txBody>
      </p:sp>
      <p:sp>
        <p:nvSpPr>
          <p:cNvPr id="23" name="text-78"/>
          <p:cNvSpPr txBox="1"/>
          <p:nvPr/>
        </p:nvSpPr>
        <p:spPr>
          <a:xfrm>
            <a:off x="7777277" y="1783080"/>
            <a:ext cx="411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›</a:t>
            </a:r>
            <a:endParaRPr lang="en-US" sz="4000" dirty="0"/>
          </a:p>
        </p:txBody>
      </p:sp>
      <p:sp>
        <p:nvSpPr>
          <p:cNvPr id="24" name="card-79"/>
          <p:cNvSpPr/>
          <p:nvPr/>
        </p:nvSpPr>
        <p:spPr>
          <a:xfrm>
            <a:off x="8188757" y="1783080"/>
            <a:ext cx="3362858" cy="3291840"/>
          </a:xfrm>
          <a:prstGeom prst="roundRect">
            <a:avLst>
              <a:gd name="adj" fmla="val 4167"/>
            </a:avLst>
          </a:prstGeom>
          <a:solidFill>
            <a:schemeClr val="tx1"/>
          </a:solidFill>
          <a:ln/>
        </p:spPr>
      </p:sp>
      <p:sp>
        <p:nvSpPr>
          <p:cNvPr id="25" name="text-80"/>
          <p:cNvSpPr txBox="1"/>
          <p:nvPr/>
        </p:nvSpPr>
        <p:spPr>
          <a:xfrm>
            <a:off x="8508797" y="205740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NO</a:t>
            </a:r>
            <a:endParaRPr lang="en-US" sz="1400" dirty="0"/>
          </a:p>
        </p:txBody>
      </p:sp>
      <p:sp>
        <p:nvSpPr>
          <p:cNvPr id="26" name="text-81"/>
          <p:cNvSpPr txBox="1"/>
          <p:nvPr/>
        </p:nvSpPr>
        <p:spPr>
          <a:xfrm>
            <a:off x="8508797" y="2423160"/>
            <a:ext cx="2722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하지 않는 것</a:t>
            </a:r>
            <a:endParaRPr lang="en-US" sz="2400" dirty="0"/>
          </a:p>
        </p:txBody>
      </p:sp>
      <p:sp>
        <p:nvSpPr>
          <p:cNvPr id="27" name="circle-82"/>
          <p:cNvSpPr/>
          <p:nvPr/>
        </p:nvSpPr>
        <p:spPr>
          <a:xfrm>
            <a:off x="8508797" y="3154680"/>
            <a:ext cx="411480" cy="41148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8" name="text-83"/>
          <p:cNvSpPr txBox="1"/>
          <p:nvPr/>
        </p:nvSpPr>
        <p:spPr>
          <a:xfrm>
            <a:off x="8508797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✕</a:t>
            </a:r>
            <a:endParaRPr lang="en-US" sz="1300" dirty="0"/>
          </a:p>
        </p:txBody>
      </p:sp>
      <p:sp>
        <p:nvSpPr>
          <p:cNvPr id="29" name="text-84"/>
          <p:cNvSpPr txBox="1"/>
          <p:nvPr/>
        </p:nvSpPr>
        <p:spPr>
          <a:xfrm>
            <a:off x="9057437" y="3154680"/>
            <a:ext cx="2265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trike="sngStrike" dirty="0">
                <a:solidFill>
                  <a:schemeClr val="accent5"/>
                </a:solidFill>
              </a:rPr>
              <a:t>자체 결제</a:t>
            </a:r>
            <a:endParaRPr lang="en-US" sz="1600" dirty="0"/>
          </a:p>
        </p:txBody>
      </p:sp>
      <p:sp>
        <p:nvSpPr>
          <p:cNvPr id="30" name="circle-85"/>
          <p:cNvSpPr/>
          <p:nvPr/>
        </p:nvSpPr>
        <p:spPr>
          <a:xfrm>
            <a:off x="8508797" y="3749040"/>
            <a:ext cx="411480" cy="41148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1" name="text-86"/>
          <p:cNvSpPr txBox="1"/>
          <p:nvPr/>
        </p:nvSpPr>
        <p:spPr>
          <a:xfrm>
            <a:off x="8508797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✕</a:t>
            </a:r>
            <a:endParaRPr lang="en-US" sz="1300" dirty="0"/>
          </a:p>
        </p:txBody>
      </p:sp>
      <p:sp>
        <p:nvSpPr>
          <p:cNvPr id="32" name="text-87"/>
          <p:cNvSpPr txBox="1"/>
          <p:nvPr/>
        </p:nvSpPr>
        <p:spPr>
          <a:xfrm>
            <a:off x="9057437" y="3749040"/>
            <a:ext cx="2265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trike="sngStrike" dirty="0">
                <a:solidFill>
                  <a:schemeClr val="accent5"/>
                </a:solidFill>
              </a:rPr>
              <a:t>비회원 참여</a:t>
            </a:r>
            <a:endParaRPr lang="en-US" sz="1600" dirty="0"/>
          </a:p>
        </p:txBody>
      </p:sp>
      <p:sp>
        <p:nvSpPr>
          <p:cNvPr id="33" name="circle-88"/>
          <p:cNvSpPr/>
          <p:nvPr/>
        </p:nvSpPr>
        <p:spPr>
          <a:xfrm>
            <a:off x="8508797" y="4343400"/>
            <a:ext cx="411480" cy="41148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34" name="text-89"/>
          <p:cNvSpPr txBox="1"/>
          <p:nvPr/>
        </p:nvSpPr>
        <p:spPr>
          <a:xfrm>
            <a:off x="8508797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✕</a:t>
            </a:r>
            <a:endParaRPr lang="en-US" sz="1300" dirty="0"/>
          </a:p>
        </p:txBody>
      </p:sp>
      <p:sp>
        <p:nvSpPr>
          <p:cNvPr id="35" name="text-90"/>
          <p:cNvSpPr txBox="1"/>
          <p:nvPr/>
        </p:nvSpPr>
        <p:spPr>
          <a:xfrm>
            <a:off x="9057437" y="4343400"/>
            <a:ext cx="2265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trike="sngStrike" dirty="0">
                <a:solidFill>
                  <a:schemeClr val="accent5"/>
                </a:solidFill>
              </a:rPr>
              <a:t>신규 고객 마켓플레이스</a:t>
            </a:r>
            <a:endParaRPr lang="en-US" sz="1600" dirty="0"/>
          </a:p>
        </p:txBody>
      </p:sp>
      <p:sp>
        <p:nvSpPr>
          <p:cNvPr id="36" name="card-91"/>
          <p:cNvSpPr/>
          <p:nvPr/>
        </p:nvSpPr>
        <p:spPr>
          <a:xfrm>
            <a:off x="640080" y="5349240"/>
            <a:ext cx="5272888" cy="777240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37" name="icon-92" descr="판매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504688"/>
            <a:ext cx="457200" cy="457200"/>
          </a:xfrm>
          <a:prstGeom prst="rect">
            <a:avLst/>
          </a:prstGeom>
        </p:spPr>
      </p:pic>
      <p:sp>
        <p:nvSpPr>
          <p:cNvPr id="38" name="text-93"/>
          <p:cNvSpPr txBox="1"/>
          <p:nvPr/>
        </p:nvSpPr>
        <p:spPr>
          <a:xfrm>
            <a:off x="1554480" y="5349240"/>
            <a:ext cx="4175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판매자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모바일 웹앱 (PWA)</a:t>
            </a:r>
            <a:endParaRPr lang="en-US" sz="1800" dirty="0"/>
          </a:p>
        </p:txBody>
      </p:sp>
      <p:sp>
        <p:nvSpPr>
          <p:cNvPr id="39" name="card-94"/>
          <p:cNvSpPr/>
          <p:nvPr/>
        </p:nvSpPr>
        <p:spPr>
          <a:xfrm>
            <a:off x="6278728" y="5349240"/>
            <a:ext cx="5272888" cy="777240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40" name="icon-95" descr="고객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5504688"/>
            <a:ext cx="457200" cy="457200"/>
          </a:xfrm>
          <a:prstGeom prst="rect">
            <a:avLst/>
          </a:prstGeom>
        </p:spPr>
      </p:pic>
      <p:sp>
        <p:nvSpPr>
          <p:cNvPr id="41" name="text-96"/>
          <p:cNvSpPr txBox="1"/>
          <p:nvPr/>
        </p:nvSpPr>
        <p:spPr>
          <a:xfrm>
            <a:off x="7193128" y="5349240"/>
            <a:ext cx="4175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고객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설치 없이 위젯 · 문자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721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jimkkong">
  <a:themeElements>
    <a:clrScheme name="Jjimkkong">
      <a:dk1>
        <a:srgbClr val="1C1C1F"/>
      </a:dk1>
      <a:lt1>
        <a:srgbClr val="FFFFFF"/>
      </a:lt1>
      <a:dk2>
        <a:srgbClr val="6B6B75"/>
      </a:dk2>
      <a:lt2>
        <a:srgbClr val="FFF0F3"/>
      </a:lt2>
      <a:accent1>
        <a:srgbClr val="E94162"/>
      </a:accent1>
      <a:accent2>
        <a:srgbClr val="FC7598"/>
      </a:accent2>
      <a:accent3>
        <a:srgbClr val="F9C6D3"/>
      </a:accent3>
      <a:accent4>
        <a:srgbClr val="2E2E35"/>
      </a:accent4>
      <a:accent5>
        <a:srgbClr val="C9C9D1"/>
      </a:accent5>
      <a:accent6>
        <a:srgbClr val="FFE3EA"/>
      </a:accent6>
      <a:hlink>
        <a:srgbClr val="E94162"/>
      </a:hlink>
      <a:folHlink>
        <a:srgbClr val="9A9AA5"/>
      </a:folHlink>
    </a:clrScheme>
    <a:fontScheme name="Jjimkkong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찜꽁 · MVP 범위</dc:title>
  <dc:subject>PptxGenJS Presentation</dc:subject>
  <dc:creator>HOP</dc:creator>
  <cp:lastModifiedBy>HOP</cp:lastModifiedBy>
  <cp:revision>1</cp:revision>
  <dcterms:created xsi:type="dcterms:W3CDTF">2026-10-15T05:30:02Z</dcterms:created>
  <dcterms:modified xsi:type="dcterms:W3CDTF">2026-10-15T05:30:02Z</dcterms:modified>
</cp:coreProperties>
</file>