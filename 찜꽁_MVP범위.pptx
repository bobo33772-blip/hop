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VP 범위" id="{39159666-6026-5fa7-2bfa-fa43a08a313f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MVP에는 공구가 한 번 끝까지 돌아가는 데 꼭 필요한 기능 10개만 넣었습니다. 5명이 약 10주 걸리는 규모입니다.
① 개설(판매자, 모바일 웹앱): 카페24 앱 설치·권한 연결, 상품별 찜 수·수신동의자 수를 보는 수요 레이더, 목표 수량·할인가·마감일을 정하는 공구 개설, 동의자에게만 (광고) 표기를 자동으로 붙이는 초대 문자.
② 신청(고객, 설치 없이 위젯·문자): 진행률과 신청 버튼이 있는 상품 페이지 위젯, 로그인 회원만 결제 없이 하는 참여 신청, 마감 판정과 결과 안내, 달성 시 회원 전용 쿠폰 자동 발급.
③ 발주(판매자): 쿠폰을 쓴 주문만 집계하는 결제 추적, 확정 수량 리포트와 발주 메모.
출시 후에는 성과 대시보드, 재입고 신청자 연동, 미결제 자리 대기열 순서로 붙입니다.
자체 결제, 비회원 참여, 새 고객을 찾는 마켓플레이스는 만들지 않습니다. 결제금을 받지 않고, 이미 찜한 내 고객만 전환하는 도구이기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03120"/>
            <a:ext cx="5852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114800"/>
            <a:ext cx="58521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sua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731520"/>
            <a:ext cx="10911535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7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57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MVP 범위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772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흐름 하나, 기능 10개만</a:t>
            </a:r>
            <a:endParaRPr lang="en-US" sz="3600" dirty="0"/>
          </a:p>
        </p:txBody>
      </p:sp>
      <p:sp>
        <p:nvSpPr>
          <p:cNvPr id="5" name="card-1"/>
          <p:cNvSpPr/>
          <p:nvPr/>
        </p:nvSpPr>
        <p:spPr>
          <a:xfrm>
            <a:off x="9174175" y="868680"/>
            <a:ext cx="2377440" cy="548640"/>
          </a:xfrm>
          <a:prstGeom prst="roundRect">
            <a:avLst>
              <a:gd name="adj" fmla="val 25000"/>
            </a:avLst>
          </a:prstGeom>
          <a:solidFill>
            <a:schemeClr val="tx1"/>
          </a:solidFill>
          <a:ln/>
        </p:spPr>
      </p:sp>
      <p:sp>
        <p:nvSpPr>
          <p:cNvPr id="6" name="text-2"/>
          <p:cNvSpPr txBox="1"/>
          <p:nvPr/>
        </p:nvSpPr>
        <p:spPr>
          <a:xfrm>
            <a:off x="9174175" y="8686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5명 · 약 10주</a:t>
            </a:r>
            <a:endParaRPr lang="en-US" sz="1800" dirty="0"/>
          </a:p>
        </p:txBody>
      </p:sp>
      <p:sp>
        <p:nvSpPr>
          <p:cNvPr id="7" name="card-3"/>
          <p:cNvSpPr/>
          <p:nvPr/>
        </p:nvSpPr>
        <p:spPr>
          <a:xfrm>
            <a:off x="640080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8" name="circle-4"/>
          <p:cNvSpPr/>
          <p:nvPr/>
        </p:nvSpPr>
        <p:spPr>
          <a:xfrm>
            <a:off x="914400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9" name="icon-5" descr="개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194560"/>
            <a:ext cx="502920" cy="502920"/>
          </a:xfrm>
          <a:prstGeom prst="rect">
            <a:avLst/>
          </a:prstGeom>
        </p:spPr>
      </p:pic>
      <p:sp>
        <p:nvSpPr>
          <p:cNvPr id="10" name="text-6"/>
          <p:cNvSpPr txBox="1"/>
          <p:nvPr/>
        </p:nvSpPr>
        <p:spPr>
          <a:xfrm>
            <a:off x="1965960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개설</a:t>
            </a:r>
            <a:endParaRPr lang="en-US" sz="2600" dirty="0"/>
          </a:p>
        </p:txBody>
      </p:sp>
      <p:sp>
        <p:nvSpPr>
          <p:cNvPr id="11" name="text-7"/>
          <p:cNvSpPr txBox="1"/>
          <p:nvPr/>
        </p:nvSpPr>
        <p:spPr>
          <a:xfrm>
            <a:off x="1965960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판매자 · 모바일 웹앱</a:t>
            </a:r>
            <a:endParaRPr lang="en-US" sz="1300" dirty="0"/>
          </a:p>
        </p:txBody>
      </p:sp>
      <p:sp>
        <p:nvSpPr>
          <p:cNvPr id="12" name="card-8"/>
          <p:cNvSpPr/>
          <p:nvPr/>
        </p:nvSpPr>
        <p:spPr>
          <a:xfrm>
            <a:off x="914400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3" name="text-9"/>
          <p:cNvSpPr txBox="1"/>
          <p:nvPr/>
        </p:nvSpPr>
        <p:spPr>
          <a:xfrm>
            <a:off x="914400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앱 설치</a:t>
            </a:r>
            <a:endParaRPr lang="en-US" sz="1300" dirty="0"/>
          </a:p>
        </p:txBody>
      </p:sp>
      <p:sp>
        <p:nvSpPr>
          <p:cNvPr id="14" name="card-10"/>
          <p:cNvSpPr/>
          <p:nvPr/>
        </p:nvSpPr>
        <p:spPr>
          <a:xfrm>
            <a:off x="2390089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5" name="text-11"/>
          <p:cNvSpPr txBox="1"/>
          <p:nvPr/>
        </p:nvSpPr>
        <p:spPr>
          <a:xfrm>
            <a:off x="2390089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2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수요 레이더</a:t>
            </a:r>
            <a:endParaRPr lang="en-US" sz="1300" dirty="0"/>
          </a:p>
        </p:txBody>
      </p:sp>
      <p:sp>
        <p:nvSpPr>
          <p:cNvPr id="16" name="card-12"/>
          <p:cNvSpPr/>
          <p:nvPr/>
        </p:nvSpPr>
        <p:spPr>
          <a:xfrm>
            <a:off x="914400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7" name="text-13"/>
          <p:cNvSpPr txBox="1"/>
          <p:nvPr/>
        </p:nvSpPr>
        <p:spPr>
          <a:xfrm>
            <a:off x="914400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3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공구 개설</a:t>
            </a:r>
            <a:endParaRPr lang="en-US" sz="1300" dirty="0"/>
          </a:p>
        </p:txBody>
      </p:sp>
      <p:sp>
        <p:nvSpPr>
          <p:cNvPr id="18" name="card-14"/>
          <p:cNvSpPr/>
          <p:nvPr/>
        </p:nvSpPr>
        <p:spPr>
          <a:xfrm>
            <a:off x="2390089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9" name="text-15"/>
          <p:cNvSpPr txBox="1"/>
          <p:nvPr/>
        </p:nvSpPr>
        <p:spPr>
          <a:xfrm>
            <a:off x="2390089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4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초대 문자</a:t>
            </a:r>
            <a:endParaRPr lang="en-US" sz="1300" dirty="0"/>
          </a:p>
        </p:txBody>
      </p:sp>
      <p:sp>
        <p:nvSpPr>
          <p:cNvPr id="20" name="text-16"/>
          <p:cNvSpPr txBox="1"/>
          <p:nvPr/>
        </p:nvSpPr>
        <p:spPr>
          <a:xfrm>
            <a:off x="4002938" y="173736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21" name="card-17"/>
          <p:cNvSpPr/>
          <p:nvPr/>
        </p:nvSpPr>
        <p:spPr>
          <a:xfrm>
            <a:off x="4414418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2" name="circle-18"/>
          <p:cNvSpPr/>
          <p:nvPr/>
        </p:nvSpPr>
        <p:spPr>
          <a:xfrm>
            <a:off x="4688738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23" name="icon-19" descr="신청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618" y="2194560"/>
            <a:ext cx="502920" cy="502920"/>
          </a:xfrm>
          <a:prstGeom prst="rect">
            <a:avLst/>
          </a:prstGeom>
        </p:spPr>
      </p:pic>
      <p:sp>
        <p:nvSpPr>
          <p:cNvPr id="24" name="text-20"/>
          <p:cNvSpPr txBox="1"/>
          <p:nvPr/>
        </p:nvSpPr>
        <p:spPr>
          <a:xfrm>
            <a:off x="5740298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신청</a:t>
            </a:r>
            <a:endParaRPr lang="en-US" sz="2600" dirty="0"/>
          </a:p>
        </p:txBody>
      </p:sp>
      <p:sp>
        <p:nvSpPr>
          <p:cNvPr id="25" name="text-21"/>
          <p:cNvSpPr txBox="1"/>
          <p:nvPr/>
        </p:nvSpPr>
        <p:spPr>
          <a:xfrm>
            <a:off x="5740298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고객 · 위젯·문자</a:t>
            </a:r>
            <a:endParaRPr lang="en-US" sz="1300" dirty="0"/>
          </a:p>
        </p:txBody>
      </p:sp>
      <p:sp>
        <p:nvSpPr>
          <p:cNvPr id="26" name="card-22"/>
          <p:cNvSpPr/>
          <p:nvPr/>
        </p:nvSpPr>
        <p:spPr>
          <a:xfrm>
            <a:off x="4688738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7" name="text-23"/>
          <p:cNvSpPr txBox="1"/>
          <p:nvPr/>
        </p:nvSpPr>
        <p:spPr>
          <a:xfrm>
            <a:off x="4688738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위젯</a:t>
            </a:r>
            <a:endParaRPr lang="en-US" sz="1300" dirty="0"/>
          </a:p>
        </p:txBody>
      </p:sp>
      <p:sp>
        <p:nvSpPr>
          <p:cNvPr id="28" name="card-24"/>
          <p:cNvSpPr/>
          <p:nvPr/>
        </p:nvSpPr>
        <p:spPr>
          <a:xfrm>
            <a:off x="6164428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29" name="text-25"/>
          <p:cNvSpPr txBox="1"/>
          <p:nvPr/>
        </p:nvSpPr>
        <p:spPr>
          <a:xfrm>
            <a:off x="6164428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6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참여 신청</a:t>
            </a:r>
            <a:endParaRPr lang="en-US" sz="1300" dirty="0"/>
          </a:p>
        </p:txBody>
      </p:sp>
      <p:sp>
        <p:nvSpPr>
          <p:cNvPr id="30" name="card-26"/>
          <p:cNvSpPr/>
          <p:nvPr/>
        </p:nvSpPr>
        <p:spPr>
          <a:xfrm>
            <a:off x="4688738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1" name="text-27"/>
          <p:cNvSpPr txBox="1"/>
          <p:nvPr/>
        </p:nvSpPr>
        <p:spPr>
          <a:xfrm>
            <a:off x="4688738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7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마감 판정</a:t>
            </a:r>
            <a:endParaRPr lang="en-US" sz="1300" dirty="0"/>
          </a:p>
        </p:txBody>
      </p:sp>
      <p:sp>
        <p:nvSpPr>
          <p:cNvPr id="32" name="card-28"/>
          <p:cNvSpPr/>
          <p:nvPr/>
        </p:nvSpPr>
        <p:spPr>
          <a:xfrm>
            <a:off x="6164428" y="370332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33" name="text-29"/>
          <p:cNvSpPr txBox="1"/>
          <p:nvPr/>
        </p:nvSpPr>
        <p:spPr>
          <a:xfrm>
            <a:off x="6164428" y="370332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8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쿠폰 발급</a:t>
            </a:r>
            <a:endParaRPr lang="en-US" sz="1300" dirty="0"/>
          </a:p>
        </p:txBody>
      </p:sp>
      <p:sp>
        <p:nvSpPr>
          <p:cNvPr id="34" name="text-30"/>
          <p:cNvSpPr txBox="1"/>
          <p:nvPr/>
        </p:nvSpPr>
        <p:spPr>
          <a:xfrm>
            <a:off x="7777277" y="1737360"/>
            <a:ext cx="411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›</a:t>
            </a:r>
            <a:endParaRPr lang="en-US" sz="4400" dirty="0"/>
          </a:p>
        </p:txBody>
      </p:sp>
      <p:sp>
        <p:nvSpPr>
          <p:cNvPr id="35" name="card-31"/>
          <p:cNvSpPr/>
          <p:nvPr/>
        </p:nvSpPr>
        <p:spPr>
          <a:xfrm>
            <a:off x="8188757" y="1737360"/>
            <a:ext cx="3362858" cy="260604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36" name="circle-32"/>
          <p:cNvSpPr/>
          <p:nvPr/>
        </p:nvSpPr>
        <p:spPr>
          <a:xfrm>
            <a:off x="8463077" y="2011680"/>
            <a:ext cx="868680" cy="86868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37" name="icon-33" descr="발주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5957" y="2194560"/>
            <a:ext cx="502920" cy="502920"/>
          </a:xfrm>
          <a:prstGeom prst="rect">
            <a:avLst/>
          </a:prstGeom>
        </p:spPr>
      </p:pic>
      <p:sp>
        <p:nvSpPr>
          <p:cNvPr id="38" name="text-34"/>
          <p:cNvSpPr txBox="1"/>
          <p:nvPr/>
        </p:nvSpPr>
        <p:spPr>
          <a:xfrm>
            <a:off x="9514637" y="2011680"/>
            <a:ext cx="1899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발주</a:t>
            </a:r>
            <a:endParaRPr lang="en-US" sz="2600" dirty="0"/>
          </a:p>
        </p:txBody>
      </p:sp>
      <p:sp>
        <p:nvSpPr>
          <p:cNvPr id="39" name="text-35"/>
          <p:cNvSpPr txBox="1"/>
          <p:nvPr/>
        </p:nvSpPr>
        <p:spPr>
          <a:xfrm>
            <a:off x="9514637" y="2514600"/>
            <a:ext cx="18998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판매자 · 모바일 웹앱</a:t>
            </a:r>
            <a:endParaRPr lang="en-US" sz="1300" dirty="0"/>
          </a:p>
        </p:txBody>
      </p:sp>
      <p:sp>
        <p:nvSpPr>
          <p:cNvPr id="40" name="card-36"/>
          <p:cNvSpPr/>
          <p:nvPr/>
        </p:nvSpPr>
        <p:spPr>
          <a:xfrm>
            <a:off x="8463077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1" name="text-37"/>
          <p:cNvSpPr txBox="1"/>
          <p:nvPr/>
        </p:nvSpPr>
        <p:spPr>
          <a:xfrm>
            <a:off x="8463077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9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결제 추적</a:t>
            </a:r>
            <a:endParaRPr lang="en-US" sz="1300" dirty="0"/>
          </a:p>
        </p:txBody>
      </p:sp>
      <p:sp>
        <p:nvSpPr>
          <p:cNvPr id="42" name="card-38"/>
          <p:cNvSpPr/>
          <p:nvPr/>
        </p:nvSpPr>
        <p:spPr>
          <a:xfrm>
            <a:off x="9938766" y="3108960"/>
            <a:ext cx="1338529" cy="457200"/>
          </a:xfrm>
          <a:prstGeom prst="roundRect">
            <a:avLst>
              <a:gd name="adj" fmla="val 30000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3" name="text-39"/>
          <p:cNvSpPr txBox="1"/>
          <p:nvPr/>
        </p:nvSpPr>
        <p:spPr>
          <a:xfrm>
            <a:off x="9938766" y="3108960"/>
            <a:ext cx="13385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10  </a:t>
            </a:r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확정 리포트</a:t>
            </a:r>
            <a:endParaRPr lang="en-US" sz="1300" dirty="0"/>
          </a:p>
        </p:txBody>
      </p:sp>
      <p:sp>
        <p:nvSpPr>
          <p:cNvPr id="44" name="card-40"/>
          <p:cNvSpPr/>
          <p:nvPr/>
        </p:nvSpPr>
        <p:spPr>
          <a:xfrm>
            <a:off x="640080" y="4617720"/>
            <a:ext cx="5318608" cy="1463040"/>
          </a:xfrm>
          <a:prstGeom prst="roundRect">
            <a:avLst>
              <a:gd name="adj" fmla="val 9375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45" name="text-41"/>
          <p:cNvSpPr txBox="1"/>
          <p:nvPr/>
        </p:nvSpPr>
        <p:spPr>
          <a:xfrm>
            <a:off x="960120" y="4818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NEXT</a:t>
            </a:r>
            <a:endParaRPr lang="en-US" sz="1300" dirty="0"/>
          </a:p>
        </p:txBody>
      </p:sp>
      <p:sp>
        <p:nvSpPr>
          <p:cNvPr id="46" name="text-42"/>
          <p:cNvSpPr txBox="1"/>
          <p:nvPr/>
        </p:nvSpPr>
        <p:spPr>
          <a:xfrm>
            <a:off x="960120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출시 후 다음</a:t>
            </a:r>
            <a:endParaRPr lang="en-US" sz="1800" dirty="0"/>
          </a:p>
        </p:txBody>
      </p:sp>
      <p:sp>
        <p:nvSpPr>
          <p:cNvPr id="47" name="text-43"/>
          <p:cNvSpPr txBox="1"/>
          <p:nvPr/>
        </p:nvSpPr>
        <p:spPr>
          <a:xfrm>
            <a:off x="960120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성과 대시보드</a:t>
            </a:r>
            <a:endParaRPr lang="en-US" sz="1400" dirty="0"/>
          </a:p>
        </p:txBody>
      </p:sp>
      <p:sp>
        <p:nvSpPr>
          <p:cNvPr id="48" name="text-44"/>
          <p:cNvSpPr txBox="1"/>
          <p:nvPr/>
        </p:nvSpPr>
        <p:spPr>
          <a:xfrm>
            <a:off x="2565349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재입고 연동</a:t>
            </a:r>
            <a:endParaRPr lang="en-US" sz="1400" dirty="0"/>
          </a:p>
        </p:txBody>
      </p:sp>
      <p:sp>
        <p:nvSpPr>
          <p:cNvPr id="49" name="text-45"/>
          <p:cNvSpPr txBox="1"/>
          <p:nvPr/>
        </p:nvSpPr>
        <p:spPr>
          <a:xfrm>
            <a:off x="4170578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→  </a:t>
            </a:r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미결제 대기열</a:t>
            </a:r>
            <a:endParaRPr lang="en-US" sz="1400" dirty="0"/>
          </a:p>
        </p:txBody>
      </p:sp>
      <p:sp>
        <p:nvSpPr>
          <p:cNvPr id="50" name="card-46"/>
          <p:cNvSpPr/>
          <p:nvPr/>
        </p:nvSpPr>
        <p:spPr>
          <a:xfrm>
            <a:off x="6233008" y="4617720"/>
            <a:ext cx="5318608" cy="1463040"/>
          </a:xfrm>
          <a:prstGeom prst="roundRect">
            <a:avLst>
              <a:gd name="adj" fmla="val 9375"/>
            </a:avLst>
          </a:prstGeom>
          <a:solidFill>
            <a:schemeClr val="tx1"/>
          </a:solidFill>
          <a:ln/>
        </p:spPr>
      </p:sp>
      <p:sp>
        <p:nvSpPr>
          <p:cNvPr id="51" name="text-47"/>
          <p:cNvSpPr txBox="1"/>
          <p:nvPr/>
        </p:nvSpPr>
        <p:spPr>
          <a:xfrm>
            <a:off x="6553048" y="48188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NO</a:t>
            </a:r>
            <a:endParaRPr lang="en-US" sz="1300" dirty="0"/>
          </a:p>
        </p:txBody>
      </p:sp>
      <p:sp>
        <p:nvSpPr>
          <p:cNvPr id="52" name="text-48"/>
          <p:cNvSpPr txBox="1"/>
          <p:nvPr/>
        </p:nvSpPr>
        <p:spPr>
          <a:xfrm>
            <a:off x="6553048" y="509320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만들지 않는 것</a:t>
            </a:r>
            <a:endParaRPr lang="en-US" sz="1800" dirty="0"/>
          </a:p>
        </p:txBody>
      </p:sp>
      <p:sp>
        <p:nvSpPr>
          <p:cNvPr id="53" name="text-49"/>
          <p:cNvSpPr txBox="1"/>
          <p:nvPr/>
        </p:nvSpPr>
        <p:spPr>
          <a:xfrm>
            <a:off x="6553048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자체 결제</a:t>
            </a:r>
            <a:endParaRPr lang="en-US" sz="1400" dirty="0"/>
          </a:p>
        </p:txBody>
      </p:sp>
      <p:sp>
        <p:nvSpPr>
          <p:cNvPr id="54" name="text-50"/>
          <p:cNvSpPr txBox="1"/>
          <p:nvPr/>
        </p:nvSpPr>
        <p:spPr>
          <a:xfrm>
            <a:off x="8158277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비회원 참여</a:t>
            </a:r>
            <a:endParaRPr lang="en-US" sz="1400" dirty="0"/>
          </a:p>
        </p:txBody>
      </p:sp>
      <p:sp>
        <p:nvSpPr>
          <p:cNvPr id="55" name="text-51"/>
          <p:cNvSpPr txBox="1"/>
          <p:nvPr/>
        </p:nvSpPr>
        <p:spPr>
          <a:xfrm>
            <a:off x="9763506" y="5550408"/>
            <a:ext cx="146806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✕  </a:t>
            </a:r>
            <a:pPr indent="0" marL="0">
              <a:buNone/>
            </a:pPr>
            <a:r>
              <a:rPr lang="en-US" sz="1400" strike="sngStrike" dirty="0">
                <a:solidFill>
                  <a:schemeClr val="accent5"/>
                </a:solidFill>
              </a:rPr>
              <a:t>마켓플레이스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3721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jimkkong">
  <a:themeElements>
    <a:clrScheme name="Jjimkkong">
      <a:dk1>
        <a:srgbClr val="1C1C1F"/>
      </a:dk1>
      <a:lt1>
        <a:srgbClr val="FFFFFF"/>
      </a:lt1>
      <a:dk2>
        <a:srgbClr val="6B6B75"/>
      </a:dk2>
      <a:lt2>
        <a:srgbClr val="FFF0F3"/>
      </a:lt2>
      <a:accent1>
        <a:srgbClr val="E94162"/>
      </a:accent1>
      <a:accent2>
        <a:srgbClr val="FC7598"/>
      </a:accent2>
      <a:accent3>
        <a:srgbClr val="F9C6D3"/>
      </a:accent3>
      <a:accent4>
        <a:srgbClr val="2E2E35"/>
      </a:accent4>
      <a:accent5>
        <a:srgbClr val="C9C9D1"/>
      </a:accent5>
      <a:accent6>
        <a:srgbClr val="FFE3EA"/>
      </a:accent6>
      <a:hlink>
        <a:srgbClr val="E94162"/>
      </a:hlink>
      <a:folHlink>
        <a:srgbClr val="9A9AA5"/>
      </a:folHlink>
    </a:clrScheme>
    <a:fontScheme name="Jjimkkong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찜꽁 · MVP 범위</dc:title>
  <dc:subject>PptxGenJS Presentation</dc:subject>
  <dc:creator>HOP</dc:creator>
  <cp:lastModifiedBy>HOP</cp:lastModifiedBy>
  <cp:revision>1</cp:revision>
  <dcterms:created xsi:type="dcterms:W3CDTF">2026-10-15T05:35:59Z</dcterms:created>
  <dcterms:modified xsi:type="dcterms:W3CDTF">2026-10-15T05:35:59Z</dcterms:modified>
</cp:coreProperties>
</file>