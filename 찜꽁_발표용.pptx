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7972f9d-6a26-f643-ed62-f4de9e175d73}">
          <p14:sldIdLst>
            <p14:sldId id="256"/>
          </p14:sldIdLst>
        </p14:section>
        <p14:section name="조사 과정" id="{728d8e30-e130-dc6d-1eb1-3259ee1d8868}">
          <p14:sldIdLst>
            <p14:sldId id="257"/>
          </p14:sldIdLst>
        </p14:section>
        <p14:section name="문제" id="{15b23111-9b33-d8ca-e19f-4a00ae73d9d7}">
          <p14:sldIdLst>
            <p14:sldId id="258"/>
            <p14:sldId id="259"/>
            <p14:sldId id="260"/>
          </p14:sldIdLst>
        </p14:section>
        <p14:section name="솔루션" id="{e40beba3-0c09-04bb-578a-dfd18dc6bad1}">
          <p14:sldIdLst>
            <p14:sldId id="261"/>
            <p14:sldId id="262"/>
          </p14:sldIdLst>
        </p14:section>
        <p14:section name="검증" id="{decb8bdb-1d5f-a8b3-7730-a2d3ce26edf9}">
          <p14:sldIdLst>
            <p14:sldId id="263"/>
            <p14:sldId id="264"/>
          </p14:sldIdLst>
        </p14:section>
        <p14:section name="비즈니스" id="{32d59bad-9520-605c-70fe-3a120450f9da}">
          <p14:sldIdLst>
            <p14:sldId id="265"/>
            <p14:sldId id="266"/>
          </p14:sldIdLst>
        </p14:section>
        <p14:section name="Q&amp;A" id="{b4da2dd2-fcf7-3b31-4c15-e46f87fa323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경쟁 강도</c:v>
                </c:pt>
              </c:strCache>
            </c:strRef>
          </c:tx>
          <c:spPr>
            <a:solidFill>
              <a:srgbClr val="C9C9D1"/>
            </a:solidFill>
            <a:effectLst/>
          </c:spPr>
          <c:invertIfNegative val="0"/>
          <c:dLbls>
            <c:numFmt formatCode="#,##0" sourceLinked="0"/>
            <c:txPr>
              <a:bodyPr/>
              <a:lstStyle/>
              <a:p>
                <a:pPr>
                  <a:defRPr b="1" i="0" strike="noStrike" sz="1600" u="none">
                    <a:solidFill>
                      <a:srgbClr val="6B6B75"/>
                    </a:solidFill>
                    <a:latin typeface="+mn-lt"/>
                  </a:defRPr>
                </a:pPr>
              </a:p>
            </c:txPr>
            <c:showLegendKey val="0"/>
            <c:showVal val="1"/>
            <c:showCatName val="0"/>
            <c:showSerName val="0"/>
            <c:showPercent val="0"/>
            <c:showBubbleSize val="0"/>
            <c:showLeaderLines val="0"/>
          </c:dLbls>
          <c:dPt>
            <c:idx val="0"/>
            <c:invertIfNegative val="0"/>
            <c:bubble3D val="0"/>
            <c:spPr>
              <a:solidFill>
                <a:srgbClr val="C9C9D1"/>
              </a:solidFill>
              <a:effectLst/>
            </c:spPr>
          </c:dPt>
          <c:dPt>
            <c:idx val="1"/>
            <c:invertIfNegative val="0"/>
            <c:bubble3D val="0"/>
            <c:spPr>
              <a:solidFill>
                <a:srgbClr val="C9C9D1"/>
              </a:solidFill>
              <a:effectLst/>
            </c:spPr>
          </c:dPt>
          <c:dPt>
            <c:idx val="2"/>
            <c:invertIfNegative val="0"/>
            <c:bubble3D val="0"/>
            <c:spPr>
              <a:solidFill>
                <a:srgbClr val="C9C9D1"/>
              </a:solidFill>
              <a:effectLst/>
            </c:spPr>
          </c:dPt>
          <c:dPt>
            <c:idx val="3"/>
            <c:invertIfNegative val="0"/>
            <c:bubble3D val="0"/>
            <c:spPr>
              <a:solidFill>
                <a:srgbClr val="E94162"/>
              </a:solidFill>
              <a:effectLst/>
            </c:spPr>
          </c:dPt>
          <c:dPt>
            <c:idx val="4"/>
            <c:invertIfNegative val="0"/>
            <c:bubble3D val="0"/>
            <c:spPr>
              <a:solidFill>
                <a:srgbClr val="C9C9D1"/>
              </a:solidFill>
              <a:effectLst/>
            </c:spPr>
          </c:dPt>
          <c:cat>
            <c:multiLvlStrRef>
              <c:f>Sheet1!$A$2:$A$6</c:f>
              <c:multiLvlStrCache>
                <c:ptCount val="5"/>
                <c:lvl>
                  <c:pt idx="0">
                    <c:v>담기·보관</c:v>
                  </c:pt>
                  <c:pt idx="1">
                    <c:v>가격 확신</c:v>
                  </c:pt>
                  <c:pt idx="2">
                    <c:v>할인 적용</c:v>
                  </c:pt>
                  <c:pt idx="3">
                    <c:v>프로모션 설계</c:v>
                  </c:pt>
                  <c:pt idx="4">
                    <c:v>이탈 회수</c:v>
                  </c:pt>
                </c:lvl>
              </c:multiLvlStrCache>
            </c:multiLvlStrRef>
          </c:cat>
          <c:val>
            <c:numRef>
              <c:f>Sheet1!$B$2:$B$6</c:f>
              <c:numCache>
                <c:formatCode>General</c:formatCode>
                <c:ptCount val="5"/>
                <c:pt idx="0">
                  <c:v>12</c:v>
                </c:pt>
                <c:pt idx="1">
                  <c:v>16</c:v>
                </c:pt>
                <c:pt idx="2">
                  <c:v>10</c:v>
                </c:pt>
                <c:pt idx="3">
                  <c:v>4</c:v>
                </c:pt>
                <c:pt idx="4">
                  <c:v>14</c:v>
                </c:pt>
              </c:numCache>
            </c:numRef>
          </c:val>
        </c:ser>
        <c:dLbls>
          <c:numFmt formatCode="#,##0" sourceLinked="0"/>
          <c:txPr>
            <a:bodyPr/>
            <a:lstStyle/>
            <a:p>
              <a:pPr>
                <a:defRPr b="1" i="0" strike="noStrike" sz="1600" u="none">
                  <a:solidFill>
                    <a:srgbClr val="6B6B7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6B6B75"/>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결제 없는 신청
누르겠다</c:v>
                </c:pt>
              </c:strCache>
            </c:strRef>
          </c:tx>
          <c:spPr>
            <a:solidFill>
              <a:schemeClr val="accent1"/>
            </a:solidFill>
            <a:ln w="9525" cap="flat">
              <a:solidFill>
                <a:srgbClr val="F9F9F9"/>
              </a:solidFill>
              <a:prstDash val="solid"/>
              <a:round/>
            </a:ln>
            <a:effectLst/>
          </c:spPr>
          <c:dPt>
            <c:idx val="0"/>
            <c:bubble3D val="0"/>
            <c:spPr>
              <a:solidFill>
                <a:srgbClr val="E94162"/>
              </a:solidFill>
              <a:ln w="9525" cap="flat">
                <a:solidFill>
                  <a:srgbClr val="FFFFFF"/>
                </a:solidFill>
                <a:prstDash val="solid"/>
                <a:round/>
              </a:ln>
              <a:effectLst/>
            </c:spPr>
          </c:dPt>
          <c:dPt>
            <c:idx val="1"/>
            <c:bubble3D val="0"/>
            <c:spPr>
              <a:solidFill>
                <a:srgbClr val="FF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예</c:v>
                </c:pt>
                <c:pt idx="1">
                  <c:v>그 외</c:v>
                </c:pt>
              </c:strCache>
            </c:strRef>
          </c:cat>
          <c:val>
            <c:numRef>
              <c:f>Sheet1!$B$2:$B$3</c:f>
              <c:numCache>
                <c:ptCount val="2"/>
                <c:pt idx="0">
                  <c:v>100</c:v>
                </c:pt>
                <c:pt idx="1">
                  <c:v>0</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72시간 안에
결제하겠다</c:v>
                </c:pt>
              </c:strCache>
            </c:strRef>
          </c:tx>
          <c:spPr>
            <a:solidFill>
              <a:schemeClr val="accent1"/>
            </a:solidFill>
            <a:ln w="9525" cap="flat">
              <a:solidFill>
                <a:srgbClr val="F9F9F9"/>
              </a:solidFill>
              <a:prstDash val="solid"/>
              <a:round/>
            </a:ln>
            <a:effectLst/>
          </c:spPr>
          <c:dPt>
            <c:idx val="0"/>
            <c:bubble3D val="0"/>
            <c:spPr>
              <a:solidFill>
                <a:srgbClr val="FC7598"/>
              </a:solidFill>
              <a:ln w="9525" cap="flat">
                <a:solidFill>
                  <a:srgbClr val="FFFFFF"/>
                </a:solidFill>
                <a:prstDash val="solid"/>
                <a:round/>
              </a:ln>
              <a:effectLst/>
            </c:spPr>
          </c:dPt>
          <c:dPt>
            <c:idx val="1"/>
            <c:bubble3D val="0"/>
            <c:spPr>
              <a:solidFill>
                <a:srgbClr val="FF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예</c:v>
                </c:pt>
                <c:pt idx="1">
                  <c:v>그 외</c:v>
                </c:pt>
              </c:strCache>
            </c:strRef>
          </c:cat>
          <c:val>
            <c:numRef>
              <c:f>Sheet1!$B$2:$B$3</c:f>
              <c:numCache>
                <c:ptCount val="2"/>
                <c:pt idx="0">
                  <c:v>77</c:v>
                </c:pt>
                <c:pt idx="1">
                  <c:v>23</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찜한 상품 문자
괜찮다</c:v>
                </c:pt>
              </c:strCache>
            </c:strRef>
          </c:tx>
          <c:spPr>
            <a:solidFill>
              <a:schemeClr val="accent1"/>
            </a:solidFill>
            <a:ln w="9525" cap="flat">
              <a:solidFill>
                <a:srgbClr val="F9F9F9"/>
              </a:solidFill>
              <a:prstDash val="solid"/>
              <a:round/>
            </a:ln>
            <a:effectLst/>
          </c:spPr>
          <c:dPt>
            <c:idx val="0"/>
            <c:bubble3D val="0"/>
            <c:spPr>
              <a:solidFill>
                <a:srgbClr val="FC7598"/>
              </a:solidFill>
              <a:ln w="9525" cap="flat">
                <a:solidFill>
                  <a:srgbClr val="FFFFFF"/>
                </a:solidFill>
                <a:prstDash val="solid"/>
                <a:round/>
              </a:ln>
              <a:effectLst/>
            </c:spPr>
          </c:dPt>
          <c:dPt>
            <c:idx val="1"/>
            <c:bubble3D val="0"/>
            <c:spPr>
              <a:solidFill>
                <a:srgbClr val="FF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예</c:v>
                </c:pt>
                <c:pt idx="1">
                  <c:v>그 외</c:v>
                </c:pt>
              </c:strCache>
            </c:strRef>
          </c:cat>
          <c:val>
            <c:numRef>
              <c:f>Sheet1!$B$2:$B$3</c:f>
              <c:numCache>
                <c:ptCount val="2"/>
                <c:pt idx="0">
                  <c:v>62</c:v>
                </c:pt>
                <c:pt idx="1">
                  <c:v>38</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HOP 팀입니다. 저희가 기획한 서비스는 '찜꽁', 찜 공구입니다.
카페24에 입점한 홈리빙 자체 브랜드를 위한 예약 공동구매 도구로, 고객이 찜만 해 두고 사지 않던 수요를 결제가 끝난 확정 주문으로 바꿔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저희가 어떻게 문제를 찾았는지 말씀드리겠습니다.
1단계: 한국·미국·영국·일본·중국 다섯 나라의 이커머스를 벤치마킹하며 시장 조사를 했습니다. 국내에 아직 없는 해외 해법을 찾기 위해서였습니다.
2단계: 고객 여정을 탐색부터 재구매까지 7단계로 나누고, 나라별로 어느 단계가 부족한지 조사했습니다.
그 결과 다섯 나라 모두 '구매 결정' 단계에서 고객이 가장 많이 멈췄고, 그중에서도 '프로모션 설계'를 풀어 주는 서비스가 비어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5개국(한·미·영·일·중) 이커머스를 쇼핑 7단계로 나눠 조사했습니다.
공통적으로 고객이 가장 많이 멈추는 곳은 '구매 결정' 단계였습니다. 미국 기준 평균 장바구니 이탈률이 70.22%(Baymard, 50개 연구)입니다.
고객이 멈추는 이유는 '지금 이 값이 최저가인가', '이 할인이 진짜인가' 같은 가격 확신 문제였습니다.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문제를 이미 누가 풀고 있을까요? 5개국 숨은 기업 18곳을 단계별로 분류했습니다.
막대가 높을수록 그 단계를 주력으로 하는 기업이 많다는 뜻입니다. 가격 확신(16), 이탈 회수(14)는 이미 경쟁이 몰려 있습니다.
반면 '프로모션 설계'는 4로 가장 비어 있고, 주력 기업은 중국 공동구매 서비스 1곳뿐입니다. 이 단계를 겨냥한 아이디어가 평균 점수 1위(12.3점/15점)였습니다.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 쪽: '언젠가 살 것'을 찜으로 쌓아 둡니다. 찜해 두고 안 산 이유 1위가 '할인할 때 사려고'(62%)였습니다. 정가로는 망설입니다.
판매자 쪽: 원단 롤, 가마 1회분처럼 생산 단위가 커서 몇 개가 팔릴지 모르면 할인도 재생산도 못 합니다. 한 홈리빙 브랜드는 찜이 2,000건인데도 발주 수량을 못 정했습니다.
둘 사이를 연결해 찜 수요를 확정 주문으로 바꿔 줄 도구가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찜꽁은 이렇게 작동합니다.
1) 판매자가 찜한 고객(수신동의자)을 대상으로 목표 수량·할인가·마감일을 정해 공구를 엽니다.
2) 고객은 상품 페이지 위젯에서 결제 없이 신청만 합니다.
3) 목표 수량이 차면 회원 전용 쿠폰이 발급되고, 고객은 72시간 안에 판매자 자사몰에서 결제합니다.
4) 판매자는 결제가 끝난 수량만큼만 발주합니다.
목표에 못 미치면 '진행 안 됨' 안내만 갑니다. 고객 손해, 재고 부담, 수수료 모두 0원입니다.
고객 돈은 판매자 몰로 바로 가고, 저희는 결제금을 받지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대안들과 비교해 보겠습니다.
와디즈·텀블벅은 내 몰 밖에서 새 고객을 모으고 비용률이 13~15%입니다. 올웨이즈 팀구매는 10% 할인이 필수이고 고객 데이터가 플랫폼에 남습니다. 카카오 톡딜은 카카오 안에서만 동작합니다.
인스타 공구나 구글폼으로 직접 하면 내 고객이긴 하지만 수신동의와 집계를 손으로 해야 합니다.
찜꽁은 이미 내 몰에서 찜한 고객을 대상으로, 판매자 비용률 약 3~5%로 수요를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가설은 두 방향으로 검증했습니다.
소비자 설문(최근 6개월 자사몰 구매자 130명): 결제 없는 신청이면 100%가 누르겠다(바로 23% + 할인율 보고 77%), 77%가 72시간 안에 결제하겠다, 62%가 찜한 상품 광고 문자는 괜찮다고 답했습니다.
판매자 인터뷰(5개 업종, 가설 8개): 홈리빙과 육아용품이 16점 만점에 10점으로 가장 높았습니다.
남은 숙제는 두 가지입니다. 소비자 62%는 할인 20% 이상을 원하지만 판매자는 15~20%가 한계이고, 소비자 77%는 대기 1주까지만 받아들입니다. 파일럿에서 할인 10%·20%를 비교하고, 1주 안에 출고 가능한 상품부터 시작합니다.
※ 의향 응답 기준이며 실제 전환율은 파일럿에서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타깃은 카페24에 입점한 홈리빙 브랜드입니다. 이유는 세 가지입니다.
문제가 가장 선명하고(찜 2,000건에도 수량 결정 불가), 결제 후 2~3주 대기를 받아들이며, 이사·계절처럼 필요한 시점이 정해져 있어 공구 타이밍이 분명합니다.
시장 규모: TAM은 국내 온라인 홈리빙(가구) 거래액 5조 5,346억 원, SAM은 자사몰에 가장 가까운 전문몰 가구 거래액 3,517억 원, SOM은 3년 내 SAM의 1%인 약 35억 원(판매자 거래액 기준)입니다.
출처: 통계청 2025년 온라인쇼핑동향.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요금은 월 구독료에, 결제가 끝난 금액에만 붙는 성공 수수료를 더한 구조입니다.
체험 0원 + 5%(1년에 2~3번 여는 셀러), 스타터 29,000원 + 3%(월 1~2회), 그로스 79,000원 + 2%(월 3회 이상)입니다. 목표 미달이면 수수료는 0원입니다.
스타터 몰 1곳 기준 추정: 월 공구 2회, 초대 2,000명 중 10% 신청, 그중 60% 결제, 객단가 77,900원이면 월 확정 결제액 1,870만 원. 저희 매출은 구독료 2.9만 + 수수료 56만 = 월 59만 원, 공헌이익률 약 77%입니다.
판매자 비용률은 약 3~5%로, 와디즈 13~15%보다 훨씬 낮습니다.
※ 스토어 수수료 20% 등은 가정치입니다.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4주 파일럿의 핵심 목표는 '확정 수량으로 생산을 결정한 홈리빙 판매자 1곳'입니다.
1주 차: 회원 검증·쿠폰 발급 등 관문 확인, 파일럿 3몰 섭외 / 2주 차: 초대 문자 → 신청 연동 / 3주 차(17일 차): 공구 3건 오픈 / 4주 차: 72시간 결제 집계, 발주 인터뷰.
성공 기준: 공구 성사율 60% 이상, 초대→신청 5% 이상, 신청→결제 50% 이상.
28일 차 판정 규칙: 모두 충족하면 Go(파일럿 10몰로 확대), 결제 전환만 50% 미만이면 조건을 바꿔 2주 보완, 신청 전환이 모두 2% 미만이면 개발을 중단하고 가정부터 다시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멘토님께 여쭙고 싶은 점입니다.
1. 신청→결제 50% 목표와 결제 기간(24·48·72시간)이 현실적인지
2. 카페24 의존: 스토어 출시 → 공식 제휴 순서, 카페24가 직접 개발할 위험에 대한 대비책
3. 체험·스타터·그로스 3단 요금제가 셀러의 공구 빈도에 맞는지
4. 찜 100개 이상 품절 상품이 있는 브랜드를 1주 안에 섭외하는 방법
5. 장바구니 데이터만으로 공구 오픈 기준을 잡아도 되는지
6. 문제정의에서 보완할 점에 대한 솔직한 피드백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5852160" cy="17373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4114800"/>
            <a:ext cx="5852160" cy="91440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sual">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911535" cy="146304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5852160" cy="1737360"/>
          </a:xfrm>
          <a:prstGeom prst="rect">
            <a:avLst/>
          </a:prstGeom>
          <a:noFill/>
          <a:ln/>
        </p:spPr>
        <p:txBody>
          <a:bodyPr wrap="square" lIns="0" tIns="0" rIns="0" bIns="0" rtlCol="0" anchor="t"/>
          <a:lstStyle/>
          <a:p>
            <a:pPr algn="l" indent="0" marL="0">
              <a:buNone/>
            </a:pPr>
            <a:r>
              <a:rPr lang="en-US" sz="4000" b="1" dirty="0">
                <a:solidFill>
                  <a:schemeClr val="tx1"/>
                </a:solidFill>
              </a:rPr>
              <a:t>찜만 쌓인 수요를,</a:t>
            </a:r>
            <a:endParaRPr lang="en-US" sz="4000" dirty="0"/>
          </a:p>
          <a:p>
            <a:pPr algn="l" indent="0" marL="0">
              <a:buNone/>
            </a:pPr>
            <a:r>
              <a:rPr lang="en-US" sz="4000" b="1" dirty="0">
                <a:solidFill>
                  <a:schemeClr val="tx1"/>
                </a:solidFill>
              </a:rPr>
              <a:t>확정 주문으로</a:t>
            </a:r>
            <a:endParaRPr lang="en-US" sz="4000" dirty="0"/>
          </a:p>
        </p:txBody>
      </p:sp>
      <p:sp>
        <p:nvSpPr>
          <p:cNvPr id="4" name="Text 0"/>
          <p:cNvSpPr/>
          <p:nvPr>
            <p:ph idx="101" type="body" hasCustomPrompt="1"/>
          </p:nvPr>
        </p:nvSpPr>
        <p:spPr>
          <a:xfrm>
            <a:off x="640080" y="4114800"/>
            <a:ext cx="5852160" cy="914400"/>
          </a:xfrm>
          <a:prstGeom prst="rect">
            <a:avLst/>
          </a:prstGeom>
          <a:noFill/>
          <a:ln/>
        </p:spPr>
        <p:txBody>
          <a:bodyPr wrap="square" lIns="0" tIns="0" rIns="0" bIns="0" rtlCol="0" anchor="t"/>
          <a:lstStyle/>
          <a:p>
            <a:pPr algn="l" indent="0" marL="0">
              <a:spcAft>
                <a:spcPts val="800"/>
              </a:spcAft>
              <a:buNone/>
            </a:pPr>
            <a:r>
              <a:rPr lang="en-US" sz="1600" dirty="0">
                <a:solidFill>
                  <a:schemeClr val="tx2"/>
                </a:solidFill>
              </a:rPr>
              <a:t>카페24 홈리빙 브랜드를 위한 예약 공동구매</a:t>
            </a:r>
            <a:endParaRPr lang="en-US" sz="1600" dirty="0"/>
          </a:p>
          <a:p>
            <a:pPr algn="l" indent="0" marL="0">
              <a:spcAft>
                <a:spcPts val="800"/>
              </a:spcAft>
              <a:buNone/>
            </a:pPr>
            <a:r>
              <a:rPr lang="en-US" sz="1300" b="1" dirty="0">
                <a:solidFill>
                  <a:schemeClr val="tx2"/>
                </a:solidFill>
              </a:rPr>
              <a:t>HOP · 강민서 김보성 김혜수 이규현 하유정</a:t>
            </a:r>
            <a:endParaRPr lang="en-US" sz="1600" dirty="0"/>
          </a:p>
        </p:txBody>
      </p:sp>
      <p:pic>
        <p:nvPicPr>
          <p:cNvPr id="5" name="logo" descr="찜꽁 로고">    </p:cNvPr>
          <p:cNvPicPr>
            <a:picLocks noChangeAspect="1"/>
          </p:cNvPicPr>
          <p:nvPr/>
        </p:nvPicPr>
        <p:blipFill>
          <a:blip r:embed="rId1"/>
          <a:stretch>
            <a:fillRect/>
          </a:stretch>
        </p:blipFill>
        <p:spPr>
          <a:xfrm>
            <a:off x="6583680" y="1463040"/>
            <a:ext cx="5120640" cy="32500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00 · 조사 과정</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이렇게 문제를 찾았습니다</a:t>
            </a:r>
            <a:endParaRPr lang="en-US" sz="3600" dirty="0"/>
          </a:p>
        </p:txBody>
      </p:sp>
      <p:sp>
        <p:nvSpPr>
          <p:cNvPr id="5" name="circle-1"/>
          <p:cNvSpPr/>
          <p:nvPr/>
        </p:nvSpPr>
        <p:spPr>
          <a:xfrm>
            <a:off x="640080" y="2103120"/>
            <a:ext cx="548640" cy="548640"/>
          </a:xfrm>
          <a:prstGeom prst="ellipse">
            <a:avLst/>
          </a:prstGeom>
          <a:solidFill>
            <a:schemeClr val="accent1"/>
          </a:solidFill>
          <a:ln/>
        </p:spPr>
      </p:sp>
      <p:sp>
        <p:nvSpPr>
          <p:cNvPr id="6" name="text-2"/>
          <p:cNvSpPr txBox="1"/>
          <p:nvPr/>
        </p:nvSpPr>
        <p:spPr>
          <a:xfrm>
            <a:off x="640080"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3"/>
          <p:cNvSpPr txBox="1"/>
          <p:nvPr/>
        </p:nvSpPr>
        <p:spPr>
          <a:xfrm>
            <a:off x="1371600" y="2057400"/>
            <a:ext cx="2468880" cy="411480"/>
          </a:xfrm>
          <a:prstGeom prst="rect">
            <a:avLst/>
          </a:prstGeom>
          <a:noFill/>
          <a:ln/>
        </p:spPr>
        <p:txBody>
          <a:bodyPr wrap="square" lIns="0" tIns="0" rIns="0" bIns="0" rtlCol="0" anchor="t"/>
          <a:lstStyle/>
          <a:p>
            <a:pPr indent="0" marL="0">
              <a:buNone/>
            </a:pPr>
            <a:r>
              <a:rPr lang="en-US" sz="2000" b="1" dirty="0">
                <a:solidFill>
                  <a:schemeClr val="tx1"/>
                </a:solidFill>
              </a:rPr>
              <a:t>5개국 벤치마킹</a:t>
            </a:r>
            <a:endParaRPr lang="en-US" sz="2000" dirty="0"/>
          </a:p>
        </p:txBody>
      </p:sp>
      <p:sp>
        <p:nvSpPr>
          <p:cNvPr id="8" name="text-4"/>
          <p:cNvSpPr txBox="1"/>
          <p:nvPr/>
        </p:nvSpPr>
        <p:spPr>
          <a:xfrm>
            <a:off x="1371600" y="2468880"/>
            <a:ext cx="2468880" cy="320040"/>
          </a:xfrm>
          <a:prstGeom prst="rect">
            <a:avLst/>
          </a:prstGeom>
          <a:noFill/>
          <a:ln/>
        </p:spPr>
        <p:txBody>
          <a:bodyPr wrap="square" lIns="0" tIns="0" rIns="0" bIns="0" rtlCol="0" anchor="t"/>
          <a:lstStyle/>
          <a:p>
            <a:pPr indent="0" marL="0">
              <a:buNone/>
            </a:pPr>
            <a:r>
              <a:rPr lang="en-US" sz="1300" dirty="0">
                <a:solidFill>
                  <a:schemeClr val="tx2"/>
                </a:solidFill>
              </a:rPr>
              <a:t>나라별 이커머스 시장 조사</a:t>
            </a:r>
            <a:endParaRPr lang="en-US" sz="1300" dirty="0"/>
          </a:p>
        </p:txBody>
      </p:sp>
      <p:sp>
        <p:nvSpPr>
          <p:cNvPr id="9" name="circle-5"/>
          <p:cNvSpPr/>
          <p:nvPr/>
        </p:nvSpPr>
        <p:spPr>
          <a:xfrm>
            <a:off x="4206240" y="1874520"/>
            <a:ext cx="1051560" cy="1051560"/>
          </a:xfrm>
          <a:prstGeom prst="ellipse">
            <a:avLst/>
          </a:prstGeom>
          <a:solidFill>
            <a:schemeClr val="bg2"/>
          </a:solidFill>
          <a:ln w="19050">
            <a:solidFill>
              <a:schemeClr val="accent3"/>
            </a:solidFill>
            <a:prstDash val="solid"/>
          </a:ln>
        </p:spPr>
      </p:sp>
      <p:sp>
        <p:nvSpPr>
          <p:cNvPr id="10" name="text-6"/>
          <p:cNvSpPr txBox="1"/>
          <p:nvPr/>
        </p:nvSpPr>
        <p:spPr>
          <a:xfrm>
            <a:off x="4206240" y="1874520"/>
            <a:ext cx="1051560" cy="1051560"/>
          </a:xfrm>
          <a:prstGeom prst="rect">
            <a:avLst/>
          </a:prstGeom>
          <a:noFill/>
          <a:ln/>
        </p:spPr>
        <p:txBody>
          <a:bodyPr wrap="square" lIns="0" tIns="0" rIns="0" bIns="0" rtlCol="0" anchor="ctr"/>
          <a:lstStyle/>
          <a:p>
            <a:pPr algn="ctr" indent="0" marL="0">
              <a:buNone/>
            </a:pPr>
            <a:r>
              <a:rPr lang="en-US" sz="1800" b="1" dirty="0">
                <a:solidFill>
                  <a:schemeClr val="tx1"/>
                </a:solidFill>
              </a:rPr>
              <a:t>한국</a:t>
            </a:r>
            <a:endParaRPr lang="en-US" sz="1800" dirty="0"/>
          </a:p>
        </p:txBody>
      </p:sp>
      <p:sp>
        <p:nvSpPr>
          <p:cNvPr id="11" name="circle-7"/>
          <p:cNvSpPr/>
          <p:nvPr/>
        </p:nvSpPr>
        <p:spPr>
          <a:xfrm>
            <a:off x="5779694" y="1874520"/>
            <a:ext cx="1051560" cy="1051560"/>
          </a:xfrm>
          <a:prstGeom prst="ellipse">
            <a:avLst/>
          </a:prstGeom>
          <a:solidFill>
            <a:schemeClr val="bg2"/>
          </a:solidFill>
          <a:ln w="19050">
            <a:solidFill>
              <a:schemeClr val="accent3"/>
            </a:solidFill>
            <a:prstDash val="solid"/>
          </a:ln>
        </p:spPr>
      </p:sp>
      <p:sp>
        <p:nvSpPr>
          <p:cNvPr id="12" name="text-8"/>
          <p:cNvSpPr txBox="1"/>
          <p:nvPr/>
        </p:nvSpPr>
        <p:spPr>
          <a:xfrm>
            <a:off x="5779694" y="1874520"/>
            <a:ext cx="1051560" cy="1051560"/>
          </a:xfrm>
          <a:prstGeom prst="rect">
            <a:avLst/>
          </a:prstGeom>
          <a:noFill/>
          <a:ln/>
        </p:spPr>
        <p:txBody>
          <a:bodyPr wrap="square" lIns="0" tIns="0" rIns="0" bIns="0" rtlCol="0" anchor="ctr"/>
          <a:lstStyle/>
          <a:p>
            <a:pPr algn="ctr" indent="0" marL="0">
              <a:buNone/>
            </a:pPr>
            <a:r>
              <a:rPr lang="en-US" sz="1800" b="1" dirty="0">
                <a:solidFill>
                  <a:schemeClr val="tx1"/>
                </a:solidFill>
              </a:rPr>
              <a:t>미국</a:t>
            </a:r>
            <a:endParaRPr lang="en-US" sz="1800" dirty="0"/>
          </a:p>
        </p:txBody>
      </p:sp>
      <p:sp>
        <p:nvSpPr>
          <p:cNvPr id="13" name="circle-9"/>
          <p:cNvSpPr/>
          <p:nvPr/>
        </p:nvSpPr>
        <p:spPr>
          <a:xfrm>
            <a:off x="7353148" y="1874520"/>
            <a:ext cx="1051560" cy="1051560"/>
          </a:xfrm>
          <a:prstGeom prst="ellipse">
            <a:avLst/>
          </a:prstGeom>
          <a:solidFill>
            <a:schemeClr val="bg2"/>
          </a:solidFill>
          <a:ln w="19050">
            <a:solidFill>
              <a:schemeClr val="accent3"/>
            </a:solidFill>
            <a:prstDash val="solid"/>
          </a:ln>
        </p:spPr>
      </p:sp>
      <p:sp>
        <p:nvSpPr>
          <p:cNvPr id="14" name="text-10"/>
          <p:cNvSpPr txBox="1"/>
          <p:nvPr/>
        </p:nvSpPr>
        <p:spPr>
          <a:xfrm>
            <a:off x="7353148" y="1874520"/>
            <a:ext cx="1051560" cy="1051560"/>
          </a:xfrm>
          <a:prstGeom prst="rect">
            <a:avLst/>
          </a:prstGeom>
          <a:noFill/>
          <a:ln/>
        </p:spPr>
        <p:txBody>
          <a:bodyPr wrap="square" lIns="0" tIns="0" rIns="0" bIns="0" rtlCol="0" anchor="ctr"/>
          <a:lstStyle/>
          <a:p>
            <a:pPr algn="ctr" indent="0" marL="0">
              <a:buNone/>
            </a:pPr>
            <a:r>
              <a:rPr lang="en-US" sz="1800" b="1" dirty="0">
                <a:solidFill>
                  <a:schemeClr val="tx1"/>
                </a:solidFill>
              </a:rPr>
              <a:t>영국</a:t>
            </a:r>
            <a:endParaRPr lang="en-US" sz="1800" dirty="0"/>
          </a:p>
        </p:txBody>
      </p:sp>
      <p:sp>
        <p:nvSpPr>
          <p:cNvPr id="15" name="circle-11"/>
          <p:cNvSpPr/>
          <p:nvPr/>
        </p:nvSpPr>
        <p:spPr>
          <a:xfrm>
            <a:off x="8926601" y="1874520"/>
            <a:ext cx="1051560" cy="1051560"/>
          </a:xfrm>
          <a:prstGeom prst="ellipse">
            <a:avLst/>
          </a:prstGeom>
          <a:solidFill>
            <a:schemeClr val="bg2"/>
          </a:solidFill>
          <a:ln w="19050">
            <a:solidFill>
              <a:schemeClr val="accent3"/>
            </a:solidFill>
            <a:prstDash val="solid"/>
          </a:ln>
        </p:spPr>
      </p:sp>
      <p:sp>
        <p:nvSpPr>
          <p:cNvPr id="16" name="text-12"/>
          <p:cNvSpPr txBox="1"/>
          <p:nvPr/>
        </p:nvSpPr>
        <p:spPr>
          <a:xfrm>
            <a:off x="8926601" y="1874520"/>
            <a:ext cx="1051560" cy="1051560"/>
          </a:xfrm>
          <a:prstGeom prst="rect">
            <a:avLst/>
          </a:prstGeom>
          <a:noFill/>
          <a:ln/>
        </p:spPr>
        <p:txBody>
          <a:bodyPr wrap="square" lIns="0" tIns="0" rIns="0" bIns="0" rtlCol="0" anchor="ctr"/>
          <a:lstStyle/>
          <a:p>
            <a:pPr algn="ctr" indent="0" marL="0">
              <a:buNone/>
            </a:pPr>
            <a:r>
              <a:rPr lang="en-US" sz="1800" b="1" dirty="0">
                <a:solidFill>
                  <a:schemeClr val="tx1"/>
                </a:solidFill>
              </a:rPr>
              <a:t>일본</a:t>
            </a:r>
            <a:endParaRPr lang="en-US" sz="1800" dirty="0"/>
          </a:p>
        </p:txBody>
      </p:sp>
      <p:sp>
        <p:nvSpPr>
          <p:cNvPr id="17" name="circle-13"/>
          <p:cNvSpPr/>
          <p:nvPr/>
        </p:nvSpPr>
        <p:spPr>
          <a:xfrm>
            <a:off x="10500055" y="1874520"/>
            <a:ext cx="1051560" cy="1051560"/>
          </a:xfrm>
          <a:prstGeom prst="ellipse">
            <a:avLst/>
          </a:prstGeom>
          <a:solidFill>
            <a:schemeClr val="bg2"/>
          </a:solidFill>
          <a:ln w="19050">
            <a:solidFill>
              <a:schemeClr val="accent3"/>
            </a:solidFill>
            <a:prstDash val="solid"/>
          </a:ln>
        </p:spPr>
      </p:sp>
      <p:sp>
        <p:nvSpPr>
          <p:cNvPr id="18" name="text-14"/>
          <p:cNvSpPr txBox="1"/>
          <p:nvPr/>
        </p:nvSpPr>
        <p:spPr>
          <a:xfrm>
            <a:off x="10500055" y="1874520"/>
            <a:ext cx="1051560" cy="1051560"/>
          </a:xfrm>
          <a:prstGeom prst="rect">
            <a:avLst/>
          </a:prstGeom>
          <a:noFill/>
          <a:ln/>
        </p:spPr>
        <p:txBody>
          <a:bodyPr wrap="square" lIns="0" tIns="0" rIns="0" bIns="0" rtlCol="0" anchor="ctr"/>
          <a:lstStyle/>
          <a:p>
            <a:pPr algn="ctr" indent="0" marL="0">
              <a:buNone/>
            </a:pPr>
            <a:r>
              <a:rPr lang="en-US" sz="1800" b="1" dirty="0">
                <a:solidFill>
                  <a:schemeClr val="tx1"/>
                </a:solidFill>
              </a:rPr>
              <a:t>중국</a:t>
            </a:r>
            <a:endParaRPr lang="en-US" sz="1800" dirty="0"/>
          </a:p>
        </p:txBody>
      </p:sp>
      <p:sp>
        <p:nvSpPr>
          <p:cNvPr id="19" name="text-15"/>
          <p:cNvSpPr txBox="1"/>
          <p:nvPr/>
        </p:nvSpPr>
        <p:spPr>
          <a:xfrm>
            <a:off x="640080" y="3063240"/>
            <a:ext cx="548640" cy="548640"/>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20" name="circle-16"/>
          <p:cNvSpPr/>
          <p:nvPr/>
        </p:nvSpPr>
        <p:spPr>
          <a:xfrm>
            <a:off x="640080" y="3840480"/>
            <a:ext cx="548640" cy="548640"/>
          </a:xfrm>
          <a:prstGeom prst="ellipse">
            <a:avLst/>
          </a:prstGeom>
          <a:solidFill>
            <a:schemeClr val="accent1"/>
          </a:solidFill>
          <a:ln/>
        </p:spPr>
      </p:sp>
      <p:sp>
        <p:nvSpPr>
          <p:cNvPr id="21" name="text-17"/>
          <p:cNvSpPr txBox="1"/>
          <p:nvPr/>
        </p:nvSpPr>
        <p:spPr>
          <a:xfrm>
            <a:off x="640080" y="3840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2" name="text-18"/>
          <p:cNvSpPr txBox="1"/>
          <p:nvPr/>
        </p:nvSpPr>
        <p:spPr>
          <a:xfrm>
            <a:off x="1371600" y="3794760"/>
            <a:ext cx="2468880" cy="411480"/>
          </a:xfrm>
          <a:prstGeom prst="rect">
            <a:avLst/>
          </a:prstGeom>
          <a:noFill/>
          <a:ln/>
        </p:spPr>
        <p:txBody>
          <a:bodyPr wrap="square" lIns="0" tIns="0" rIns="0" bIns="0" rtlCol="0" anchor="t"/>
          <a:lstStyle/>
          <a:p>
            <a:pPr indent="0" marL="0">
              <a:buNone/>
            </a:pPr>
            <a:r>
              <a:rPr lang="en-US" sz="2000" b="1" dirty="0">
                <a:solidFill>
                  <a:schemeClr val="tx1"/>
                </a:solidFill>
              </a:rPr>
              <a:t>여정별 빈 곳 찾기</a:t>
            </a:r>
            <a:endParaRPr lang="en-US" sz="2000" dirty="0"/>
          </a:p>
        </p:txBody>
      </p:sp>
      <p:sp>
        <p:nvSpPr>
          <p:cNvPr id="23" name="text-19"/>
          <p:cNvSpPr txBox="1"/>
          <p:nvPr/>
        </p:nvSpPr>
        <p:spPr>
          <a:xfrm>
            <a:off x="1371600" y="4206240"/>
            <a:ext cx="2468880" cy="320040"/>
          </a:xfrm>
          <a:prstGeom prst="rect">
            <a:avLst/>
          </a:prstGeom>
          <a:noFill/>
          <a:ln/>
        </p:spPr>
        <p:txBody>
          <a:bodyPr wrap="square" lIns="0" tIns="0" rIns="0" bIns="0" rtlCol="0" anchor="t"/>
          <a:lstStyle/>
          <a:p>
            <a:pPr indent="0" marL="0">
              <a:buNone/>
            </a:pPr>
            <a:r>
              <a:rPr lang="en-US" sz="1300" dirty="0">
                <a:solidFill>
                  <a:schemeClr val="tx2"/>
                </a:solidFill>
              </a:rPr>
              <a:t>고객 쇼핑 7단계별 부족한 점</a:t>
            </a:r>
            <a:endParaRPr lang="en-US" sz="1300" dirty="0"/>
          </a:p>
        </p:txBody>
      </p:sp>
      <p:sp>
        <p:nvSpPr>
          <p:cNvPr id="24" name="card-20"/>
          <p:cNvSpPr/>
          <p:nvPr/>
        </p:nvSpPr>
        <p:spPr>
          <a:xfrm>
            <a:off x="4206240" y="3703320"/>
            <a:ext cx="955287" cy="914400"/>
          </a:xfrm>
          <a:prstGeom prst="roundRect">
            <a:avLst>
              <a:gd name="adj" fmla="val 15000"/>
            </a:avLst>
          </a:prstGeom>
          <a:solidFill>
            <a:schemeClr val="bg2"/>
          </a:solidFill>
          <a:ln/>
        </p:spPr>
      </p:sp>
      <p:sp>
        <p:nvSpPr>
          <p:cNvPr id="25" name="text-21"/>
          <p:cNvSpPr txBox="1"/>
          <p:nvPr/>
        </p:nvSpPr>
        <p:spPr>
          <a:xfrm>
            <a:off x="4206240"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1</a:t>
            </a:r>
            <a:endParaRPr lang="en-US" sz="1600" dirty="0"/>
          </a:p>
          <a:p>
            <a:pPr algn="ctr" indent="0" marL="0">
              <a:buNone/>
            </a:pPr>
            <a:r>
              <a:rPr lang="en-US" sz="1400" b="1" dirty="0">
                <a:solidFill>
                  <a:schemeClr val="tx2"/>
                </a:solidFill>
              </a:rPr>
              <a:t>탐색</a:t>
            </a:r>
            <a:endParaRPr lang="en-US" sz="1600" dirty="0"/>
          </a:p>
        </p:txBody>
      </p:sp>
      <p:sp>
        <p:nvSpPr>
          <p:cNvPr id="26" name="card-22"/>
          <p:cNvSpPr/>
          <p:nvPr/>
        </p:nvSpPr>
        <p:spPr>
          <a:xfrm>
            <a:off x="5271255" y="3703320"/>
            <a:ext cx="955287" cy="914400"/>
          </a:xfrm>
          <a:prstGeom prst="roundRect">
            <a:avLst>
              <a:gd name="adj" fmla="val 15000"/>
            </a:avLst>
          </a:prstGeom>
          <a:solidFill>
            <a:schemeClr val="bg2"/>
          </a:solidFill>
          <a:ln/>
        </p:spPr>
      </p:sp>
      <p:sp>
        <p:nvSpPr>
          <p:cNvPr id="27" name="text-23"/>
          <p:cNvSpPr txBox="1"/>
          <p:nvPr/>
        </p:nvSpPr>
        <p:spPr>
          <a:xfrm>
            <a:off x="5271255"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2</a:t>
            </a:r>
            <a:endParaRPr lang="en-US" sz="1600" dirty="0"/>
          </a:p>
          <a:p>
            <a:pPr algn="ctr" indent="0" marL="0">
              <a:buNone/>
            </a:pPr>
            <a:r>
              <a:rPr lang="en-US" sz="1400" b="1" dirty="0">
                <a:solidFill>
                  <a:schemeClr val="tx2"/>
                </a:solidFill>
              </a:rPr>
              <a:t>비교·검토</a:t>
            </a:r>
            <a:endParaRPr lang="en-US" sz="1600" dirty="0"/>
          </a:p>
        </p:txBody>
      </p:sp>
      <p:sp>
        <p:nvSpPr>
          <p:cNvPr id="28" name="card-24"/>
          <p:cNvSpPr/>
          <p:nvPr/>
        </p:nvSpPr>
        <p:spPr>
          <a:xfrm>
            <a:off x="6336269" y="3703320"/>
            <a:ext cx="955287" cy="914400"/>
          </a:xfrm>
          <a:prstGeom prst="roundRect">
            <a:avLst>
              <a:gd name="adj" fmla="val 15000"/>
            </a:avLst>
          </a:prstGeom>
          <a:solidFill>
            <a:schemeClr val="accent1"/>
          </a:solidFill>
          <a:ln/>
        </p:spPr>
      </p:sp>
      <p:sp>
        <p:nvSpPr>
          <p:cNvPr id="29" name="text-25"/>
          <p:cNvSpPr txBox="1"/>
          <p:nvPr/>
        </p:nvSpPr>
        <p:spPr>
          <a:xfrm>
            <a:off x="6336269" y="3703320"/>
            <a:ext cx="955287" cy="914400"/>
          </a:xfrm>
          <a:prstGeom prst="rect">
            <a:avLst/>
          </a:prstGeom>
          <a:noFill/>
          <a:ln/>
        </p:spPr>
        <p:txBody>
          <a:bodyPr wrap="square" lIns="0" tIns="0" rIns="0" bIns="0" rtlCol="0" anchor="ctr"/>
          <a:lstStyle/>
          <a:p>
            <a:pPr algn="ctr" indent="0" marL="0">
              <a:buNone/>
            </a:pPr>
            <a:r>
              <a:rPr lang="en-US" sz="1200" dirty="0">
                <a:solidFill>
                  <a:schemeClr val="bg1"/>
                </a:solidFill>
              </a:rPr>
              <a:t>3</a:t>
            </a:r>
            <a:endParaRPr lang="en-US" sz="1600" dirty="0"/>
          </a:p>
          <a:p>
            <a:pPr algn="ctr" indent="0" marL="0">
              <a:buNone/>
            </a:pPr>
            <a:r>
              <a:rPr lang="en-US" sz="1400" b="1" dirty="0">
                <a:solidFill>
                  <a:schemeClr val="bg1"/>
                </a:solidFill>
              </a:rPr>
              <a:t>구매 결정</a:t>
            </a:r>
            <a:endParaRPr lang="en-US" sz="1600" dirty="0"/>
          </a:p>
        </p:txBody>
      </p:sp>
      <p:sp>
        <p:nvSpPr>
          <p:cNvPr id="30" name="card-26"/>
          <p:cNvSpPr/>
          <p:nvPr/>
        </p:nvSpPr>
        <p:spPr>
          <a:xfrm>
            <a:off x="7401284" y="3703320"/>
            <a:ext cx="955287" cy="914400"/>
          </a:xfrm>
          <a:prstGeom prst="roundRect">
            <a:avLst>
              <a:gd name="adj" fmla="val 15000"/>
            </a:avLst>
          </a:prstGeom>
          <a:solidFill>
            <a:schemeClr val="bg2"/>
          </a:solidFill>
          <a:ln/>
        </p:spPr>
      </p:sp>
      <p:sp>
        <p:nvSpPr>
          <p:cNvPr id="31" name="text-27"/>
          <p:cNvSpPr txBox="1"/>
          <p:nvPr/>
        </p:nvSpPr>
        <p:spPr>
          <a:xfrm>
            <a:off x="7401284"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4</a:t>
            </a:r>
            <a:endParaRPr lang="en-US" sz="1600" dirty="0"/>
          </a:p>
          <a:p>
            <a:pPr algn="ctr" indent="0" marL="0">
              <a:buNone/>
            </a:pPr>
            <a:r>
              <a:rPr lang="en-US" sz="1400" b="1" dirty="0">
                <a:solidFill>
                  <a:schemeClr val="tx2"/>
                </a:solidFill>
              </a:rPr>
              <a:t>결제</a:t>
            </a:r>
            <a:endParaRPr lang="en-US" sz="1600" dirty="0"/>
          </a:p>
        </p:txBody>
      </p:sp>
      <p:sp>
        <p:nvSpPr>
          <p:cNvPr id="32" name="card-28"/>
          <p:cNvSpPr/>
          <p:nvPr/>
        </p:nvSpPr>
        <p:spPr>
          <a:xfrm>
            <a:off x="8466299" y="3703320"/>
            <a:ext cx="955287" cy="914400"/>
          </a:xfrm>
          <a:prstGeom prst="roundRect">
            <a:avLst>
              <a:gd name="adj" fmla="val 15000"/>
            </a:avLst>
          </a:prstGeom>
          <a:solidFill>
            <a:schemeClr val="bg2"/>
          </a:solidFill>
          <a:ln/>
        </p:spPr>
      </p:sp>
      <p:sp>
        <p:nvSpPr>
          <p:cNvPr id="33" name="text-29"/>
          <p:cNvSpPr txBox="1"/>
          <p:nvPr/>
        </p:nvSpPr>
        <p:spPr>
          <a:xfrm>
            <a:off x="8466299"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5</a:t>
            </a:r>
            <a:endParaRPr lang="en-US" sz="1600" dirty="0"/>
          </a:p>
          <a:p>
            <a:pPr algn="ctr" indent="0" marL="0">
              <a:buNone/>
            </a:pPr>
            <a:r>
              <a:rPr lang="en-US" sz="1400" b="1" dirty="0">
                <a:solidFill>
                  <a:schemeClr val="tx2"/>
                </a:solidFill>
              </a:rPr>
              <a:t>배송</a:t>
            </a:r>
            <a:endParaRPr lang="en-US" sz="1600" dirty="0"/>
          </a:p>
        </p:txBody>
      </p:sp>
      <p:sp>
        <p:nvSpPr>
          <p:cNvPr id="34" name="card-30"/>
          <p:cNvSpPr/>
          <p:nvPr/>
        </p:nvSpPr>
        <p:spPr>
          <a:xfrm>
            <a:off x="9531314" y="3703320"/>
            <a:ext cx="955287" cy="914400"/>
          </a:xfrm>
          <a:prstGeom prst="roundRect">
            <a:avLst>
              <a:gd name="adj" fmla="val 15000"/>
            </a:avLst>
          </a:prstGeom>
          <a:solidFill>
            <a:schemeClr val="bg2"/>
          </a:solidFill>
          <a:ln/>
        </p:spPr>
      </p:sp>
      <p:sp>
        <p:nvSpPr>
          <p:cNvPr id="35" name="text-31"/>
          <p:cNvSpPr txBox="1"/>
          <p:nvPr/>
        </p:nvSpPr>
        <p:spPr>
          <a:xfrm>
            <a:off x="9531314"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6</a:t>
            </a:r>
            <a:endParaRPr lang="en-US" sz="1600" dirty="0"/>
          </a:p>
          <a:p>
            <a:pPr algn="ctr" indent="0" marL="0">
              <a:buNone/>
            </a:pPr>
            <a:r>
              <a:rPr lang="en-US" sz="1400" b="1" dirty="0">
                <a:solidFill>
                  <a:schemeClr val="tx2"/>
                </a:solidFill>
              </a:rPr>
              <a:t>반품·CS</a:t>
            </a:r>
            <a:endParaRPr lang="en-US" sz="1600" dirty="0"/>
          </a:p>
        </p:txBody>
      </p:sp>
      <p:sp>
        <p:nvSpPr>
          <p:cNvPr id="36" name="card-32"/>
          <p:cNvSpPr/>
          <p:nvPr/>
        </p:nvSpPr>
        <p:spPr>
          <a:xfrm>
            <a:off x="10596328" y="3703320"/>
            <a:ext cx="955287" cy="914400"/>
          </a:xfrm>
          <a:prstGeom prst="roundRect">
            <a:avLst>
              <a:gd name="adj" fmla="val 15000"/>
            </a:avLst>
          </a:prstGeom>
          <a:solidFill>
            <a:schemeClr val="bg2"/>
          </a:solidFill>
          <a:ln/>
        </p:spPr>
      </p:sp>
      <p:sp>
        <p:nvSpPr>
          <p:cNvPr id="37" name="text-33"/>
          <p:cNvSpPr txBox="1"/>
          <p:nvPr/>
        </p:nvSpPr>
        <p:spPr>
          <a:xfrm>
            <a:off x="10596328" y="3703320"/>
            <a:ext cx="955287" cy="914400"/>
          </a:xfrm>
          <a:prstGeom prst="rect">
            <a:avLst/>
          </a:prstGeom>
          <a:noFill/>
          <a:ln/>
        </p:spPr>
        <p:txBody>
          <a:bodyPr wrap="square" lIns="0" tIns="0" rIns="0" bIns="0" rtlCol="0" anchor="ctr"/>
          <a:lstStyle/>
          <a:p>
            <a:pPr algn="ctr" indent="0" marL="0">
              <a:buNone/>
            </a:pPr>
            <a:r>
              <a:rPr lang="en-US" sz="1200" dirty="0">
                <a:solidFill>
                  <a:schemeClr val="tx2"/>
                </a:solidFill>
              </a:rPr>
              <a:t>7</a:t>
            </a:r>
            <a:endParaRPr lang="en-US" sz="1600" dirty="0"/>
          </a:p>
          <a:p>
            <a:pPr algn="ctr" indent="0" marL="0">
              <a:buNone/>
            </a:pPr>
            <a:r>
              <a:rPr lang="en-US" sz="1400" b="1" dirty="0">
                <a:solidFill>
                  <a:schemeClr val="tx2"/>
                </a:solidFill>
              </a:rPr>
              <a:t>재구매</a:t>
            </a:r>
            <a:endParaRPr lang="en-US" sz="1600" dirty="0"/>
          </a:p>
        </p:txBody>
      </p:sp>
      <p:sp>
        <p:nvSpPr>
          <p:cNvPr id="38" name="text-34"/>
          <p:cNvSpPr txBox="1"/>
          <p:nvPr/>
        </p:nvSpPr>
        <p:spPr>
          <a:xfrm>
            <a:off x="5787629" y="4709160"/>
            <a:ext cx="2966967" cy="320040"/>
          </a:xfrm>
          <a:prstGeom prst="rect">
            <a:avLst/>
          </a:prstGeom>
          <a:noFill/>
          <a:ln/>
        </p:spPr>
        <p:txBody>
          <a:bodyPr wrap="square" lIns="0" tIns="0" rIns="0" bIns="0" rtlCol="0" anchor="t"/>
          <a:lstStyle/>
          <a:p>
            <a:pPr indent="0" marL="0">
              <a:buNone/>
            </a:pPr>
            <a:r>
              <a:rPr lang="en-US" sz="1300" b="1" dirty="0">
                <a:solidFill>
                  <a:schemeClr val="accent1"/>
                </a:solidFill>
              </a:rPr>
              <a:t>▲ 5개국 모두 여기서 멈춤</a:t>
            </a:r>
            <a:endParaRPr lang="en-US" sz="1300" dirty="0"/>
          </a:p>
        </p:txBody>
      </p:sp>
      <p:sp>
        <p:nvSpPr>
          <p:cNvPr id="39" name="card-35"/>
          <p:cNvSpPr/>
          <p:nvPr/>
        </p:nvSpPr>
        <p:spPr>
          <a:xfrm>
            <a:off x="640080" y="5349240"/>
            <a:ext cx="10911535" cy="777240"/>
          </a:xfrm>
          <a:prstGeom prst="roundRect">
            <a:avLst>
              <a:gd name="adj" fmla="val 17647"/>
            </a:avLst>
          </a:prstGeom>
          <a:solidFill>
            <a:schemeClr val="tx1"/>
          </a:solidFill>
          <a:ln/>
        </p:spPr>
      </p:sp>
      <p:sp>
        <p:nvSpPr>
          <p:cNvPr id="40" name="text-36"/>
          <p:cNvSpPr txBox="1"/>
          <p:nvPr/>
        </p:nvSpPr>
        <p:spPr>
          <a:xfrm>
            <a:off x="640080" y="5349240"/>
            <a:ext cx="10911535" cy="777240"/>
          </a:xfrm>
          <a:prstGeom prst="rect">
            <a:avLst/>
          </a:prstGeom>
          <a:noFill/>
          <a:ln/>
        </p:spPr>
        <p:txBody>
          <a:bodyPr wrap="square" lIns="0" tIns="0" rIns="0" bIns="0" rtlCol="0" anchor="ctr"/>
          <a:lstStyle/>
          <a:p>
            <a:pPr algn="ctr" indent="0" marL="0">
              <a:buNone/>
            </a:pPr>
            <a:r>
              <a:rPr lang="en-US" sz="2000" b="1" dirty="0">
                <a:solidFill>
                  <a:schemeClr val="accent2"/>
                </a:solidFill>
              </a:rPr>
              <a:t>결과  </a:t>
            </a:r>
            <a:pPr algn="ctr" indent="0" marL="0">
              <a:buNone/>
            </a:pPr>
            <a:r>
              <a:rPr lang="en-US" sz="2000" b="1" dirty="0">
                <a:solidFill>
                  <a:schemeClr val="bg1"/>
                </a:solidFill>
              </a:rPr>
              <a:t>'구매 결정' 단계의 '프로모션 설계'가 비어 있었다</a:t>
            </a:r>
            <a:endParaRPr lang="en-US" sz="2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01 · 기회</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10명 중 7명은 담고도 떠난다</a:t>
            </a:r>
            <a:endParaRPr lang="en-US" sz="3600" dirty="0"/>
          </a:p>
        </p:txBody>
      </p:sp>
      <p:sp>
        <p:nvSpPr>
          <p:cNvPr id="5" name="text-37"/>
          <p:cNvSpPr txBox="1"/>
          <p:nvPr/>
        </p:nvSpPr>
        <p:spPr>
          <a:xfrm>
            <a:off x="640080" y="2514600"/>
            <a:ext cx="4206240" cy="1828800"/>
          </a:xfrm>
          <a:prstGeom prst="rect">
            <a:avLst/>
          </a:prstGeom>
          <a:noFill/>
          <a:ln/>
        </p:spPr>
        <p:txBody>
          <a:bodyPr wrap="square" lIns="0" tIns="0" rIns="0" bIns="0" rtlCol="0" anchor="ctr"/>
          <a:lstStyle/>
          <a:p>
            <a:pPr indent="0" marL="0">
              <a:buNone/>
            </a:pPr>
            <a:r>
              <a:rPr lang="en-US" sz="13000" b="1" dirty="0">
                <a:solidFill>
                  <a:schemeClr val="accent1"/>
                </a:solidFill>
              </a:rPr>
              <a:t>70%</a:t>
            </a:r>
            <a:endParaRPr lang="en-US" sz="13000" dirty="0"/>
          </a:p>
        </p:txBody>
      </p:sp>
      <p:sp>
        <p:nvSpPr>
          <p:cNvPr id="6" name="text-38"/>
          <p:cNvSpPr txBox="1"/>
          <p:nvPr/>
        </p:nvSpPr>
        <p:spPr>
          <a:xfrm>
            <a:off x="731520" y="4434840"/>
            <a:ext cx="4023360" cy="457200"/>
          </a:xfrm>
          <a:prstGeom prst="rect">
            <a:avLst/>
          </a:prstGeom>
          <a:noFill/>
          <a:ln/>
        </p:spPr>
        <p:txBody>
          <a:bodyPr wrap="square" lIns="0" tIns="0" rIns="0" bIns="0" rtlCol="0" anchor="t"/>
          <a:lstStyle/>
          <a:p>
            <a:pPr indent="0" marL="0">
              <a:buNone/>
            </a:pPr>
            <a:r>
              <a:rPr lang="en-US" sz="2200" b="1" dirty="0">
                <a:solidFill>
                  <a:schemeClr val="tx2"/>
                </a:solidFill>
              </a:rPr>
              <a:t>장바구니 이탈률</a:t>
            </a:r>
            <a:endParaRPr lang="en-US" sz="2200" dirty="0"/>
          </a:p>
        </p:txBody>
      </p:sp>
      <p:sp>
        <p:nvSpPr>
          <p:cNvPr id="7" name="circle-39"/>
          <p:cNvSpPr/>
          <p:nvPr/>
        </p:nvSpPr>
        <p:spPr>
          <a:xfrm>
            <a:off x="5394960" y="2606040"/>
            <a:ext cx="868680" cy="868680"/>
          </a:xfrm>
          <a:prstGeom prst="ellipse">
            <a:avLst/>
          </a:prstGeom>
          <a:solidFill>
            <a:schemeClr val="accent1"/>
          </a:solidFill>
          <a:ln/>
        </p:spPr>
      </p:sp>
      <p:sp>
        <p:nvSpPr>
          <p:cNvPr id="8" name="text-40"/>
          <p:cNvSpPr txBox="1"/>
          <p:nvPr/>
        </p:nvSpPr>
        <p:spPr>
          <a:xfrm>
            <a:off x="5394960" y="260604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구매</a:t>
            </a:r>
            <a:endParaRPr lang="en-US" sz="1400" dirty="0"/>
          </a:p>
        </p:txBody>
      </p:sp>
      <p:sp>
        <p:nvSpPr>
          <p:cNvPr id="9" name="circle-41"/>
          <p:cNvSpPr/>
          <p:nvPr/>
        </p:nvSpPr>
        <p:spPr>
          <a:xfrm>
            <a:off x="6583680" y="2606040"/>
            <a:ext cx="868680" cy="868680"/>
          </a:xfrm>
          <a:prstGeom prst="ellipse">
            <a:avLst/>
          </a:prstGeom>
          <a:solidFill>
            <a:schemeClr val="accent1"/>
          </a:solidFill>
          <a:ln/>
        </p:spPr>
      </p:sp>
      <p:sp>
        <p:nvSpPr>
          <p:cNvPr id="10" name="text-42"/>
          <p:cNvSpPr txBox="1"/>
          <p:nvPr/>
        </p:nvSpPr>
        <p:spPr>
          <a:xfrm>
            <a:off x="6583680" y="260604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구매</a:t>
            </a:r>
            <a:endParaRPr lang="en-US" sz="1400" dirty="0"/>
          </a:p>
        </p:txBody>
      </p:sp>
      <p:sp>
        <p:nvSpPr>
          <p:cNvPr id="11" name="circle-43"/>
          <p:cNvSpPr/>
          <p:nvPr/>
        </p:nvSpPr>
        <p:spPr>
          <a:xfrm>
            <a:off x="7772400" y="2606040"/>
            <a:ext cx="868680" cy="868680"/>
          </a:xfrm>
          <a:prstGeom prst="ellipse">
            <a:avLst/>
          </a:prstGeom>
          <a:solidFill>
            <a:schemeClr val="accent1"/>
          </a:solidFill>
          <a:ln/>
        </p:spPr>
      </p:sp>
      <p:sp>
        <p:nvSpPr>
          <p:cNvPr id="12" name="text-44"/>
          <p:cNvSpPr txBox="1"/>
          <p:nvPr/>
        </p:nvSpPr>
        <p:spPr>
          <a:xfrm>
            <a:off x="7772400" y="260604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구매</a:t>
            </a:r>
            <a:endParaRPr lang="en-US" sz="1400" dirty="0"/>
          </a:p>
        </p:txBody>
      </p:sp>
      <p:sp>
        <p:nvSpPr>
          <p:cNvPr id="13" name="circle-45"/>
          <p:cNvSpPr/>
          <p:nvPr/>
        </p:nvSpPr>
        <p:spPr>
          <a:xfrm>
            <a:off x="8961120" y="2606040"/>
            <a:ext cx="868680" cy="868680"/>
          </a:xfrm>
          <a:prstGeom prst="ellipse">
            <a:avLst/>
          </a:prstGeom>
          <a:solidFill>
            <a:schemeClr val="bg1"/>
          </a:solidFill>
          <a:ln w="19050">
            <a:solidFill>
              <a:schemeClr val="accent5"/>
            </a:solidFill>
            <a:prstDash val="solid"/>
          </a:ln>
        </p:spPr>
      </p:sp>
      <p:sp>
        <p:nvSpPr>
          <p:cNvPr id="14" name="text-46"/>
          <p:cNvSpPr txBox="1"/>
          <p:nvPr/>
        </p:nvSpPr>
        <p:spPr>
          <a:xfrm>
            <a:off x="8961120" y="26060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15" name="circle-47"/>
          <p:cNvSpPr/>
          <p:nvPr/>
        </p:nvSpPr>
        <p:spPr>
          <a:xfrm>
            <a:off x="10149840" y="2606040"/>
            <a:ext cx="868680" cy="868680"/>
          </a:xfrm>
          <a:prstGeom prst="ellipse">
            <a:avLst/>
          </a:prstGeom>
          <a:solidFill>
            <a:schemeClr val="bg1"/>
          </a:solidFill>
          <a:ln w="19050">
            <a:solidFill>
              <a:schemeClr val="accent5"/>
            </a:solidFill>
            <a:prstDash val="solid"/>
          </a:ln>
        </p:spPr>
      </p:sp>
      <p:sp>
        <p:nvSpPr>
          <p:cNvPr id="16" name="text-48"/>
          <p:cNvSpPr txBox="1"/>
          <p:nvPr/>
        </p:nvSpPr>
        <p:spPr>
          <a:xfrm>
            <a:off x="10149840" y="26060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17" name="circle-49"/>
          <p:cNvSpPr/>
          <p:nvPr/>
        </p:nvSpPr>
        <p:spPr>
          <a:xfrm>
            <a:off x="5394960" y="3977640"/>
            <a:ext cx="868680" cy="868680"/>
          </a:xfrm>
          <a:prstGeom prst="ellipse">
            <a:avLst/>
          </a:prstGeom>
          <a:solidFill>
            <a:schemeClr val="bg1"/>
          </a:solidFill>
          <a:ln w="19050">
            <a:solidFill>
              <a:schemeClr val="accent5"/>
            </a:solidFill>
            <a:prstDash val="solid"/>
          </a:ln>
        </p:spPr>
      </p:sp>
      <p:sp>
        <p:nvSpPr>
          <p:cNvPr id="18" name="text-50"/>
          <p:cNvSpPr txBox="1"/>
          <p:nvPr/>
        </p:nvSpPr>
        <p:spPr>
          <a:xfrm>
            <a:off x="5394960" y="39776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19" name="circle-51"/>
          <p:cNvSpPr/>
          <p:nvPr/>
        </p:nvSpPr>
        <p:spPr>
          <a:xfrm>
            <a:off x="6583680" y="3977640"/>
            <a:ext cx="868680" cy="868680"/>
          </a:xfrm>
          <a:prstGeom prst="ellipse">
            <a:avLst/>
          </a:prstGeom>
          <a:solidFill>
            <a:schemeClr val="bg1"/>
          </a:solidFill>
          <a:ln w="19050">
            <a:solidFill>
              <a:schemeClr val="accent5"/>
            </a:solidFill>
            <a:prstDash val="solid"/>
          </a:ln>
        </p:spPr>
      </p:sp>
      <p:sp>
        <p:nvSpPr>
          <p:cNvPr id="20" name="text-52"/>
          <p:cNvSpPr txBox="1"/>
          <p:nvPr/>
        </p:nvSpPr>
        <p:spPr>
          <a:xfrm>
            <a:off x="6583680" y="39776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21" name="circle-53"/>
          <p:cNvSpPr/>
          <p:nvPr/>
        </p:nvSpPr>
        <p:spPr>
          <a:xfrm>
            <a:off x="7772400" y="3977640"/>
            <a:ext cx="868680" cy="868680"/>
          </a:xfrm>
          <a:prstGeom prst="ellipse">
            <a:avLst/>
          </a:prstGeom>
          <a:solidFill>
            <a:schemeClr val="bg1"/>
          </a:solidFill>
          <a:ln w="19050">
            <a:solidFill>
              <a:schemeClr val="accent5"/>
            </a:solidFill>
            <a:prstDash val="solid"/>
          </a:ln>
        </p:spPr>
      </p:sp>
      <p:sp>
        <p:nvSpPr>
          <p:cNvPr id="22" name="text-54"/>
          <p:cNvSpPr txBox="1"/>
          <p:nvPr/>
        </p:nvSpPr>
        <p:spPr>
          <a:xfrm>
            <a:off x="7772400" y="39776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23" name="circle-55"/>
          <p:cNvSpPr/>
          <p:nvPr/>
        </p:nvSpPr>
        <p:spPr>
          <a:xfrm>
            <a:off x="8961120" y="3977640"/>
            <a:ext cx="868680" cy="868680"/>
          </a:xfrm>
          <a:prstGeom prst="ellipse">
            <a:avLst/>
          </a:prstGeom>
          <a:solidFill>
            <a:schemeClr val="bg1"/>
          </a:solidFill>
          <a:ln w="19050">
            <a:solidFill>
              <a:schemeClr val="accent5"/>
            </a:solidFill>
            <a:prstDash val="solid"/>
          </a:ln>
        </p:spPr>
      </p:sp>
      <p:sp>
        <p:nvSpPr>
          <p:cNvPr id="24" name="text-56"/>
          <p:cNvSpPr txBox="1"/>
          <p:nvPr/>
        </p:nvSpPr>
        <p:spPr>
          <a:xfrm>
            <a:off x="8961120" y="39776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25" name="circle-57"/>
          <p:cNvSpPr/>
          <p:nvPr/>
        </p:nvSpPr>
        <p:spPr>
          <a:xfrm>
            <a:off x="10149840" y="3977640"/>
            <a:ext cx="868680" cy="868680"/>
          </a:xfrm>
          <a:prstGeom prst="ellipse">
            <a:avLst/>
          </a:prstGeom>
          <a:solidFill>
            <a:schemeClr val="bg1"/>
          </a:solidFill>
          <a:ln w="19050">
            <a:solidFill>
              <a:schemeClr val="accent5"/>
            </a:solidFill>
            <a:prstDash val="solid"/>
          </a:ln>
        </p:spPr>
      </p:sp>
      <p:sp>
        <p:nvSpPr>
          <p:cNvPr id="26" name="text-58"/>
          <p:cNvSpPr txBox="1"/>
          <p:nvPr/>
        </p:nvSpPr>
        <p:spPr>
          <a:xfrm>
            <a:off x="10149840" y="3977640"/>
            <a:ext cx="868680" cy="868680"/>
          </a:xfrm>
          <a:prstGeom prst="rect">
            <a:avLst/>
          </a:prstGeom>
          <a:noFill/>
          <a:ln/>
        </p:spPr>
        <p:txBody>
          <a:bodyPr wrap="square" lIns="0" tIns="0" rIns="0" bIns="0" rtlCol="0" anchor="ctr"/>
          <a:lstStyle/>
          <a:p>
            <a:pPr algn="ctr" indent="0" marL="0">
              <a:buNone/>
            </a:pPr>
            <a:r>
              <a:rPr lang="en-US" sz="1400" b="1" dirty="0">
                <a:solidFill>
                  <a:schemeClr val="accent5"/>
                </a:solidFill>
              </a:rPr>
              <a:t>이탈</a:t>
            </a:r>
            <a:endParaRPr lang="en-US" sz="1400" dirty="0"/>
          </a:p>
        </p:txBody>
      </p:sp>
      <p:sp>
        <p:nvSpPr>
          <p:cNvPr id="27" name="text-59"/>
          <p:cNvSpPr txBox="1"/>
          <p:nvPr/>
        </p:nvSpPr>
        <p:spPr>
          <a:xfrm>
            <a:off x="640080" y="6355080"/>
            <a:ext cx="9814255" cy="274320"/>
          </a:xfrm>
          <a:prstGeom prst="rect">
            <a:avLst/>
          </a:prstGeom>
          <a:noFill/>
          <a:ln/>
        </p:spPr>
        <p:txBody>
          <a:bodyPr wrap="square" lIns="0" tIns="0" rIns="0" bIns="0" rtlCol="0" anchor="t"/>
          <a:lstStyle/>
          <a:p>
            <a:pPr indent="0" marL="0">
              <a:buNone/>
            </a:pPr>
            <a:r>
              <a:rPr lang="en-US" sz="1000" dirty="0">
                <a:solidFill>
                  <a:schemeClr val="tx2"/>
                </a:solidFill>
              </a:rPr>
              <a:t>자료: Baymard Institute, 50개 연구 평균 (미국)</a:t>
            </a:r>
            <a:endParaRPr lang="en-US" sz="1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01 · 기회</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'프로모션 설계'만 비어 있었다</a:t>
            </a:r>
            <a:endParaRPr lang="en-US" sz="3600" dirty="0"/>
          </a:p>
        </p:txBody>
      </p:sp>
      <p:graphicFrame>
        <p:nvGraphicFramePr>
          <p:cNvPr id="5" name="competition-chart" descr=""/>
          <p:cNvGraphicFramePr/>
          <p:nvPr/>
        </p:nvGraphicFramePr>
        <p:xfrm>
          <a:off x="640080" y="173736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card-60"/>
          <p:cNvSpPr/>
          <p:nvPr/>
        </p:nvSpPr>
        <p:spPr>
          <a:xfrm>
            <a:off x="8595360" y="2194560"/>
            <a:ext cx="2956255" cy="3291840"/>
          </a:xfrm>
          <a:prstGeom prst="roundRect">
            <a:avLst>
              <a:gd name="adj" fmla="val 4640"/>
            </a:avLst>
          </a:prstGeom>
          <a:solidFill>
            <a:schemeClr val="bg2"/>
          </a:solidFill>
          <a:ln/>
        </p:spPr>
      </p:sp>
      <p:sp>
        <p:nvSpPr>
          <p:cNvPr id="7" name="text-61"/>
          <p:cNvSpPr txBox="1"/>
          <p:nvPr/>
        </p:nvSpPr>
        <p:spPr>
          <a:xfrm>
            <a:off x="8869680" y="2468880"/>
            <a:ext cx="2651760" cy="914400"/>
          </a:xfrm>
          <a:prstGeom prst="rect">
            <a:avLst/>
          </a:prstGeom>
          <a:noFill/>
          <a:ln/>
        </p:spPr>
        <p:txBody>
          <a:bodyPr wrap="square" lIns="0" tIns="0" rIns="0" bIns="0" rtlCol="0" anchor="ctr"/>
          <a:lstStyle/>
          <a:p>
            <a:pPr indent="0" marL="0">
              <a:buNone/>
            </a:pPr>
            <a:r>
              <a:rPr lang="en-US" sz="5400" b="1" dirty="0">
                <a:solidFill>
                  <a:schemeClr val="accent1"/>
                </a:solidFill>
              </a:rPr>
              <a:t>1 / 18</a:t>
            </a:r>
            <a:endParaRPr lang="en-US" sz="5400" dirty="0"/>
          </a:p>
        </p:txBody>
      </p:sp>
      <p:sp>
        <p:nvSpPr>
          <p:cNvPr id="8" name="text-62"/>
          <p:cNvSpPr txBox="1"/>
          <p:nvPr/>
        </p:nvSpPr>
        <p:spPr>
          <a:xfrm>
            <a:off x="8869680" y="34290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이 단계 주력 기업</a:t>
            </a:r>
            <a:endParaRPr lang="en-US" sz="1600" dirty="0"/>
          </a:p>
        </p:txBody>
      </p:sp>
      <p:sp>
        <p:nvSpPr>
          <p:cNvPr id="9" name="text-63"/>
          <p:cNvSpPr txBox="1"/>
          <p:nvPr/>
        </p:nvSpPr>
        <p:spPr>
          <a:xfrm>
            <a:off x="8869680" y="3931920"/>
            <a:ext cx="2651760" cy="1097280"/>
          </a:xfrm>
          <a:prstGeom prst="rect">
            <a:avLst/>
          </a:prstGeom>
          <a:noFill/>
          <a:ln/>
        </p:spPr>
        <p:txBody>
          <a:bodyPr wrap="square" lIns="0" tIns="0" rIns="0" bIns="0" rtlCol="0" anchor="t"/>
          <a:lstStyle/>
          <a:p>
            <a:pPr indent="0" marL="0">
              <a:buNone/>
            </a:pPr>
            <a:r>
              <a:rPr lang="en-US" sz="1400" dirty="0">
                <a:solidFill>
                  <a:schemeClr val="tx2"/>
                </a:solidFill>
              </a:rPr>
              <a:t>중국 공동구매 1곳뿐</a:t>
            </a:r>
            <a:endParaRPr lang="en-US" sz="1400" dirty="0"/>
          </a:p>
          <a:p>
            <a:pPr indent="0" marL="0">
              <a:buNone/>
            </a:pPr>
            <a:r>
              <a:rPr lang="en-US" sz="1400" dirty="0">
                <a:solidFill>
                  <a:schemeClr val="tx2"/>
                </a:solidFill>
              </a:rPr>
              <a:t>한국·영국·일본 0곳</a:t>
            </a:r>
            <a:endParaRPr lang="en-US" sz="1400" dirty="0"/>
          </a:p>
        </p:txBody>
      </p:sp>
      <p:sp>
        <p:nvSpPr>
          <p:cNvPr id="10" name="text-64"/>
          <p:cNvSpPr txBox="1"/>
          <p:nvPr/>
        </p:nvSpPr>
        <p:spPr>
          <a:xfrm>
            <a:off x="640080" y="6355080"/>
            <a:ext cx="9814255" cy="274320"/>
          </a:xfrm>
          <a:prstGeom prst="rect">
            <a:avLst/>
          </a:prstGeom>
          <a:noFill/>
          <a:ln/>
        </p:spPr>
        <p:txBody>
          <a:bodyPr wrap="square" lIns="0" tIns="0" rIns="0" bIns="0" rtlCol="0" anchor="t"/>
          <a:lstStyle/>
          <a:p>
            <a:pPr indent="0" marL="0">
              <a:buNone/>
            </a:pPr>
            <a:r>
              <a:rPr lang="en-US" sz="1000" dirty="0">
                <a:solidFill>
                  <a:schemeClr val="tx2"/>
                </a:solidFill>
              </a:rPr>
              <a:t>막대 = 그 단계를 노리는 기업 경쟁 강도 · 5개국 숨은 기업 18곳 조사 (2026-10)</a:t>
            </a:r>
            <a:endParaRPr lang="en-US" sz="1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02 · 문제</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찜은 쌓이는데, 주문으로 안 바뀐다</a:t>
            </a:r>
            <a:endParaRPr lang="en-US" sz="3600" dirty="0"/>
          </a:p>
        </p:txBody>
      </p:sp>
      <p:sp>
        <p:nvSpPr>
          <p:cNvPr id="5" name="circle-65"/>
          <p:cNvSpPr/>
          <p:nvPr/>
        </p:nvSpPr>
        <p:spPr>
          <a:xfrm>
            <a:off x="1188720" y="2514600"/>
            <a:ext cx="2194560" cy="2194560"/>
          </a:xfrm>
          <a:prstGeom prst="ellipse">
            <a:avLst/>
          </a:prstGeom>
          <a:solidFill>
            <a:schemeClr val="bg2"/>
          </a:solidFill>
          <a:ln/>
        </p:spPr>
      </p:sp>
      <p:pic>
        <p:nvPicPr>
          <p:cNvPr id="6" name="icon-66" descr="고객">    </p:cNvPr>
          <p:cNvPicPr>
            <a:picLocks noChangeAspect="1"/>
          </p:cNvPicPr>
          <p:nvPr/>
        </p:nvPicPr>
        <p:blipFill>
          <a:blip r:embed="rId1"/>
          <a:stretch>
            <a:fillRect/>
          </a:stretch>
        </p:blipFill>
        <p:spPr>
          <a:xfrm>
            <a:off x="1737360" y="3063240"/>
            <a:ext cx="1097280" cy="1097280"/>
          </a:xfrm>
          <a:prstGeom prst="rect">
            <a:avLst/>
          </a:prstGeom>
        </p:spPr>
      </p:pic>
      <p:sp>
        <p:nvSpPr>
          <p:cNvPr id="7" name="text-67"/>
          <p:cNvSpPr txBox="1"/>
          <p:nvPr/>
        </p:nvSpPr>
        <p:spPr>
          <a:xfrm>
            <a:off x="731520" y="4937760"/>
            <a:ext cx="3108960" cy="457200"/>
          </a:xfrm>
          <a:prstGeom prst="rect">
            <a:avLst/>
          </a:prstGeom>
          <a:noFill/>
          <a:ln/>
        </p:spPr>
        <p:txBody>
          <a:bodyPr wrap="square" lIns="0" tIns="0" rIns="0" bIns="0" rtlCol="0" anchor="t"/>
          <a:lstStyle/>
          <a:p>
            <a:pPr algn="ctr" indent="0" marL="0">
              <a:buNone/>
            </a:pPr>
            <a:r>
              <a:rPr lang="en-US" sz="2400" b="1" dirty="0">
                <a:solidFill>
                  <a:schemeClr val="tx1"/>
                </a:solidFill>
              </a:rPr>
              <a:t>고객</a:t>
            </a:r>
            <a:endParaRPr lang="en-US" sz="2400" dirty="0"/>
          </a:p>
        </p:txBody>
      </p:sp>
      <p:sp>
        <p:nvSpPr>
          <p:cNvPr id="8" name="text-68"/>
          <p:cNvSpPr txBox="1"/>
          <p:nvPr/>
        </p:nvSpPr>
        <p:spPr>
          <a:xfrm>
            <a:off x="731520" y="5440680"/>
            <a:ext cx="3108960" cy="457200"/>
          </a:xfrm>
          <a:prstGeom prst="rect">
            <a:avLst/>
          </a:prstGeom>
          <a:noFill/>
          <a:ln/>
        </p:spPr>
        <p:txBody>
          <a:bodyPr wrap="square" lIns="0" tIns="0" rIns="0" bIns="0" rtlCol="0" anchor="t"/>
          <a:lstStyle/>
          <a:p>
            <a:pPr algn="ctr" indent="0" marL="0">
              <a:buNone/>
            </a:pPr>
            <a:r>
              <a:rPr lang="en-US" sz="1700" dirty="0">
                <a:solidFill>
                  <a:schemeClr val="tx2"/>
                </a:solidFill>
              </a:rPr>
              <a:t>"할인하면 살게요"</a:t>
            </a:r>
            <a:endParaRPr lang="en-US" sz="1700" dirty="0"/>
          </a:p>
        </p:txBody>
      </p:sp>
      <p:sp>
        <p:nvSpPr>
          <p:cNvPr id="9" name="circle-69"/>
          <p:cNvSpPr/>
          <p:nvPr/>
        </p:nvSpPr>
        <p:spPr>
          <a:xfrm>
            <a:off x="8808415" y="2514600"/>
            <a:ext cx="2194560" cy="2194560"/>
          </a:xfrm>
          <a:prstGeom prst="ellipse">
            <a:avLst/>
          </a:prstGeom>
          <a:solidFill>
            <a:schemeClr val="bg2"/>
          </a:solidFill>
          <a:ln/>
        </p:spPr>
      </p:sp>
      <p:pic>
        <p:nvPicPr>
          <p:cNvPr id="10" name="icon-70" descr="판매자">    </p:cNvPr>
          <p:cNvPicPr>
            <a:picLocks noChangeAspect="1"/>
          </p:cNvPicPr>
          <p:nvPr/>
        </p:nvPicPr>
        <p:blipFill>
          <a:blip r:embed="rId2"/>
          <a:stretch>
            <a:fillRect/>
          </a:stretch>
        </p:blipFill>
        <p:spPr>
          <a:xfrm>
            <a:off x="9357055" y="3063240"/>
            <a:ext cx="1097280" cy="1097280"/>
          </a:xfrm>
          <a:prstGeom prst="rect">
            <a:avLst/>
          </a:prstGeom>
        </p:spPr>
      </p:pic>
      <p:sp>
        <p:nvSpPr>
          <p:cNvPr id="11" name="text-71"/>
          <p:cNvSpPr txBox="1"/>
          <p:nvPr/>
        </p:nvSpPr>
        <p:spPr>
          <a:xfrm>
            <a:off x="8351215" y="4937760"/>
            <a:ext cx="3108960" cy="457200"/>
          </a:xfrm>
          <a:prstGeom prst="rect">
            <a:avLst/>
          </a:prstGeom>
          <a:noFill/>
          <a:ln/>
        </p:spPr>
        <p:txBody>
          <a:bodyPr wrap="square" lIns="0" tIns="0" rIns="0" bIns="0" rtlCol="0" anchor="t"/>
          <a:lstStyle/>
          <a:p>
            <a:pPr algn="ctr" indent="0" marL="0">
              <a:buNone/>
            </a:pPr>
            <a:r>
              <a:rPr lang="en-US" sz="2400" b="1" dirty="0">
                <a:solidFill>
                  <a:schemeClr val="tx1"/>
                </a:solidFill>
              </a:rPr>
              <a:t>판매자</a:t>
            </a:r>
            <a:endParaRPr lang="en-US" sz="2400" dirty="0"/>
          </a:p>
        </p:txBody>
      </p:sp>
      <p:sp>
        <p:nvSpPr>
          <p:cNvPr id="12" name="text-72"/>
          <p:cNvSpPr txBox="1"/>
          <p:nvPr/>
        </p:nvSpPr>
        <p:spPr>
          <a:xfrm>
            <a:off x="8351215" y="5440680"/>
            <a:ext cx="3108960" cy="457200"/>
          </a:xfrm>
          <a:prstGeom prst="rect">
            <a:avLst/>
          </a:prstGeom>
          <a:noFill/>
          <a:ln/>
        </p:spPr>
        <p:txBody>
          <a:bodyPr wrap="square" lIns="0" tIns="0" rIns="0" bIns="0" rtlCol="0" anchor="t"/>
          <a:lstStyle/>
          <a:p>
            <a:pPr algn="ctr" indent="0" marL="0">
              <a:buNone/>
            </a:pPr>
            <a:r>
              <a:rPr lang="en-US" sz="1700" dirty="0">
                <a:solidFill>
                  <a:schemeClr val="tx2"/>
                </a:solidFill>
              </a:rPr>
              <a:t>"몇 개 팔릴지 알면 만들게요"</a:t>
            </a:r>
            <a:endParaRPr lang="en-US" sz="1700" dirty="0"/>
          </a:p>
        </p:txBody>
      </p:sp>
      <p:sp>
        <p:nvSpPr>
          <p:cNvPr id="13" name="link-left"/>
          <p:cNvSpPr/>
          <p:nvPr/>
        </p:nvSpPr>
        <p:spPr>
          <a:xfrm>
            <a:off x="3566160" y="3611880"/>
            <a:ext cx="1843888" cy="0"/>
          </a:xfrm>
          <a:prstGeom prst="line">
            <a:avLst/>
          </a:prstGeom>
          <a:noFill/>
          <a:ln w="38100">
            <a:solidFill>
              <a:srgbClr val="C9C9D1"/>
            </a:solidFill>
            <a:prstDash val="dash"/>
          </a:ln>
        </p:spPr>
      </p:sp>
      <p:sp>
        <p:nvSpPr>
          <p:cNvPr id="14" name="link-right"/>
          <p:cNvSpPr/>
          <p:nvPr/>
        </p:nvSpPr>
        <p:spPr>
          <a:xfrm>
            <a:off x="6781648" y="3611880"/>
            <a:ext cx="1843888" cy="0"/>
          </a:xfrm>
          <a:prstGeom prst="line">
            <a:avLst/>
          </a:prstGeom>
          <a:noFill/>
          <a:ln w="38100">
            <a:solidFill>
              <a:srgbClr val="C9C9D1"/>
            </a:solidFill>
            <a:prstDash val="dash"/>
          </a:ln>
        </p:spPr>
      </p:sp>
      <p:sp>
        <p:nvSpPr>
          <p:cNvPr id="15" name="circle-73"/>
          <p:cNvSpPr/>
          <p:nvPr/>
        </p:nvSpPr>
        <p:spPr>
          <a:xfrm>
            <a:off x="5455768" y="2971800"/>
            <a:ext cx="1280160" cy="1280160"/>
          </a:xfrm>
          <a:prstGeom prst="ellipse">
            <a:avLst/>
          </a:prstGeom>
          <a:solidFill>
            <a:schemeClr val="accent1"/>
          </a:solidFill>
          <a:ln/>
        </p:spPr>
      </p:sp>
      <p:sp>
        <p:nvSpPr>
          <p:cNvPr id="16" name="text-74"/>
          <p:cNvSpPr txBox="1"/>
          <p:nvPr/>
        </p:nvSpPr>
        <p:spPr>
          <a:xfrm>
            <a:off x="5455768" y="2971800"/>
            <a:ext cx="1280160" cy="1280160"/>
          </a:xfrm>
          <a:prstGeom prst="rect">
            <a:avLst/>
          </a:prstGeom>
          <a:noFill/>
          <a:ln/>
        </p:spPr>
        <p:txBody>
          <a:bodyPr wrap="square" lIns="0" tIns="0" rIns="0" bIns="0" rtlCol="0" anchor="ctr"/>
          <a:lstStyle/>
          <a:p>
            <a:pPr algn="ctr" indent="0" marL="0">
              <a:buNone/>
            </a:pPr>
            <a:r>
              <a:rPr lang="en-US" sz="4000" dirty="0">
                <a:solidFill>
                  <a:schemeClr val="bg1"/>
                </a:solidFill>
              </a:rPr>
              <a:t>♥</a:t>
            </a:r>
            <a:endParaRPr lang="en-US" sz="4000" dirty="0"/>
          </a:p>
        </p:txBody>
      </p:sp>
      <p:sp>
        <p:nvSpPr>
          <p:cNvPr id="17" name="text-75"/>
          <p:cNvSpPr txBox="1"/>
          <p:nvPr/>
        </p:nvSpPr>
        <p:spPr>
          <a:xfrm>
            <a:off x="4267048" y="4434840"/>
            <a:ext cx="3657600" cy="457200"/>
          </a:xfrm>
          <a:prstGeom prst="rect">
            <a:avLst/>
          </a:prstGeom>
          <a:noFill/>
          <a:ln/>
        </p:spPr>
        <p:txBody>
          <a:bodyPr wrap="square" lIns="0" tIns="0" rIns="0" bIns="0" rtlCol="0" anchor="t"/>
          <a:lstStyle/>
          <a:p>
            <a:pPr algn="ctr" indent="0" marL="0">
              <a:buNone/>
            </a:pPr>
            <a:r>
              <a:rPr lang="en-US" sz="1800" b="1" dirty="0">
                <a:solidFill>
                  <a:schemeClr val="accent1"/>
                </a:solidFill>
              </a:rPr>
              <a:t>둘을 이어 줄 도구가 없다</a:t>
            </a:r>
            <a:endParaRPr lang="en-US" sz="18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03 · 찜꽁</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신청은 먼저, 결제는 목표 달성 후</a:t>
            </a:r>
            <a:endParaRPr lang="en-US" sz="3600" dirty="0"/>
          </a:p>
        </p:txBody>
      </p:sp>
      <p:sp>
        <p:nvSpPr>
          <p:cNvPr id="5" name="circle-76"/>
          <p:cNvSpPr/>
          <p:nvPr/>
        </p:nvSpPr>
        <p:spPr>
          <a:xfrm>
            <a:off x="640080" y="2011680"/>
            <a:ext cx="1737360" cy="1737360"/>
          </a:xfrm>
          <a:prstGeom prst="ellipse">
            <a:avLst/>
          </a:prstGeom>
          <a:solidFill>
            <a:schemeClr val="bg2"/>
          </a:solidFill>
          <a:ln/>
        </p:spPr>
      </p:sp>
      <p:pic>
        <p:nvPicPr>
          <p:cNvPr id="6" name="icon-77" descr="공구 개설">    </p:cNvPr>
          <p:cNvPicPr>
            <a:picLocks noChangeAspect="1"/>
          </p:cNvPicPr>
          <p:nvPr/>
        </p:nvPicPr>
        <p:blipFill>
          <a:blip r:embed="rId1"/>
          <a:stretch>
            <a:fillRect/>
          </a:stretch>
        </p:blipFill>
        <p:spPr>
          <a:xfrm>
            <a:off x="1097280" y="2468880"/>
            <a:ext cx="822960" cy="822960"/>
          </a:xfrm>
          <a:prstGeom prst="rect">
            <a:avLst/>
          </a:prstGeom>
        </p:spPr>
      </p:pic>
      <p:sp>
        <p:nvSpPr>
          <p:cNvPr id="7" name="text-78"/>
          <p:cNvSpPr txBox="1"/>
          <p:nvPr/>
        </p:nvSpPr>
        <p:spPr>
          <a:xfrm>
            <a:off x="182880" y="3977640"/>
            <a:ext cx="2651760" cy="457200"/>
          </a:xfrm>
          <a:prstGeom prst="rect">
            <a:avLst/>
          </a:prstGeom>
          <a:noFill/>
          <a:ln/>
        </p:spPr>
        <p:txBody>
          <a:bodyPr wrap="square" lIns="0" tIns="0" rIns="0" bIns="0" rtlCol="0" anchor="t"/>
          <a:lstStyle/>
          <a:p>
            <a:pPr algn="ctr" indent="0" marL="0">
              <a:buNone/>
            </a:pPr>
            <a:r>
              <a:rPr lang="en-US" sz="2000" b="1" dirty="0">
                <a:solidFill>
                  <a:schemeClr val="tx1"/>
                </a:solidFill>
              </a:rPr>
              <a:t>1. 공구 개설</a:t>
            </a:r>
            <a:endParaRPr lang="en-US" sz="2000" dirty="0"/>
          </a:p>
        </p:txBody>
      </p:sp>
      <p:sp>
        <p:nvSpPr>
          <p:cNvPr id="8" name="text-79"/>
          <p:cNvSpPr txBox="1"/>
          <p:nvPr/>
        </p:nvSpPr>
        <p:spPr>
          <a:xfrm>
            <a:off x="182880" y="4434840"/>
            <a:ext cx="2651760" cy="365760"/>
          </a:xfrm>
          <a:prstGeom prst="rect">
            <a:avLst/>
          </a:prstGeom>
          <a:noFill/>
          <a:ln/>
        </p:spPr>
        <p:txBody>
          <a:bodyPr wrap="square" lIns="0" tIns="0" rIns="0" bIns="0" rtlCol="0" anchor="t"/>
          <a:lstStyle/>
          <a:p>
            <a:pPr algn="ctr" indent="0" marL="0">
              <a:buNone/>
            </a:pPr>
            <a:r>
              <a:rPr lang="en-US" sz="1400" b="1" dirty="0">
                <a:solidFill>
                  <a:schemeClr val="accent1"/>
                </a:solidFill>
              </a:rPr>
              <a:t>판매자</a:t>
            </a:r>
            <a:endParaRPr lang="en-US" sz="1400" dirty="0"/>
          </a:p>
        </p:txBody>
      </p:sp>
      <p:sp>
        <p:nvSpPr>
          <p:cNvPr id="9" name="text-80"/>
          <p:cNvSpPr txBox="1"/>
          <p:nvPr/>
        </p:nvSpPr>
        <p:spPr>
          <a:xfrm>
            <a:off x="2377440" y="2011680"/>
            <a:ext cx="1320698" cy="1737360"/>
          </a:xfrm>
          <a:prstGeom prst="rect">
            <a:avLst/>
          </a:prstGeom>
          <a:noFill/>
          <a:ln/>
        </p:spPr>
        <p:txBody>
          <a:bodyPr wrap="square" lIns="0" tIns="0" rIns="0" bIns="0" rtlCol="0" anchor="ctr"/>
          <a:lstStyle/>
          <a:p>
            <a:pPr algn="ctr" indent="0" marL="0">
              <a:buNone/>
            </a:pPr>
            <a:r>
              <a:rPr lang="en-US" sz="5400" b="1" dirty="0">
                <a:solidFill>
                  <a:schemeClr val="accent3"/>
                </a:solidFill>
              </a:rPr>
              <a:t>›</a:t>
            </a:r>
            <a:endParaRPr lang="en-US" sz="5400" dirty="0"/>
          </a:p>
        </p:txBody>
      </p:sp>
      <p:sp>
        <p:nvSpPr>
          <p:cNvPr id="10" name="circle-81"/>
          <p:cNvSpPr/>
          <p:nvPr/>
        </p:nvSpPr>
        <p:spPr>
          <a:xfrm>
            <a:off x="3698138" y="2011680"/>
            <a:ext cx="1737360" cy="1737360"/>
          </a:xfrm>
          <a:prstGeom prst="ellipse">
            <a:avLst/>
          </a:prstGeom>
          <a:solidFill>
            <a:schemeClr val="bg2"/>
          </a:solidFill>
          <a:ln/>
        </p:spPr>
      </p:sp>
      <p:pic>
        <p:nvPicPr>
          <p:cNvPr id="11" name="icon-82" descr="결제 없이 신청">    </p:cNvPr>
          <p:cNvPicPr>
            <a:picLocks noChangeAspect="1"/>
          </p:cNvPicPr>
          <p:nvPr/>
        </p:nvPicPr>
        <p:blipFill>
          <a:blip r:embed="rId2"/>
          <a:stretch>
            <a:fillRect/>
          </a:stretch>
        </p:blipFill>
        <p:spPr>
          <a:xfrm>
            <a:off x="4155338" y="2468880"/>
            <a:ext cx="822960" cy="822960"/>
          </a:xfrm>
          <a:prstGeom prst="rect">
            <a:avLst/>
          </a:prstGeom>
        </p:spPr>
      </p:pic>
      <p:sp>
        <p:nvSpPr>
          <p:cNvPr id="12" name="text-83"/>
          <p:cNvSpPr txBox="1"/>
          <p:nvPr/>
        </p:nvSpPr>
        <p:spPr>
          <a:xfrm>
            <a:off x="3240938" y="3977640"/>
            <a:ext cx="2651760" cy="457200"/>
          </a:xfrm>
          <a:prstGeom prst="rect">
            <a:avLst/>
          </a:prstGeom>
          <a:noFill/>
          <a:ln/>
        </p:spPr>
        <p:txBody>
          <a:bodyPr wrap="square" lIns="0" tIns="0" rIns="0" bIns="0" rtlCol="0" anchor="t"/>
          <a:lstStyle/>
          <a:p>
            <a:pPr algn="ctr" indent="0" marL="0">
              <a:buNone/>
            </a:pPr>
            <a:r>
              <a:rPr lang="en-US" sz="2000" b="1" dirty="0">
                <a:solidFill>
                  <a:schemeClr val="tx1"/>
                </a:solidFill>
              </a:rPr>
              <a:t>2. 결제 없이 신청</a:t>
            </a:r>
            <a:endParaRPr lang="en-US" sz="2000" dirty="0"/>
          </a:p>
        </p:txBody>
      </p:sp>
      <p:sp>
        <p:nvSpPr>
          <p:cNvPr id="13" name="text-84"/>
          <p:cNvSpPr txBox="1"/>
          <p:nvPr/>
        </p:nvSpPr>
        <p:spPr>
          <a:xfrm>
            <a:off x="3240938" y="4434840"/>
            <a:ext cx="2651760" cy="365760"/>
          </a:xfrm>
          <a:prstGeom prst="rect">
            <a:avLst/>
          </a:prstGeom>
          <a:noFill/>
          <a:ln/>
        </p:spPr>
        <p:txBody>
          <a:bodyPr wrap="square" lIns="0" tIns="0" rIns="0" bIns="0" rtlCol="0" anchor="t"/>
          <a:lstStyle/>
          <a:p>
            <a:pPr algn="ctr" indent="0" marL="0">
              <a:buNone/>
            </a:pPr>
            <a:r>
              <a:rPr lang="en-US" sz="1400" b="1" dirty="0">
                <a:solidFill>
                  <a:schemeClr val="accent1"/>
                </a:solidFill>
              </a:rPr>
              <a:t>고객</a:t>
            </a:r>
            <a:endParaRPr lang="en-US" sz="1400" dirty="0"/>
          </a:p>
        </p:txBody>
      </p:sp>
      <p:sp>
        <p:nvSpPr>
          <p:cNvPr id="14" name="text-85"/>
          <p:cNvSpPr txBox="1"/>
          <p:nvPr/>
        </p:nvSpPr>
        <p:spPr>
          <a:xfrm>
            <a:off x="5435498" y="2011680"/>
            <a:ext cx="1320698" cy="1737360"/>
          </a:xfrm>
          <a:prstGeom prst="rect">
            <a:avLst/>
          </a:prstGeom>
          <a:noFill/>
          <a:ln/>
        </p:spPr>
        <p:txBody>
          <a:bodyPr wrap="square" lIns="0" tIns="0" rIns="0" bIns="0" rtlCol="0" anchor="ctr"/>
          <a:lstStyle/>
          <a:p>
            <a:pPr algn="ctr" indent="0" marL="0">
              <a:buNone/>
            </a:pPr>
            <a:r>
              <a:rPr lang="en-US" sz="5400" b="1" dirty="0">
                <a:solidFill>
                  <a:schemeClr val="accent3"/>
                </a:solidFill>
              </a:rPr>
              <a:t>›</a:t>
            </a:r>
            <a:endParaRPr lang="en-US" sz="5400" dirty="0"/>
          </a:p>
        </p:txBody>
      </p:sp>
      <p:sp>
        <p:nvSpPr>
          <p:cNvPr id="15" name="circle-86"/>
          <p:cNvSpPr/>
          <p:nvPr/>
        </p:nvSpPr>
        <p:spPr>
          <a:xfrm>
            <a:off x="6756197" y="2011680"/>
            <a:ext cx="1737360" cy="1737360"/>
          </a:xfrm>
          <a:prstGeom prst="ellipse">
            <a:avLst/>
          </a:prstGeom>
          <a:solidFill>
            <a:schemeClr val="bg2"/>
          </a:solidFill>
          <a:ln/>
        </p:spPr>
      </p:sp>
      <p:pic>
        <p:nvPicPr>
          <p:cNvPr id="16" name="icon-87" descr="달성 시 결제">    </p:cNvPr>
          <p:cNvPicPr>
            <a:picLocks noChangeAspect="1"/>
          </p:cNvPicPr>
          <p:nvPr/>
        </p:nvPicPr>
        <p:blipFill>
          <a:blip r:embed="rId3"/>
          <a:stretch>
            <a:fillRect/>
          </a:stretch>
        </p:blipFill>
        <p:spPr>
          <a:xfrm>
            <a:off x="7213397" y="2468880"/>
            <a:ext cx="822960" cy="822960"/>
          </a:xfrm>
          <a:prstGeom prst="rect">
            <a:avLst/>
          </a:prstGeom>
        </p:spPr>
      </p:pic>
      <p:sp>
        <p:nvSpPr>
          <p:cNvPr id="17" name="text-88"/>
          <p:cNvSpPr txBox="1"/>
          <p:nvPr/>
        </p:nvSpPr>
        <p:spPr>
          <a:xfrm>
            <a:off x="6298997" y="3977640"/>
            <a:ext cx="2651760" cy="457200"/>
          </a:xfrm>
          <a:prstGeom prst="rect">
            <a:avLst/>
          </a:prstGeom>
          <a:noFill/>
          <a:ln/>
        </p:spPr>
        <p:txBody>
          <a:bodyPr wrap="square" lIns="0" tIns="0" rIns="0" bIns="0" rtlCol="0" anchor="t"/>
          <a:lstStyle/>
          <a:p>
            <a:pPr algn="ctr" indent="0" marL="0">
              <a:buNone/>
            </a:pPr>
            <a:r>
              <a:rPr lang="en-US" sz="2000" b="1" dirty="0">
                <a:solidFill>
                  <a:schemeClr val="tx1"/>
                </a:solidFill>
              </a:rPr>
              <a:t>3. 달성 시 결제</a:t>
            </a:r>
            <a:endParaRPr lang="en-US" sz="2000" dirty="0"/>
          </a:p>
        </p:txBody>
      </p:sp>
      <p:sp>
        <p:nvSpPr>
          <p:cNvPr id="18" name="text-89"/>
          <p:cNvSpPr txBox="1"/>
          <p:nvPr/>
        </p:nvSpPr>
        <p:spPr>
          <a:xfrm>
            <a:off x="6298997" y="4434840"/>
            <a:ext cx="2651760" cy="365760"/>
          </a:xfrm>
          <a:prstGeom prst="rect">
            <a:avLst/>
          </a:prstGeom>
          <a:noFill/>
          <a:ln/>
        </p:spPr>
        <p:txBody>
          <a:bodyPr wrap="square" lIns="0" tIns="0" rIns="0" bIns="0" rtlCol="0" anchor="t"/>
          <a:lstStyle/>
          <a:p>
            <a:pPr algn="ctr" indent="0" marL="0">
              <a:buNone/>
            </a:pPr>
            <a:r>
              <a:rPr lang="en-US" sz="1400" b="1" dirty="0">
                <a:solidFill>
                  <a:schemeClr val="accent1"/>
                </a:solidFill>
              </a:rPr>
              <a:t>고객</a:t>
            </a:r>
            <a:endParaRPr lang="en-US" sz="1400" dirty="0"/>
          </a:p>
        </p:txBody>
      </p:sp>
      <p:sp>
        <p:nvSpPr>
          <p:cNvPr id="19" name="text-90"/>
          <p:cNvSpPr txBox="1"/>
          <p:nvPr/>
        </p:nvSpPr>
        <p:spPr>
          <a:xfrm>
            <a:off x="8493557" y="2011680"/>
            <a:ext cx="1320698" cy="1737360"/>
          </a:xfrm>
          <a:prstGeom prst="rect">
            <a:avLst/>
          </a:prstGeom>
          <a:noFill/>
          <a:ln/>
        </p:spPr>
        <p:txBody>
          <a:bodyPr wrap="square" lIns="0" tIns="0" rIns="0" bIns="0" rtlCol="0" anchor="ctr"/>
          <a:lstStyle/>
          <a:p>
            <a:pPr algn="ctr" indent="0" marL="0">
              <a:buNone/>
            </a:pPr>
            <a:r>
              <a:rPr lang="en-US" sz="5400" b="1" dirty="0">
                <a:solidFill>
                  <a:schemeClr val="accent3"/>
                </a:solidFill>
              </a:rPr>
              <a:t>›</a:t>
            </a:r>
            <a:endParaRPr lang="en-US" sz="5400" dirty="0"/>
          </a:p>
        </p:txBody>
      </p:sp>
      <p:sp>
        <p:nvSpPr>
          <p:cNvPr id="20" name="circle-91"/>
          <p:cNvSpPr/>
          <p:nvPr/>
        </p:nvSpPr>
        <p:spPr>
          <a:xfrm>
            <a:off x="9814255" y="2011680"/>
            <a:ext cx="1737360" cy="1737360"/>
          </a:xfrm>
          <a:prstGeom prst="ellipse">
            <a:avLst/>
          </a:prstGeom>
          <a:solidFill>
            <a:schemeClr val="accent1"/>
          </a:solidFill>
          <a:ln/>
        </p:spPr>
      </p:sp>
      <p:sp>
        <p:nvSpPr>
          <p:cNvPr id="21" name="circle-92"/>
          <p:cNvSpPr/>
          <p:nvPr/>
        </p:nvSpPr>
        <p:spPr>
          <a:xfrm>
            <a:off x="10088575" y="2286000"/>
            <a:ext cx="1188720" cy="1188720"/>
          </a:xfrm>
          <a:prstGeom prst="ellipse">
            <a:avLst/>
          </a:prstGeom>
          <a:solidFill>
            <a:schemeClr val="bg1"/>
          </a:solidFill>
          <a:ln/>
        </p:spPr>
      </p:sp>
      <p:pic>
        <p:nvPicPr>
          <p:cNvPr id="22" name="icon-93" descr="그만큼만 발주">    </p:cNvPr>
          <p:cNvPicPr>
            <a:picLocks noChangeAspect="1"/>
          </p:cNvPicPr>
          <p:nvPr/>
        </p:nvPicPr>
        <p:blipFill>
          <a:blip r:embed="rId4"/>
          <a:stretch>
            <a:fillRect/>
          </a:stretch>
        </p:blipFill>
        <p:spPr>
          <a:xfrm>
            <a:off x="10271455" y="2468880"/>
            <a:ext cx="822960" cy="822960"/>
          </a:xfrm>
          <a:prstGeom prst="rect">
            <a:avLst/>
          </a:prstGeom>
        </p:spPr>
      </p:pic>
      <p:sp>
        <p:nvSpPr>
          <p:cNvPr id="23" name="text-94"/>
          <p:cNvSpPr txBox="1"/>
          <p:nvPr/>
        </p:nvSpPr>
        <p:spPr>
          <a:xfrm>
            <a:off x="9357055" y="3977640"/>
            <a:ext cx="2651760" cy="457200"/>
          </a:xfrm>
          <a:prstGeom prst="rect">
            <a:avLst/>
          </a:prstGeom>
          <a:noFill/>
          <a:ln/>
        </p:spPr>
        <p:txBody>
          <a:bodyPr wrap="square" lIns="0" tIns="0" rIns="0" bIns="0" rtlCol="0" anchor="t"/>
          <a:lstStyle/>
          <a:p>
            <a:pPr algn="ctr" indent="0" marL="0">
              <a:buNone/>
            </a:pPr>
            <a:r>
              <a:rPr lang="en-US" sz="2000" b="1" dirty="0">
                <a:solidFill>
                  <a:schemeClr val="tx1"/>
                </a:solidFill>
              </a:rPr>
              <a:t>4. 그만큼만 발주</a:t>
            </a:r>
            <a:endParaRPr lang="en-US" sz="2000" dirty="0"/>
          </a:p>
        </p:txBody>
      </p:sp>
      <p:sp>
        <p:nvSpPr>
          <p:cNvPr id="24" name="text-95"/>
          <p:cNvSpPr txBox="1"/>
          <p:nvPr/>
        </p:nvSpPr>
        <p:spPr>
          <a:xfrm>
            <a:off x="9357055" y="4434840"/>
            <a:ext cx="2651760" cy="365760"/>
          </a:xfrm>
          <a:prstGeom prst="rect">
            <a:avLst/>
          </a:prstGeom>
          <a:noFill/>
          <a:ln/>
        </p:spPr>
        <p:txBody>
          <a:bodyPr wrap="square" lIns="0" tIns="0" rIns="0" bIns="0" rtlCol="0" anchor="t"/>
          <a:lstStyle/>
          <a:p>
            <a:pPr algn="ctr" indent="0" marL="0">
              <a:buNone/>
            </a:pPr>
            <a:r>
              <a:rPr lang="en-US" sz="1400" b="1" dirty="0">
                <a:solidFill>
                  <a:schemeClr val="accent1"/>
                </a:solidFill>
              </a:rPr>
              <a:t>판매자</a:t>
            </a:r>
            <a:endParaRPr lang="en-US" sz="1400" dirty="0"/>
          </a:p>
        </p:txBody>
      </p:sp>
      <p:sp>
        <p:nvSpPr>
          <p:cNvPr id="25" name="card-96"/>
          <p:cNvSpPr/>
          <p:nvPr/>
        </p:nvSpPr>
        <p:spPr>
          <a:xfrm>
            <a:off x="2011680" y="5257800"/>
            <a:ext cx="8168335" cy="777240"/>
          </a:xfrm>
          <a:prstGeom prst="roundRect">
            <a:avLst>
              <a:gd name="adj" fmla="val 17647"/>
            </a:avLst>
          </a:prstGeom>
          <a:solidFill>
            <a:schemeClr val="tx1"/>
          </a:solidFill>
          <a:ln/>
        </p:spPr>
      </p:sp>
      <p:sp>
        <p:nvSpPr>
          <p:cNvPr id="26" name="text-97"/>
          <p:cNvSpPr txBox="1"/>
          <p:nvPr/>
        </p:nvSpPr>
        <p:spPr>
          <a:xfrm>
            <a:off x="2011680" y="5257800"/>
            <a:ext cx="8168335" cy="777240"/>
          </a:xfrm>
          <a:prstGeom prst="rect">
            <a:avLst/>
          </a:prstGeom>
          <a:noFill/>
          <a:ln/>
        </p:spPr>
        <p:txBody>
          <a:bodyPr wrap="square" lIns="0" tIns="0" rIns="0" bIns="0" rtlCol="0" anchor="ctr"/>
          <a:lstStyle/>
          <a:p>
            <a:pPr algn="ctr" indent="0" marL="0">
              <a:buNone/>
            </a:pPr>
            <a:r>
              <a:rPr lang="en-US" sz="2000" b="1" dirty="0">
                <a:solidFill>
                  <a:schemeClr val="accent2"/>
                </a:solidFill>
              </a:rPr>
              <a:t>목표 미달이면?  </a:t>
            </a:r>
            <a:pPr algn="ctr" indent="0" marL="0">
              <a:buNone/>
            </a:pPr>
            <a:r>
              <a:rPr lang="en-US" sz="2000" b="1" dirty="0">
                <a:solidFill>
                  <a:schemeClr val="bg1"/>
                </a:solidFill>
              </a:rPr>
              <a:t>고객 손해 0 · 재고 0 · 수수료 0원</a:t>
            </a:r>
            <a:endParaRPr lang="en-US" sz="2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04 · 차별점</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새 고객 말고, 이미 찜한 내 고객</a:t>
            </a:r>
            <a:endParaRPr lang="en-US" sz="3600" dirty="0"/>
          </a:p>
        </p:txBody>
      </p:sp>
      <p:sp>
        <p:nvSpPr>
          <p:cNvPr id="5" name="axis-x"/>
          <p:cNvSpPr/>
          <p:nvPr/>
        </p:nvSpPr>
        <p:spPr>
          <a:xfrm>
            <a:off x="1188720" y="3954780"/>
            <a:ext cx="9814255" cy="0"/>
          </a:xfrm>
          <a:prstGeom prst="line">
            <a:avLst/>
          </a:prstGeom>
          <a:noFill/>
          <a:ln w="19050">
            <a:solidFill>
              <a:srgbClr val="C9C9D1"/>
            </a:solidFill>
            <a:prstDash val="solid"/>
          </a:ln>
        </p:spPr>
      </p:sp>
      <p:sp>
        <p:nvSpPr>
          <p:cNvPr id="6" name="axis-y"/>
          <p:cNvSpPr/>
          <p:nvPr/>
        </p:nvSpPr>
        <p:spPr>
          <a:xfrm>
            <a:off x="6095848" y="1783080"/>
            <a:ext cx="0" cy="4343400"/>
          </a:xfrm>
          <a:prstGeom prst="line">
            <a:avLst/>
          </a:prstGeom>
          <a:noFill/>
          <a:ln w="19050">
            <a:solidFill>
              <a:srgbClr val="C9C9D1"/>
            </a:solidFill>
            <a:prstDash val="solid"/>
          </a:ln>
        </p:spPr>
      </p:sp>
      <p:sp>
        <p:nvSpPr>
          <p:cNvPr id="7" name="text-98"/>
          <p:cNvSpPr txBox="1"/>
          <p:nvPr/>
        </p:nvSpPr>
        <p:spPr>
          <a:xfrm>
            <a:off x="1188720" y="4046220"/>
            <a:ext cx="2286000" cy="320040"/>
          </a:xfrm>
          <a:prstGeom prst="rect">
            <a:avLst/>
          </a:prstGeom>
          <a:noFill/>
          <a:ln/>
        </p:spPr>
        <p:txBody>
          <a:bodyPr wrap="square" lIns="0" tIns="0" rIns="0" bIns="0" rtlCol="0" anchor="t"/>
          <a:lstStyle/>
          <a:p>
            <a:pPr indent="0" marL="0">
              <a:buNone/>
            </a:pPr>
            <a:r>
              <a:rPr lang="en-US" sz="1300" dirty="0">
                <a:solidFill>
                  <a:schemeClr val="tx2"/>
                </a:solidFill>
              </a:rPr>
              <a:t>← 새 고객 모집</a:t>
            </a:r>
            <a:endParaRPr lang="en-US" sz="1300" dirty="0"/>
          </a:p>
        </p:txBody>
      </p:sp>
      <p:sp>
        <p:nvSpPr>
          <p:cNvPr id="8" name="text-99"/>
          <p:cNvSpPr txBox="1"/>
          <p:nvPr/>
        </p:nvSpPr>
        <p:spPr>
          <a:xfrm>
            <a:off x="8625535" y="4046220"/>
            <a:ext cx="2377440" cy="320040"/>
          </a:xfrm>
          <a:prstGeom prst="rect">
            <a:avLst/>
          </a:prstGeom>
          <a:noFill/>
          <a:ln/>
        </p:spPr>
        <p:txBody>
          <a:bodyPr wrap="square" lIns="0" tIns="0" rIns="0" bIns="0" rtlCol="0" anchor="t"/>
          <a:lstStyle/>
          <a:p>
            <a:pPr algn="r" indent="0" marL="0">
              <a:buNone/>
            </a:pPr>
            <a:r>
              <a:rPr lang="en-US" sz="1300" dirty="0">
                <a:solidFill>
                  <a:schemeClr val="tx2"/>
                </a:solidFill>
              </a:rPr>
              <a:t>이미 찜한 내 고객 →</a:t>
            </a:r>
            <a:endParaRPr lang="en-US" sz="1300" dirty="0"/>
          </a:p>
        </p:txBody>
      </p:sp>
      <p:sp>
        <p:nvSpPr>
          <p:cNvPr id="9" name="text-100"/>
          <p:cNvSpPr txBox="1"/>
          <p:nvPr/>
        </p:nvSpPr>
        <p:spPr>
          <a:xfrm>
            <a:off x="6233008" y="1783080"/>
            <a:ext cx="2286000" cy="320040"/>
          </a:xfrm>
          <a:prstGeom prst="rect">
            <a:avLst/>
          </a:prstGeom>
          <a:noFill/>
          <a:ln/>
        </p:spPr>
        <p:txBody>
          <a:bodyPr wrap="square" lIns="0" tIns="0" rIns="0" bIns="0" rtlCol="0" anchor="t"/>
          <a:lstStyle/>
          <a:p>
            <a:pPr indent="0" marL="0">
              <a:buNone/>
            </a:pPr>
            <a:r>
              <a:rPr lang="en-US" sz="1300" dirty="0">
                <a:solidFill>
                  <a:schemeClr val="tx2"/>
                </a:solidFill>
              </a:rPr>
              <a:t>판매자 부담 큼 ↑</a:t>
            </a:r>
            <a:endParaRPr lang="en-US" sz="1300" dirty="0"/>
          </a:p>
        </p:txBody>
      </p:sp>
      <p:sp>
        <p:nvSpPr>
          <p:cNvPr id="10" name="text-101"/>
          <p:cNvSpPr txBox="1"/>
          <p:nvPr/>
        </p:nvSpPr>
        <p:spPr>
          <a:xfrm>
            <a:off x="6233008" y="5806440"/>
            <a:ext cx="2286000" cy="320040"/>
          </a:xfrm>
          <a:prstGeom prst="rect">
            <a:avLst/>
          </a:prstGeom>
          <a:noFill/>
          <a:ln/>
        </p:spPr>
        <p:txBody>
          <a:bodyPr wrap="square" lIns="0" tIns="0" rIns="0" bIns="0" rtlCol="0" anchor="t"/>
          <a:lstStyle/>
          <a:p>
            <a:pPr indent="0" marL="0">
              <a:buNone/>
            </a:pPr>
            <a:r>
              <a:rPr lang="en-US" sz="1300" dirty="0">
                <a:solidFill>
                  <a:schemeClr val="tx2"/>
                </a:solidFill>
              </a:rPr>
              <a:t>부담 작음 ↓</a:t>
            </a:r>
            <a:endParaRPr lang="en-US" sz="1300" dirty="0"/>
          </a:p>
        </p:txBody>
      </p:sp>
      <p:sp>
        <p:nvSpPr>
          <p:cNvPr id="11" name="circle-102"/>
          <p:cNvSpPr/>
          <p:nvPr/>
        </p:nvSpPr>
        <p:spPr>
          <a:xfrm>
            <a:off x="2011680" y="2240280"/>
            <a:ext cx="411480" cy="411480"/>
          </a:xfrm>
          <a:prstGeom prst="ellipse">
            <a:avLst/>
          </a:prstGeom>
          <a:solidFill>
            <a:schemeClr val="accent5"/>
          </a:solidFill>
          <a:ln/>
        </p:spPr>
      </p:sp>
      <p:sp>
        <p:nvSpPr>
          <p:cNvPr id="12" name="text-103"/>
          <p:cNvSpPr txBox="1"/>
          <p:nvPr/>
        </p:nvSpPr>
        <p:spPr>
          <a:xfrm>
            <a:off x="2560320" y="2194560"/>
            <a:ext cx="2377440" cy="640080"/>
          </a:xfrm>
          <a:prstGeom prst="rect">
            <a:avLst/>
          </a:prstGeom>
          <a:noFill/>
          <a:ln/>
        </p:spPr>
        <p:txBody>
          <a:bodyPr wrap="square" lIns="0" tIns="0" rIns="0" bIns="0" rtlCol="0" anchor="t"/>
          <a:lstStyle/>
          <a:p>
            <a:pPr indent="0" marL="0">
              <a:buNone/>
            </a:pPr>
            <a:r>
              <a:rPr lang="en-US" sz="1500" b="1" dirty="0">
                <a:solidFill>
                  <a:schemeClr val="tx1"/>
                </a:solidFill>
              </a:rPr>
              <a:t>와디즈·텀블벅</a:t>
            </a:r>
            <a:endParaRPr lang="en-US" sz="1500" dirty="0"/>
          </a:p>
          <a:p>
            <a:pPr indent="0" marL="0">
              <a:buNone/>
            </a:pPr>
            <a:r>
              <a:rPr lang="en-US" sz="1200" dirty="0">
                <a:solidFill>
                  <a:schemeClr val="tx2"/>
                </a:solidFill>
              </a:rPr>
              <a:t>비용률 13~15%</a:t>
            </a:r>
            <a:endParaRPr lang="en-US" sz="1500" dirty="0"/>
          </a:p>
        </p:txBody>
      </p:sp>
      <p:sp>
        <p:nvSpPr>
          <p:cNvPr id="13" name="circle-104"/>
          <p:cNvSpPr/>
          <p:nvPr/>
        </p:nvSpPr>
        <p:spPr>
          <a:xfrm>
            <a:off x="3566160" y="2971800"/>
            <a:ext cx="411480" cy="411480"/>
          </a:xfrm>
          <a:prstGeom prst="ellipse">
            <a:avLst/>
          </a:prstGeom>
          <a:solidFill>
            <a:schemeClr val="accent5"/>
          </a:solidFill>
          <a:ln/>
        </p:spPr>
      </p:sp>
      <p:sp>
        <p:nvSpPr>
          <p:cNvPr id="14" name="text-105"/>
          <p:cNvSpPr txBox="1"/>
          <p:nvPr/>
        </p:nvSpPr>
        <p:spPr>
          <a:xfrm>
            <a:off x="4114800" y="2926080"/>
            <a:ext cx="2377440" cy="640080"/>
          </a:xfrm>
          <a:prstGeom prst="rect">
            <a:avLst/>
          </a:prstGeom>
          <a:noFill/>
          <a:ln/>
        </p:spPr>
        <p:txBody>
          <a:bodyPr wrap="square" lIns="0" tIns="0" rIns="0" bIns="0" rtlCol="0" anchor="t"/>
          <a:lstStyle/>
          <a:p>
            <a:pPr indent="0" marL="0">
              <a:buNone/>
            </a:pPr>
            <a:r>
              <a:rPr lang="en-US" sz="1500" b="1" dirty="0">
                <a:solidFill>
                  <a:schemeClr val="tx1"/>
                </a:solidFill>
              </a:rPr>
              <a:t>올웨이즈</a:t>
            </a:r>
            <a:endParaRPr lang="en-US" sz="1500" dirty="0"/>
          </a:p>
          <a:p>
            <a:pPr indent="0" marL="0">
              <a:buNone/>
            </a:pPr>
            <a:r>
              <a:rPr lang="en-US" sz="1200" dirty="0">
                <a:solidFill>
                  <a:schemeClr val="tx2"/>
                </a:solidFill>
              </a:rPr>
              <a:t>10% 할인 필수</a:t>
            </a:r>
            <a:endParaRPr lang="en-US" sz="1500" dirty="0"/>
          </a:p>
        </p:txBody>
      </p:sp>
      <p:sp>
        <p:nvSpPr>
          <p:cNvPr id="15" name="circle-106"/>
          <p:cNvSpPr/>
          <p:nvPr/>
        </p:nvSpPr>
        <p:spPr>
          <a:xfrm>
            <a:off x="2468880" y="4640580"/>
            <a:ext cx="411480" cy="411480"/>
          </a:xfrm>
          <a:prstGeom prst="ellipse">
            <a:avLst/>
          </a:prstGeom>
          <a:solidFill>
            <a:schemeClr val="accent5"/>
          </a:solidFill>
          <a:ln/>
        </p:spPr>
      </p:sp>
      <p:sp>
        <p:nvSpPr>
          <p:cNvPr id="16" name="text-107"/>
          <p:cNvSpPr txBox="1"/>
          <p:nvPr/>
        </p:nvSpPr>
        <p:spPr>
          <a:xfrm>
            <a:off x="3017520" y="4594860"/>
            <a:ext cx="2377440" cy="640080"/>
          </a:xfrm>
          <a:prstGeom prst="rect">
            <a:avLst/>
          </a:prstGeom>
          <a:noFill/>
          <a:ln/>
        </p:spPr>
        <p:txBody>
          <a:bodyPr wrap="square" lIns="0" tIns="0" rIns="0" bIns="0" rtlCol="0" anchor="t"/>
          <a:lstStyle/>
          <a:p>
            <a:pPr indent="0" marL="0">
              <a:buNone/>
            </a:pPr>
            <a:r>
              <a:rPr lang="en-US" sz="1500" b="1" dirty="0">
                <a:solidFill>
                  <a:schemeClr val="tx1"/>
                </a:solidFill>
              </a:rPr>
              <a:t>카카오 톡딜</a:t>
            </a:r>
            <a:endParaRPr lang="en-US" sz="1500" dirty="0"/>
          </a:p>
          <a:p>
            <a:pPr indent="0" marL="0">
              <a:buNone/>
            </a:pPr>
            <a:r>
              <a:rPr lang="en-US" sz="1200" dirty="0">
                <a:solidFill>
                  <a:schemeClr val="tx2"/>
                </a:solidFill>
              </a:rPr>
              <a:t>카카오 안에서만</a:t>
            </a:r>
            <a:endParaRPr lang="en-US" sz="1500" dirty="0"/>
          </a:p>
        </p:txBody>
      </p:sp>
      <p:sp>
        <p:nvSpPr>
          <p:cNvPr id="17" name="circle-108"/>
          <p:cNvSpPr/>
          <p:nvPr/>
        </p:nvSpPr>
        <p:spPr>
          <a:xfrm>
            <a:off x="8107528" y="2331720"/>
            <a:ext cx="411480" cy="411480"/>
          </a:xfrm>
          <a:prstGeom prst="ellipse">
            <a:avLst/>
          </a:prstGeom>
          <a:solidFill>
            <a:schemeClr val="accent5"/>
          </a:solidFill>
          <a:ln/>
        </p:spPr>
      </p:sp>
      <p:sp>
        <p:nvSpPr>
          <p:cNvPr id="18" name="text-109"/>
          <p:cNvSpPr txBox="1"/>
          <p:nvPr/>
        </p:nvSpPr>
        <p:spPr>
          <a:xfrm>
            <a:off x="8656168" y="2286000"/>
            <a:ext cx="2377440" cy="640080"/>
          </a:xfrm>
          <a:prstGeom prst="rect">
            <a:avLst/>
          </a:prstGeom>
          <a:noFill/>
          <a:ln/>
        </p:spPr>
        <p:txBody>
          <a:bodyPr wrap="square" lIns="0" tIns="0" rIns="0" bIns="0" rtlCol="0" anchor="t"/>
          <a:lstStyle/>
          <a:p>
            <a:pPr indent="0" marL="0">
              <a:buNone/>
            </a:pPr>
            <a:r>
              <a:rPr lang="en-US" sz="1500" b="1" dirty="0">
                <a:solidFill>
                  <a:schemeClr val="tx1"/>
                </a:solidFill>
              </a:rPr>
              <a:t>수동 운영</a:t>
            </a:r>
            <a:endParaRPr lang="en-US" sz="1500" dirty="0"/>
          </a:p>
          <a:p>
            <a:pPr indent="0" marL="0">
              <a:buNone/>
            </a:pPr>
            <a:r>
              <a:rPr lang="en-US" sz="1200" dirty="0">
                <a:solidFill>
                  <a:schemeClr val="tx2"/>
                </a:solidFill>
              </a:rPr>
              <a:t>구글폼·문자, 손으로 집계</a:t>
            </a:r>
            <a:endParaRPr lang="en-US" sz="1500" dirty="0"/>
          </a:p>
        </p:txBody>
      </p:sp>
      <p:sp>
        <p:nvSpPr>
          <p:cNvPr id="19" name="circle-110"/>
          <p:cNvSpPr/>
          <p:nvPr/>
        </p:nvSpPr>
        <p:spPr>
          <a:xfrm>
            <a:off x="8839048" y="4640580"/>
            <a:ext cx="1005840" cy="1005840"/>
          </a:xfrm>
          <a:prstGeom prst="ellipse">
            <a:avLst/>
          </a:prstGeom>
          <a:solidFill>
            <a:schemeClr val="accent1"/>
          </a:solidFill>
          <a:ln/>
        </p:spPr>
      </p:sp>
      <p:sp>
        <p:nvSpPr>
          <p:cNvPr id="20" name="text-111"/>
          <p:cNvSpPr txBox="1"/>
          <p:nvPr/>
        </p:nvSpPr>
        <p:spPr>
          <a:xfrm>
            <a:off x="8839048" y="4640580"/>
            <a:ext cx="1005840" cy="1005840"/>
          </a:xfrm>
          <a:prstGeom prst="rect">
            <a:avLst/>
          </a:prstGeom>
          <a:noFill/>
          <a:ln/>
        </p:spPr>
        <p:txBody>
          <a:bodyPr wrap="square" lIns="0" tIns="0" rIns="0" bIns="0" rtlCol="0" anchor="ctr"/>
          <a:lstStyle/>
          <a:p>
            <a:pPr algn="ctr" indent="0" marL="0">
              <a:buNone/>
            </a:pPr>
            <a:r>
              <a:rPr lang="en-US" sz="3000" dirty="0">
                <a:solidFill>
                  <a:schemeClr val="bg1"/>
                </a:solidFill>
              </a:rPr>
              <a:t>♥</a:t>
            </a:r>
            <a:endParaRPr lang="en-US" sz="3000" dirty="0"/>
          </a:p>
        </p:txBody>
      </p:sp>
      <p:sp>
        <p:nvSpPr>
          <p:cNvPr id="21" name="text-112"/>
          <p:cNvSpPr txBox="1"/>
          <p:nvPr/>
        </p:nvSpPr>
        <p:spPr>
          <a:xfrm>
            <a:off x="9982048" y="4732020"/>
            <a:ext cx="2103120" cy="822960"/>
          </a:xfrm>
          <a:prstGeom prst="rect">
            <a:avLst/>
          </a:prstGeom>
          <a:noFill/>
          <a:ln/>
        </p:spPr>
        <p:txBody>
          <a:bodyPr wrap="square" lIns="0" tIns="0" rIns="0" bIns="0" rtlCol="0" anchor="t"/>
          <a:lstStyle/>
          <a:p>
            <a:pPr indent="0" marL="0">
              <a:buNone/>
            </a:pPr>
            <a:r>
              <a:rPr lang="en-US" sz="2400" b="1" dirty="0">
                <a:solidFill>
                  <a:schemeClr val="accent1"/>
                </a:solidFill>
              </a:rPr>
              <a:t>찜꽁</a:t>
            </a:r>
            <a:endParaRPr lang="en-US" sz="1600" dirty="0"/>
          </a:p>
          <a:p>
            <a:pPr indent="0" marL="0">
              <a:buNone/>
            </a:pPr>
            <a:r>
              <a:rPr lang="en-US" sz="1400" dirty="0">
                <a:solidFill>
                  <a:schemeClr val="tx2"/>
                </a:solidFill>
              </a:rPr>
              <a:t>비용률 약 3~5%</a:t>
            </a:r>
            <a:endParaRPr lang="en-US" sz="16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05 · 소비자 설문 130명</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찜 고객은 "누르겠다"고 답했다</a:t>
            </a:r>
            <a:endParaRPr lang="en-US" sz="3600" dirty="0"/>
          </a:p>
        </p:txBody>
      </p:sp>
      <p:graphicFrame>
        <p:nvGraphicFramePr>
          <p:cNvPr id="5" name="donut-113" descr=""/>
          <p:cNvGraphicFramePr/>
          <p:nvPr/>
        </p:nvGraphicFramePr>
        <p:xfrm>
          <a:off x="1087069" y="1783080"/>
          <a:ext cx="2743200" cy="2743200"/>
        </p:xfrm>
        <a:graphic xmlns:a="http://schemas.openxmlformats.org/drawingml/2006/main">
          <a:graphicData uri="http://schemas.openxmlformats.org/drawingml/2006/chart">
            <c:chart xmlns:c="http://schemas.openxmlformats.org/drawingml/2006/chart" r:id="rId1"/>
          </a:graphicData>
        </a:graphic>
      </p:graphicFrame>
      <p:sp>
        <p:nvSpPr>
          <p:cNvPr id="6" name="text-114"/>
          <p:cNvSpPr txBox="1"/>
          <p:nvPr/>
        </p:nvSpPr>
        <p:spPr>
          <a:xfrm>
            <a:off x="1087069" y="1783080"/>
            <a:ext cx="2743200" cy="2743200"/>
          </a:xfrm>
          <a:prstGeom prst="rect">
            <a:avLst/>
          </a:prstGeom>
          <a:noFill/>
          <a:ln/>
        </p:spPr>
        <p:txBody>
          <a:bodyPr wrap="square" lIns="0" tIns="0" rIns="0" bIns="0" rtlCol="0" anchor="ctr"/>
          <a:lstStyle/>
          <a:p>
            <a:pPr algn="ctr" indent="0" marL="0">
              <a:buNone/>
            </a:pPr>
            <a:r>
              <a:rPr lang="en-US" sz="3400" b="1" dirty="0">
                <a:solidFill>
                  <a:schemeClr val="tx1"/>
                </a:solidFill>
              </a:rPr>
              <a:t>100%</a:t>
            </a:r>
            <a:endParaRPr lang="en-US" sz="3400" dirty="0"/>
          </a:p>
        </p:txBody>
      </p:sp>
      <p:sp>
        <p:nvSpPr>
          <p:cNvPr id="7" name="text-115"/>
          <p:cNvSpPr txBox="1"/>
          <p:nvPr/>
        </p:nvSpPr>
        <p:spPr>
          <a:xfrm>
            <a:off x="640080" y="4709160"/>
            <a:ext cx="3637178" cy="731520"/>
          </a:xfrm>
          <a:prstGeom prst="rect">
            <a:avLst/>
          </a:prstGeom>
          <a:noFill/>
          <a:ln/>
        </p:spPr>
        <p:txBody>
          <a:bodyPr wrap="square" lIns="0" tIns="0" rIns="0" bIns="0" rtlCol="0" anchor="t"/>
          <a:lstStyle/>
          <a:p>
            <a:pPr algn="ctr" indent="0" marL="0">
              <a:buNone/>
            </a:pPr>
            <a:r>
              <a:rPr lang="en-US" sz="1800" b="1" dirty="0">
                <a:solidFill>
                  <a:schemeClr val="tx2"/>
                </a:solidFill>
              </a:rPr>
              <a:t>결제 없는 신청</a:t>
            </a:r>
            <a:endParaRPr lang="en-US" sz="1800" dirty="0"/>
          </a:p>
          <a:p>
            <a:pPr algn="ctr" indent="0" marL="0">
              <a:buNone/>
            </a:pPr>
            <a:r>
              <a:rPr lang="en-US" sz="1800" b="1" dirty="0">
                <a:solidFill>
                  <a:schemeClr val="tx2"/>
                </a:solidFill>
              </a:rPr>
              <a:t>누르겠다</a:t>
            </a:r>
            <a:endParaRPr lang="en-US" sz="1800" dirty="0"/>
          </a:p>
        </p:txBody>
      </p:sp>
      <p:graphicFrame>
        <p:nvGraphicFramePr>
          <p:cNvPr id="8" name="donut-116" descr=""/>
          <p:cNvGraphicFramePr/>
          <p:nvPr/>
        </p:nvGraphicFramePr>
        <p:xfrm>
          <a:off x="4724248" y="1783080"/>
          <a:ext cx="2743200" cy="2743200"/>
        </p:xfrm>
        <a:graphic xmlns:a="http://schemas.openxmlformats.org/drawingml/2006/main">
          <a:graphicData uri="http://schemas.openxmlformats.org/drawingml/2006/chart">
            <c:chart xmlns:c="http://schemas.openxmlformats.org/drawingml/2006/chart" r:id="rId2"/>
          </a:graphicData>
        </a:graphic>
      </p:graphicFrame>
      <p:sp>
        <p:nvSpPr>
          <p:cNvPr id="9" name="text-117"/>
          <p:cNvSpPr txBox="1"/>
          <p:nvPr/>
        </p:nvSpPr>
        <p:spPr>
          <a:xfrm>
            <a:off x="4724248" y="1783080"/>
            <a:ext cx="2743200" cy="2743200"/>
          </a:xfrm>
          <a:prstGeom prst="rect">
            <a:avLst/>
          </a:prstGeom>
          <a:noFill/>
          <a:ln/>
        </p:spPr>
        <p:txBody>
          <a:bodyPr wrap="square" lIns="0" tIns="0" rIns="0" bIns="0" rtlCol="0" anchor="ctr"/>
          <a:lstStyle/>
          <a:p>
            <a:pPr algn="ctr" indent="0" marL="0">
              <a:buNone/>
            </a:pPr>
            <a:r>
              <a:rPr lang="en-US" sz="3400" b="1" dirty="0">
                <a:solidFill>
                  <a:schemeClr val="tx1"/>
                </a:solidFill>
              </a:rPr>
              <a:t>77%</a:t>
            </a:r>
            <a:endParaRPr lang="en-US" sz="3400" dirty="0"/>
          </a:p>
        </p:txBody>
      </p:sp>
      <p:sp>
        <p:nvSpPr>
          <p:cNvPr id="10" name="text-118"/>
          <p:cNvSpPr txBox="1"/>
          <p:nvPr/>
        </p:nvSpPr>
        <p:spPr>
          <a:xfrm>
            <a:off x="4277258" y="4709160"/>
            <a:ext cx="3637178" cy="731520"/>
          </a:xfrm>
          <a:prstGeom prst="rect">
            <a:avLst/>
          </a:prstGeom>
          <a:noFill/>
          <a:ln/>
        </p:spPr>
        <p:txBody>
          <a:bodyPr wrap="square" lIns="0" tIns="0" rIns="0" bIns="0" rtlCol="0" anchor="t"/>
          <a:lstStyle/>
          <a:p>
            <a:pPr algn="ctr" indent="0" marL="0">
              <a:buNone/>
            </a:pPr>
            <a:r>
              <a:rPr lang="en-US" sz="1800" b="1" dirty="0">
                <a:solidFill>
                  <a:schemeClr val="tx2"/>
                </a:solidFill>
              </a:rPr>
              <a:t>72시간 안에</a:t>
            </a:r>
            <a:endParaRPr lang="en-US" sz="1800" dirty="0"/>
          </a:p>
          <a:p>
            <a:pPr algn="ctr" indent="0" marL="0">
              <a:buNone/>
            </a:pPr>
            <a:r>
              <a:rPr lang="en-US" sz="1800" b="1" dirty="0">
                <a:solidFill>
                  <a:schemeClr val="tx2"/>
                </a:solidFill>
              </a:rPr>
              <a:t>결제하겠다</a:t>
            </a:r>
            <a:endParaRPr lang="en-US" sz="1800" dirty="0"/>
          </a:p>
        </p:txBody>
      </p:sp>
      <p:graphicFrame>
        <p:nvGraphicFramePr>
          <p:cNvPr id="11" name="donut-119" descr=""/>
          <p:cNvGraphicFramePr/>
          <p:nvPr/>
        </p:nvGraphicFramePr>
        <p:xfrm>
          <a:off x="8361426" y="1783080"/>
          <a:ext cx="2743200" cy="2743200"/>
        </p:xfrm>
        <a:graphic xmlns:a="http://schemas.openxmlformats.org/drawingml/2006/main">
          <a:graphicData uri="http://schemas.openxmlformats.org/drawingml/2006/chart">
            <c:chart xmlns:c="http://schemas.openxmlformats.org/drawingml/2006/chart" r:id="rId3"/>
          </a:graphicData>
        </a:graphic>
      </p:graphicFrame>
      <p:sp>
        <p:nvSpPr>
          <p:cNvPr id="12" name="text-120"/>
          <p:cNvSpPr txBox="1"/>
          <p:nvPr/>
        </p:nvSpPr>
        <p:spPr>
          <a:xfrm>
            <a:off x="8361426" y="1783080"/>
            <a:ext cx="2743200" cy="2743200"/>
          </a:xfrm>
          <a:prstGeom prst="rect">
            <a:avLst/>
          </a:prstGeom>
          <a:noFill/>
          <a:ln/>
        </p:spPr>
        <p:txBody>
          <a:bodyPr wrap="square" lIns="0" tIns="0" rIns="0" bIns="0" rtlCol="0" anchor="ctr"/>
          <a:lstStyle/>
          <a:p>
            <a:pPr algn="ctr" indent="0" marL="0">
              <a:buNone/>
            </a:pPr>
            <a:r>
              <a:rPr lang="en-US" sz="3400" b="1" dirty="0">
                <a:solidFill>
                  <a:schemeClr val="tx1"/>
                </a:solidFill>
              </a:rPr>
              <a:t>62%</a:t>
            </a:r>
            <a:endParaRPr lang="en-US" sz="3400" dirty="0"/>
          </a:p>
        </p:txBody>
      </p:sp>
      <p:sp>
        <p:nvSpPr>
          <p:cNvPr id="13" name="text-121"/>
          <p:cNvSpPr txBox="1"/>
          <p:nvPr/>
        </p:nvSpPr>
        <p:spPr>
          <a:xfrm>
            <a:off x="7914437" y="4709160"/>
            <a:ext cx="3637178" cy="731520"/>
          </a:xfrm>
          <a:prstGeom prst="rect">
            <a:avLst/>
          </a:prstGeom>
          <a:noFill/>
          <a:ln/>
        </p:spPr>
        <p:txBody>
          <a:bodyPr wrap="square" lIns="0" tIns="0" rIns="0" bIns="0" rtlCol="0" anchor="t"/>
          <a:lstStyle/>
          <a:p>
            <a:pPr algn="ctr" indent="0" marL="0">
              <a:buNone/>
            </a:pPr>
            <a:r>
              <a:rPr lang="en-US" sz="1800" b="1" dirty="0">
                <a:solidFill>
                  <a:schemeClr val="tx2"/>
                </a:solidFill>
              </a:rPr>
              <a:t>찜한 상품 문자</a:t>
            </a:r>
            <a:endParaRPr lang="en-US" sz="1800" dirty="0"/>
          </a:p>
          <a:p>
            <a:pPr algn="ctr" indent="0" marL="0">
              <a:buNone/>
            </a:pPr>
            <a:r>
              <a:rPr lang="en-US" sz="1800" b="1" dirty="0">
                <a:solidFill>
                  <a:schemeClr val="tx2"/>
                </a:solidFill>
              </a:rPr>
              <a:t>괜찮다</a:t>
            </a:r>
            <a:endParaRPr lang="en-US" sz="1800" dirty="0"/>
          </a:p>
        </p:txBody>
      </p:sp>
      <p:sp>
        <p:nvSpPr>
          <p:cNvPr id="14" name="card-122"/>
          <p:cNvSpPr/>
          <p:nvPr/>
        </p:nvSpPr>
        <p:spPr>
          <a:xfrm>
            <a:off x="2468880" y="5532120"/>
            <a:ext cx="7253935" cy="548640"/>
          </a:xfrm>
          <a:prstGeom prst="roundRect">
            <a:avLst>
              <a:gd name="adj" fmla="val 25000"/>
            </a:avLst>
          </a:prstGeom>
          <a:solidFill>
            <a:schemeClr val="bg2"/>
          </a:solidFill>
          <a:ln/>
        </p:spPr>
      </p:sp>
      <p:sp>
        <p:nvSpPr>
          <p:cNvPr id="15" name="text-123"/>
          <p:cNvSpPr txBox="1"/>
          <p:nvPr/>
        </p:nvSpPr>
        <p:spPr>
          <a:xfrm>
            <a:off x="2468880" y="5532120"/>
            <a:ext cx="7253935" cy="548640"/>
          </a:xfrm>
          <a:prstGeom prst="rect">
            <a:avLst/>
          </a:prstGeom>
          <a:noFill/>
          <a:ln/>
        </p:spPr>
        <p:txBody>
          <a:bodyPr wrap="square" lIns="0" tIns="0" rIns="0" bIns="0" rtlCol="0" anchor="ctr"/>
          <a:lstStyle/>
          <a:p>
            <a:pPr algn="ctr" indent="0" marL="0">
              <a:buNone/>
            </a:pPr>
            <a:r>
              <a:rPr lang="en-US" sz="1500" b="1" dirty="0">
                <a:solidFill>
                  <a:schemeClr val="accent1"/>
                </a:solidFill>
              </a:rPr>
              <a:t>판매자 인터뷰 5개 업종 → 홈리빙·육아용품 1위 (10 / 16점)</a:t>
            </a:r>
            <a:endParaRPr lang="en-US" sz="1500" dirty="0"/>
          </a:p>
        </p:txBody>
      </p:sp>
      <p:sp>
        <p:nvSpPr>
          <p:cNvPr id="16" name="text-124"/>
          <p:cNvSpPr txBox="1"/>
          <p:nvPr/>
        </p:nvSpPr>
        <p:spPr>
          <a:xfrm>
            <a:off x="640080" y="6355080"/>
            <a:ext cx="9814255" cy="274320"/>
          </a:xfrm>
          <a:prstGeom prst="rect">
            <a:avLst/>
          </a:prstGeom>
          <a:noFill/>
          <a:ln/>
        </p:spPr>
        <p:txBody>
          <a:bodyPr wrap="square" lIns="0" tIns="0" rIns="0" bIns="0" rtlCol="0" anchor="t"/>
          <a:lstStyle/>
          <a:p>
            <a:pPr indent="0" marL="0">
              <a:buNone/>
            </a:pPr>
            <a:r>
              <a:rPr lang="en-US" sz="1000" dirty="0">
                <a:solidFill>
                  <a:schemeClr val="tx2"/>
                </a:solidFill>
              </a:rPr>
              <a:t>구글폼 소비자 설문 2026.10.14 · 의향 응답 기준</a:t>
            </a:r>
            <a:endParaRPr lang="en-US" sz="1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06 · 타깃과 시장</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카페24 홈리빙부터 시작</a:t>
            </a:r>
            <a:endParaRPr lang="en-US" sz="3600" dirty="0"/>
          </a:p>
        </p:txBody>
      </p:sp>
      <p:sp>
        <p:nvSpPr>
          <p:cNvPr id="5" name="circle-125"/>
          <p:cNvSpPr/>
          <p:nvPr/>
        </p:nvSpPr>
        <p:spPr>
          <a:xfrm>
            <a:off x="914400" y="1783080"/>
            <a:ext cx="4389120" cy="4389120"/>
          </a:xfrm>
          <a:prstGeom prst="ellipse">
            <a:avLst/>
          </a:prstGeom>
          <a:solidFill>
            <a:schemeClr val="accent6"/>
          </a:solidFill>
          <a:ln/>
        </p:spPr>
      </p:sp>
      <p:sp>
        <p:nvSpPr>
          <p:cNvPr id="6" name="text-126"/>
          <p:cNvSpPr txBox="1"/>
          <p:nvPr/>
        </p:nvSpPr>
        <p:spPr>
          <a:xfrm>
            <a:off x="914400" y="2011680"/>
            <a:ext cx="4389120" cy="365760"/>
          </a:xfrm>
          <a:prstGeom prst="rect">
            <a:avLst/>
          </a:prstGeom>
          <a:noFill/>
          <a:ln/>
        </p:spPr>
        <p:txBody>
          <a:bodyPr wrap="square" lIns="0" tIns="0" rIns="0" bIns="0" rtlCol="0" anchor="t"/>
          <a:lstStyle/>
          <a:p>
            <a:pPr algn="ctr" indent="0" marL="0">
              <a:buNone/>
            </a:pPr>
            <a:r>
              <a:rPr lang="en-US" sz="1600" b="1" dirty="0">
                <a:solidFill>
                  <a:schemeClr val="accent1"/>
                </a:solidFill>
              </a:rPr>
              <a:t>TAM</a:t>
            </a:r>
            <a:endParaRPr lang="en-US" sz="1600" dirty="0"/>
          </a:p>
        </p:txBody>
      </p:sp>
      <p:sp>
        <p:nvSpPr>
          <p:cNvPr id="7" name="circle-127"/>
          <p:cNvSpPr/>
          <p:nvPr/>
        </p:nvSpPr>
        <p:spPr>
          <a:xfrm>
            <a:off x="1691640" y="3337560"/>
            <a:ext cx="2834640" cy="2834640"/>
          </a:xfrm>
          <a:prstGeom prst="ellipse">
            <a:avLst/>
          </a:prstGeom>
          <a:solidFill>
            <a:schemeClr val="accent3"/>
          </a:solidFill>
          <a:ln/>
        </p:spPr>
      </p:sp>
      <p:sp>
        <p:nvSpPr>
          <p:cNvPr id="8" name="text-128"/>
          <p:cNvSpPr txBox="1"/>
          <p:nvPr/>
        </p:nvSpPr>
        <p:spPr>
          <a:xfrm>
            <a:off x="1691640" y="3566160"/>
            <a:ext cx="2834640" cy="365760"/>
          </a:xfrm>
          <a:prstGeom prst="rect">
            <a:avLst/>
          </a:prstGeom>
          <a:noFill/>
          <a:ln/>
        </p:spPr>
        <p:txBody>
          <a:bodyPr wrap="square" lIns="0" tIns="0" rIns="0" bIns="0" rtlCol="0" anchor="t"/>
          <a:lstStyle/>
          <a:p>
            <a:pPr algn="ctr" indent="0" marL="0">
              <a:buNone/>
            </a:pPr>
            <a:r>
              <a:rPr lang="en-US" sz="1600" b="1" dirty="0">
                <a:solidFill>
                  <a:schemeClr val="accent1"/>
                </a:solidFill>
              </a:rPr>
              <a:t>SAM</a:t>
            </a:r>
            <a:endParaRPr lang="en-US" sz="1600" dirty="0"/>
          </a:p>
        </p:txBody>
      </p:sp>
      <p:sp>
        <p:nvSpPr>
          <p:cNvPr id="9" name="circle-129"/>
          <p:cNvSpPr/>
          <p:nvPr/>
        </p:nvSpPr>
        <p:spPr>
          <a:xfrm>
            <a:off x="2468880" y="4892040"/>
            <a:ext cx="1280160" cy="1280160"/>
          </a:xfrm>
          <a:prstGeom prst="ellipse">
            <a:avLst/>
          </a:prstGeom>
          <a:solidFill>
            <a:schemeClr val="accent1"/>
          </a:solidFill>
          <a:ln/>
        </p:spPr>
      </p:sp>
      <p:sp>
        <p:nvSpPr>
          <p:cNvPr id="10" name="text-130"/>
          <p:cNvSpPr txBox="1"/>
          <p:nvPr/>
        </p:nvSpPr>
        <p:spPr>
          <a:xfrm>
            <a:off x="2468880" y="4892040"/>
            <a:ext cx="1280160" cy="1280160"/>
          </a:xfrm>
          <a:prstGeom prst="rect">
            <a:avLst/>
          </a:prstGeom>
          <a:noFill/>
          <a:ln/>
        </p:spPr>
        <p:txBody>
          <a:bodyPr wrap="square" lIns="0" tIns="0" rIns="0" bIns="0" rtlCol="0" anchor="ctr"/>
          <a:lstStyle/>
          <a:p>
            <a:pPr algn="ctr" indent="0" marL="0">
              <a:buNone/>
            </a:pPr>
            <a:r>
              <a:rPr lang="en-US" sz="1600" b="1" dirty="0">
                <a:solidFill>
                  <a:schemeClr val="bg1"/>
                </a:solidFill>
              </a:rPr>
              <a:t>SOM</a:t>
            </a:r>
            <a:endParaRPr lang="en-US" sz="1600" dirty="0"/>
          </a:p>
        </p:txBody>
      </p:sp>
      <p:sp>
        <p:nvSpPr>
          <p:cNvPr id="11" name="text-131"/>
          <p:cNvSpPr txBox="1"/>
          <p:nvPr/>
        </p:nvSpPr>
        <p:spPr>
          <a:xfrm>
            <a:off x="5852160" y="2011680"/>
            <a:ext cx="822960" cy="457200"/>
          </a:xfrm>
          <a:prstGeom prst="rect">
            <a:avLst/>
          </a:prstGeom>
          <a:noFill/>
          <a:ln/>
        </p:spPr>
        <p:txBody>
          <a:bodyPr wrap="square" lIns="0" tIns="0" rIns="0" bIns="0" rtlCol="0" anchor="t"/>
          <a:lstStyle/>
          <a:p>
            <a:pPr indent="0" marL="0">
              <a:buNone/>
            </a:pPr>
            <a:r>
              <a:rPr lang="en-US" sz="1600" b="1" dirty="0">
                <a:solidFill>
                  <a:schemeClr val="tx2"/>
                </a:solidFill>
              </a:rPr>
              <a:t>TAM</a:t>
            </a:r>
            <a:endParaRPr lang="en-US" sz="1600" dirty="0"/>
          </a:p>
        </p:txBody>
      </p:sp>
      <p:sp>
        <p:nvSpPr>
          <p:cNvPr id="12" name="text-132"/>
          <p:cNvSpPr txBox="1"/>
          <p:nvPr/>
        </p:nvSpPr>
        <p:spPr>
          <a:xfrm>
            <a:off x="6766560" y="1874520"/>
            <a:ext cx="2743200" cy="777240"/>
          </a:xfrm>
          <a:prstGeom prst="rect">
            <a:avLst/>
          </a:prstGeom>
          <a:noFill/>
          <a:ln/>
        </p:spPr>
        <p:txBody>
          <a:bodyPr wrap="square" lIns="0" tIns="0" rIns="0" bIns="0" rtlCol="0" anchor="ctr"/>
          <a:lstStyle/>
          <a:p>
            <a:pPr indent="0" marL="0">
              <a:buNone/>
            </a:pPr>
            <a:r>
              <a:rPr lang="en-US" sz="4400" b="1" dirty="0">
                <a:solidFill>
                  <a:schemeClr val="tx1"/>
                </a:solidFill>
              </a:rPr>
              <a:t>5.5조</a:t>
            </a:r>
            <a:endParaRPr lang="en-US" sz="4400" dirty="0"/>
          </a:p>
        </p:txBody>
      </p:sp>
      <p:sp>
        <p:nvSpPr>
          <p:cNvPr id="13" name="text-133"/>
          <p:cNvSpPr txBox="1"/>
          <p:nvPr/>
        </p:nvSpPr>
        <p:spPr>
          <a:xfrm>
            <a:off x="6766560" y="2651760"/>
            <a:ext cx="4754880" cy="365760"/>
          </a:xfrm>
          <a:prstGeom prst="rect">
            <a:avLst/>
          </a:prstGeom>
          <a:noFill/>
          <a:ln/>
        </p:spPr>
        <p:txBody>
          <a:bodyPr wrap="square" lIns="0" tIns="0" rIns="0" bIns="0" rtlCol="0" anchor="t"/>
          <a:lstStyle/>
          <a:p>
            <a:pPr indent="0" marL="0">
              <a:buNone/>
            </a:pPr>
            <a:r>
              <a:rPr lang="en-US" sz="1500" dirty="0">
                <a:solidFill>
                  <a:schemeClr val="tx2"/>
                </a:solidFill>
              </a:rPr>
              <a:t>국내 온라인 홈리빙 거래액</a:t>
            </a:r>
            <a:endParaRPr lang="en-US" sz="1500" dirty="0"/>
          </a:p>
        </p:txBody>
      </p:sp>
      <p:sp>
        <p:nvSpPr>
          <p:cNvPr id="14" name="text-134"/>
          <p:cNvSpPr txBox="1"/>
          <p:nvPr/>
        </p:nvSpPr>
        <p:spPr>
          <a:xfrm>
            <a:off x="5852160" y="3474720"/>
            <a:ext cx="822960" cy="457200"/>
          </a:xfrm>
          <a:prstGeom prst="rect">
            <a:avLst/>
          </a:prstGeom>
          <a:noFill/>
          <a:ln/>
        </p:spPr>
        <p:txBody>
          <a:bodyPr wrap="square" lIns="0" tIns="0" rIns="0" bIns="0" rtlCol="0" anchor="t"/>
          <a:lstStyle/>
          <a:p>
            <a:pPr indent="0" marL="0">
              <a:buNone/>
            </a:pPr>
            <a:r>
              <a:rPr lang="en-US" sz="1600" b="1" dirty="0">
                <a:solidFill>
                  <a:schemeClr val="tx2"/>
                </a:solidFill>
              </a:rPr>
              <a:t>SAM</a:t>
            </a:r>
            <a:endParaRPr lang="en-US" sz="1600" dirty="0"/>
          </a:p>
        </p:txBody>
      </p:sp>
      <p:sp>
        <p:nvSpPr>
          <p:cNvPr id="15" name="text-135"/>
          <p:cNvSpPr txBox="1"/>
          <p:nvPr/>
        </p:nvSpPr>
        <p:spPr>
          <a:xfrm>
            <a:off x="6766560" y="3337560"/>
            <a:ext cx="2743200" cy="777240"/>
          </a:xfrm>
          <a:prstGeom prst="rect">
            <a:avLst/>
          </a:prstGeom>
          <a:noFill/>
          <a:ln/>
        </p:spPr>
        <p:txBody>
          <a:bodyPr wrap="square" lIns="0" tIns="0" rIns="0" bIns="0" rtlCol="0" anchor="ctr"/>
          <a:lstStyle/>
          <a:p>
            <a:pPr indent="0" marL="0">
              <a:buNone/>
            </a:pPr>
            <a:r>
              <a:rPr lang="en-US" sz="4400" b="1" dirty="0">
                <a:solidFill>
                  <a:schemeClr val="accent1"/>
                </a:solidFill>
              </a:rPr>
              <a:t>3,517억</a:t>
            </a:r>
            <a:endParaRPr lang="en-US" sz="4400" dirty="0"/>
          </a:p>
        </p:txBody>
      </p:sp>
      <p:sp>
        <p:nvSpPr>
          <p:cNvPr id="16" name="text-136"/>
          <p:cNvSpPr txBox="1"/>
          <p:nvPr/>
        </p:nvSpPr>
        <p:spPr>
          <a:xfrm>
            <a:off x="6766560" y="4114800"/>
            <a:ext cx="4754880" cy="365760"/>
          </a:xfrm>
          <a:prstGeom prst="rect">
            <a:avLst/>
          </a:prstGeom>
          <a:noFill/>
          <a:ln/>
        </p:spPr>
        <p:txBody>
          <a:bodyPr wrap="square" lIns="0" tIns="0" rIns="0" bIns="0" rtlCol="0" anchor="t"/>
          <a:lstStyle/>
          <a:p>
            <a:pPr indent="0" marL="0">
              <a:buNone/>
            </a:pPr>
            <a:r>
              <a:rPr lang="en-US" sz="1500" dirty="0">
                <a:solidFill>
                  <a:schemeClr val="tx2"/>
                </a:solidFill>
              </a:rPr>
              <a:t>전문몰 가구 거래액 · 첫 공략 시장</a:t>
            </a:r>
            <a:endParaRPr lang="en-US" sz="1500" dirty="0"/>
          </a:p>
        </p:txBody>
      </p:sp>
      <p:sp>
        <p:nvSpPr>
          <p:cNvPr id="17" name="text-137"/>
          <p:cNvSpPr txBox="1"/>
          <p:nvPr/>
        </p:nvSpPr>
        <p:spPr>
          <a:xfrm>
            <a:off x="5852160" y="4937760"/>
            <a:ext cx="822960" cy="457200"/>
          </a:xfrm>
          <a:prstGeom prst="rect">
            <a:avLst/>
          </a:prstGeom>
          <a:noFill/>
          <a:ln/>
        </p:spPr>
        <p:txBody>
          <a:bodyPr wrap="square" lIns="0" tIns="0" rIns="0" bIns="0" rtlCol="0" anchor="t"/>
          <a:lstStyle/>
          <a:p>
            <a:pPr indent="0" marL="0">
              <a:buNone/>
            </a:pPr>
            <a:r>
              <a:rPr lang="en-US" sz="1600" b="1" dirty="0">
                <a:solidFill>
                  <a:schemeClr val="tx2"/>
                </a:solidFill>
              </a:rPr>
              <a:t>SOM</a:t>
            </a:r>
            <a:endParaRPr lang="en-US" sz="1600" dirty="0"/>
          </a:p>
        </p:txBody>
      </p:sp>
      <p:sp>
        <p:nvSpPr>
          <p:cNvPr id="18" name="text-138"/>
          <p:cNvSpPr txBox="1"/>
          <p:nvPr/>
        </p:nvSpPr>
        <p:spPr>
          <a:xfrm>
            <a:off x="6766560" y="4800600"/>
            <a:ext cx="2743200" cy="777240"/>
          </a:xfrm>
          <a:prstGeom prst="rect">
            <a:avLst/>
          </a:prstGeom>
          <a:noFill/>
          <a:ln/>
        </p:spPr>
        <p:txBody>
          <a:bodyPr wrap="square" lIns="0" tIns="0" rIns="0" bIns="0" rtlCol="0" anchor="ctr"/>
          <a:lstStyle/>
          <a:p>
            <a:pPr indent="0" marL="0">
              <a:buNone/>
            </a:pPr>
            <a:r>
              <a:rPr lang="en-US" sz="4400" b="1" dirty="0">
                <a:solidFill>
                  <a:schemeClr val="tx1"/>
                </a:solidFill>
              </a:rPr>
              <a:t>35억</a:t>
            </a:r>
            <a:endParaRPr lang="en-US" sz="4400" dirty="0"/>
          </a:p>
        </p:txBody>
      </p:sp>
      <p:sp>
        <p:nvSpPr>
          <p:cNvPr id="19" name="text-139"/>
          <p:cNvSpPr txBox="1"/>
          <p:nvPr/>
        </p:nvSpPr>
        <p:spPr>
          <a:xfrm>
            <a:off x="6766560" y="5577840"/>
            <a:ext cx="4754880" cy="365760"/>
          </a:xfrm>
          <a:prstGeom prst="rect">
            <a:avLst/>
          </a:prstGeom>
          <a:noFill/>
          <a:ln/>
        </p:spPr>
        <p:txBody>
          <a:bodyPr wrap="square" lIns="0" tIns="0" rIns="0" bIns="0" rtlCol="0" anchor="t"/>
          <a:lstStyle/>
          <a:p>
            <a:pPr indent="0" marL="0">
              <a:buNone/>
            </a:pPr>
            <a:r>
              <a:rPr lang="en-US" sz="1500" dirty="0">
                <a:solidFill>
                  <a:schemeClr val="tx2"/>
                </a:solidFill>
              </a:rPr>
              <a:t>3년 내 1% (거래액)</a:t>
            </a:r>
            <a:endParaRPr lang="en-US" sz="1500" dirty="0"/>
          </a:p>
        </p:txBody>
      </p:sp>
      <p:sp>
        <p:nvSpPr>
          <p:cNvPr id="20" name="text-140"/>
          <p:cNvSpPr txBox="1"/>
          <p:nvPr/>
        </p:nvSpPr>
        <p:spPr>
          <a:xfrm>
            <a:off x="640080" y="6355080"/>
            <a:ext cx="9814255" cy="274320"/>
          </a:xfrm>
          <a:prstGeom prst="rect">
            <a:avLst/>
          </a:prstGeom>
          <a:noFill/>
          <a:ln/>
        </p:spPr>
        <p:txBody>
          <a:bodyPr wrap="square" lIns="0" tIns="0" rIns="0" bIns="0" rtlCol="0" anchor="t"/>
          <a:lstStyle/>
          <a:p>
            <a:pPr indent="0" marL="0">
              <a:buNone/>
            </a:pPr>
            <a:r>
              <a:rPr lang="en-US" sz="1000" dirty="0">
                <a:solidFill>
                  <a:schemeClr val="tx2"/>
                </a:solidFill>
              </a:rPr>
              <a:t>출처: 통계청 「2025년 연간 온라인쇼핑동향」 · SOM은 점유율 가정 추정치</a:t>
            </a:r>
            <a:endParaRPr lang="en-US" sz="1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07 · 수익 모델</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구독료 + 성공했을 때만 수수료</a:t>
            </a:r>
            <a:endParaRPr lang="en-US" sz="3600" dirty="0"/>
          </a:p>
        </p:txBody>
      </p:sp>
      <p:sp>
        <p:nvSpPr>
          <p:cNvPr id="5" name="card-141"/>
          <p:cNvSpPr/>
          <p:nvPr/>
        </p:nvSpPr>
        <p:spPr>
          <a:xfrm>
            <a:off x="640080" y="4572000"/>
            <a:ext cx="1828800" cy="1463040"/>
          </a:xfrm>
          <a:prstGeom prst="roundRect">
            <a:avLst>
              <a:gd name="adj" fmla="val 9375"/>
            </a:avLst>
          </a:prstGeom>
          <a:solidFill>
            <a:schemeClr val="bg2"/>
          </a:solidFill>
          <a:ln/>
        </p:spPr>
      </p:sp>
      <p:sp>
        <p:nvSpPr>
          <p:cNvPr id="6" name="text-142"/>
          <p:cNvSpPr txBox="1"/>
          <p:nvPr/>
        </p:nvSpPr>
        <p:spPr>
          <a:xfrm>
            <a:off x="640080" y="4754880"/>
            <a:ext cx="1828800" cy="594360"/>
          </a:xfrm>
          <a:prstGeom prst="rect">
            <a:avLst/>
          </a:prstGeom>
          <a:noFill/>
          <a:ln/>
        </p:spPr>
        <p:txBody>
          <a:bodyPr wrap="square" lIns="0" tIns="0" rIns="0" bIns="0" rtlCol="0" anchor="ctr"/>
          <a:lstStyle/>
          <a:p>
            <a:pPr algn="ctr" indent="0" marL="0">
              <a:buNone/>
            </a:pPr>
            <a:r>
              <a:rPr lang="en-US" sz="3000" b="1" dirty="0">
                <a:solidFill>
                  <a:schemeClr val="tx1"/>
                </a:solidFill>
              </a:rPr>
              <a:t>0원</a:t>
            </a:r>
            <a:endParaRPr lang="en-US" sz="3000" dirty="0"/>
          </a:p>
        </p:txBody>
      </p:sp>
      <p:sp>
        <p:nvSpPr>
          <p:cNvPr id="7" name="text-143"/>
          <p:cNvSpPr txBox="1"/>
          <p:nvPr/>
        </p:nvSpPr>
        <p:spPr>
          <a:xfrm>
            <a:off x="640080" y="5349240"/>
            <a:ext cx="1828800" cy="411480"/>
          </a:xfrm>
          <a:prstGeom prst="rect">
            <a:avLst/>
          </a:prstGeom>
          <a:noFill/>
          <a:ln/>
        </p:spPr>
        <p:txBody>
          <a:bodyPr wrap="square" lIns="0" tIns="0" rIns="0" bIns="0" rtlCol="0" anchor="t"/>
          <a:lstStyle/>
          <a:p>
            <a:pPr algn="ctr" indent="0" marL="0">
              <a:buNone/>
            </a:pPr>
            <a:r>
              <a:rPr lang="en-US" sz="1800" b="1" dirty="0">
                <a:solidFill>
                  <a:schemeClr val="accent1"/>
                </a:solidFill>
              </a:rPr>
              <a:t>+ 5%</a:t>
            </a:r>
            <a:endParaRPr lang="en-US" sz="1800" dirty="0"/>
          </a:p>
        </p:txBody>
      </p:sp>
      <p:sp>
        <p:nvSpPr>
          <p:cNvPr id="8" name="text-144"/>
          <p:cNvSpPr txBox="1"/>
          <p:nvPr/>
        </p:nvSpPr>
        <p:spPr>
          <a:xfrm>
            <a:off x="640080" y="411480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체험</a:t>
            </a:r>
            <a:endParaRPr lang="en-US" sz="1600" dirty="0"/>
          </a:p>
        </p:txBody>
      </p:sp>
      <p:sp>
        <p:nvSpPr>
          <p:cNvPr id="9" name="card-145"/>
          <p:cNvSpPr/>
          <p:nvPr/>
        </p:nvSpPr>
        <p:spPr>
          <a:xfrm>
            <a:off x="2788920" y="3657600"/>
            <a:ext cx="1828800" cy="2377440"/>
          </a:xfrm>
          <a:prstGeom prst="roundRect">
            <a:avLst>
              <a:gd name="adj" fmla="val 7500"/>
            </a:avLst>
          </a:prstGeom>
          <a:solidFill>
            <a:schemeClr val="accent1"/>
          </a:solidFill>
          <a:ln/>
        </p:spPr>
      </p:sp>
      <p:sp>
        <p:nvSpPr>
          <p:cNvPr id="10" name="text-146"/>
          <p:cNvSpPr txBox="1"/>
          <p:nvPr/>
        </p:nvSpPr>
        <p:spPr>
          <a:xfrm>
            <a:off x="2788920" y="3840480"/>
            <a:ext cx="1828800" cy="594360"/>
          </a:xfrm>
          <a:prstGeom prst="rect">
            <a:avLst/>
          </a:prstGeom>
          <a:noFill/>
          <a:ln/>
        </p:spPr>
        <p:txBody>
          <a:bodyPr wrap="square" lIns="0" tIns="0" rIns="0" bIns="0" rtlCol="0" anchor="ctr"/>
          <a:lstStyle/>
          <a:p>
            <a:pPr algn="ctr" indent="0" marL="0">
              <a:buNone/>
            </a:pPr>
            <a:r>
              <a:rPr lang="en-US" sz="3000" b="1" dirty="0">
                <a:solidFill>
                  <a:schemeClr val="bg1"/>
                </a:solidFill>
              </a:rPr>
              <a:t>2.9만</a:t>
            </a:r>
            <a:endParaRPr lang="en-US" sz="3000" dirty="0"/>
          </a:p>
        </p:txBody>
      </p:sp>
      <p:sp>
        <p:nvSpPr>
          <p:cNvPr id="11" name="text-147"/>
          <p:cNvSpPr txBox="1"/>
          <p:nvPr/>
        </p:nvSpPr>
        <p:spPr>
          <a:xfrm>
            <a:off x="2788920" y="4434840"/>
            <a:ext cx="1828800" cy="411480"/>
          </a:xfrm>
          <a:prstGeom prst="rect">
            <a:avLst/>
          </a:prstGeom>
          <a:noFill/>
          <a:ln/>
        </p:spPr>
        <p:txBody>
          <a:bodyPr wrap="square" lIns="0" tIns="0" rIns="0" bIns="0" rtlCol="0" anchor="t"/>
          <a:lstStyle/>
          <a:p>
            <a:pPr algn="ctr" indent="0" marL="0">
              <a:buNone/>
            </a:pPr>
            <a:r>
              <a:rPr lang="en-US" sz="1800" b="1" dirty="0">
                <a:solidFill>
                  <a:schemeClr val="bg1"/>
                </a:solidFill>
              </a:rPr>
              <a:t>+ 3%</a:t>
            </a:r>
            <a:endParaRPr lang="en-US" sz="1800" dirty="0"/>
          </a:p>
        </p:txBody>
      </p:sp>
      <p:sp>
        <p:nvSpPr>
          <p:cNvPr id="12" name="text-148"/>
          <p:cNvSpPr txBox="1"/>
          <p:nvPr/>
        </p:nvSpPr>
        <p:spPr>
          <a:xfrm>
            <a:off x="2788920" y="320040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스타터</a:t>
            </a:r>
            <a:endParaRPr lang="en-US" sz="1600" dirty="0"/>
          </a:p>
        </p:txBody>
      </p:sp>
      <p:sp>
        <p:nvSpPr>
          <p:cNvPr id="13" name="card-149"/>
          <p:cNvSpPr/>
          <p:nvPr/>
        </p:nvSpPr>
        <p:spPr>
          <a:xfrm>
            <a:off x="4937760" y="2743200"/>
            <a:ext cx="1828800" cy="3291840"/>
          </a:xfrm>
          <a:prstGeom prst="roundRect">
            <a:avLst>
              <a:gd name="adj" fmla="val 7500"/>
            </a:avLst>
          </a:prstGeom>
          <a:solidFill>
            <a:schemeClr val="bg2"/>
          </a:solidFill>
          <a:ln/>
        </p:spPr>
      </p:sp>
      <p:sp>
        <p:nvSpPr>
          <p:cNvPr id="14" name="text-150"/>
          <p:cNvSpPr txBox="1"/>
          <p:nvPr/>
        </p:nvSpPr>
        <p:spPr>
          <a:xfrm>
            <a:off x="4937760" y="2926080"/>
            <a:ext cx="1828800" cy="594360"/>
          </a:xfrm>
          <a:prstGeom prst="rect">
            <a:avLst/>
          </a:prstGeom>
          <a:noFill/>
          <a:ln/>
        </p:spPr>
        <p:txBody>
          <a:bodyPr wrap="square" lIns="0" tIns="0" rIns="0" bIns="0" rtlCol="0" anchor="ctr"/>
          <a:lstStyle/>
          <a:p>
            <a:pPr algn="ctr" indent="0" marL="0">
              <a:buNone/>
            </a:pPr>
            <a:r>
              <a:rPr lang="en-US" sz="3000" b="1" dirty="0">
                <a:solidFill>
                  <a:schemeClr val="tx1"/>
                </a:solidFill>
              </a:rPr>
              <a:t>7.9만</a:t>
            </a:r>
            <a:endParaRPr lang="en-US" sz="3000" dirty="0"/>
          </a:p>
        </p:txBody>
      </p:sp>
      <p:sp>
        <p:nvSpPr>
          <p:cNvPr id="15" name="text-151"/>
          <p:cNvSpPr txBox="1"/>
          <p:nvPr/>
        </p:nvSpPr>
        <p:spPr>
          <a:xfrm>
            <a:off x="4937760" y="3520440"/>
            <a:ext cx="1828800" cy="411480"/>
          </a:xfrm>
          <a:prstGeom prst="rect">
            <a:avLst/>
          </a:prstGeom>
          <a:noFill/>
          <a:ln/>
        </p:spPr>
        <p:txBody>
          <a:bodyPr wrap="square" lIns="0" tIns="0" rIns="0" bIns="0" rtlCol="0" anchor="t"/>
          <a:lstStyle/>
          <a:p>
            <a:pPr algn="ctr" indent="0" marL="0">
              <a:buNone/>
            </a:pPr>
            <a:r>
              <a:rPr lang="en-US" sz="1800" b="1" dirty="0">
                <a:solidFill>
                  <a:schemeClr val="accent1"/>
                </a:solidFill>
              </a:rPr>
              <a:t>+ 2%</a:t>
            </a:r>
            <a:endParaRPr lang="en-US" sz="1800" dirty="0"/>
          </a:p>
        </p:txBody>
      </p:sp>
      <p:sp>
        <p:nvSpPr>
          <p:cNvPr id="16" name="text-152"/>
          <p:cNvSpPr txBox="1"/>
          <p:nvPr/>
        </p:nvSpPr>
        <p:spPr>
          <a:xfrm>
            <a:off x="4937760" y="228600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그로스</a:t>
            </a:r>
            <a:endParaRPr lang="en-US" sz="1600" dirty="0"/>
          </a:p>
        </p:txBody>
      </p:sp>
      <p:sp>
        <p:nvSpPr>
          <p:cNvPr id="17" name="text-153"/>
          <p:cNvSpPr txBox="1"/>
          <p:nvPr/>
        </p:nvSpPr>
        <p:spPr>
          <a:xfrm>
            <a:off x="640080" y="1691640"/>
            <a:ext cx="5943600" cy="365760"/>
          </a:xfrm>
          <a:prstGeom prst="rect">
            <a:avLst/>
          </a:prstGeom>
          <a:noFill/>
          <a:ln/>
        </p:spPr>
        <p:txBody>
          <a:bodyPr wrap="square" lIns="0" tIns="0" rIns="0" bIns="0" rtlCol="0" anchor="t"/>
          <a:lstStyle/>
          <a:p>
            <a:pPr indent="0" marL="0">
              <a:buNone/>
            </a:pPr>
            <a:r>
              <a:rPr lang="en-US" sz="1400" dirty="0">
                <a:solidFill>
                  <a:schemeClr val="tx2"/>
                </a:solidFill>
              </a:rPr>
              <a:t>월 구독료 + 수수료</a:t>
            </a:r>
            <a:endParaRPr lang="en-US" sz="1400" dirty="0"/>
          </a:p>
        </p:txBody>
      </p:sp>
      <p:sp>
        <p:nvSpPr>
          <p:cNvPr id="18" name="card-154"/>
          <p:cNvSpPr/>
          <p:nvPr/>
        </p:nvSpPr>
        <p:spPr>
          <a:xfrm>
            <a:off x="7223760" y="1828800"/>
            <a:ext cx="4327855" cy="4206240"/>
          </a:xfrm>
          <a:prstGeom prst="roundRect">
            <a:avLst>
              <a:gd name="adj" fmla="val 3261"/>
            </a:avLst>
          </a:prstGeom>
          <a:solidFill>
            <a:schemeClr val="tx1"/>
          </a:solidFill>
          <a:ln/>
        </p:spPr>
      </p:sp>
      <p:sp>
        <p:nvSpPr>
          <p:cNvPr id="19" name="text-155"/>
          <p:cNvSpPr txBox="1"/>
          <p:nvPr/>
        </p:nvSpPr>
        <p:spPr>
          <a:xfrm>
            <a:off x="7635240" y="2103120"/>
            <a:ext cx="3504895" cy="365760"/>
          </a:xfrm>
          <a:prstGeom prst="rect">
            <a:avLst/>
          </a:prstGeom>
          <a:noFill/>
          <a:ln/>
        </p:spPr>
        <p:txBody>
          <a:bodyPr wrap="square" lIns="0" tIns="0" rIns="0" bIns="0" rtlCol="0" anchor="t"/>
          <a:lstStyle/>
          <a:p>
            <a:pPr indent="0" marL="0">
              <a:buNone/>
            </a:pPr>
            <a:r>
              <a:rPr lang="en-US" sz="1500" b="1" dirty="0">
                <a:solidFill>
                  <a:schemeClr val="accent2"/>
                </a:solidFill>
              </a:rPr>
              <a:t>스타터 몰 1곳 · 월</a:t>
            </a:r>
            <a:endParaRPr lang="en-US" sz="1500" dirty="0"/>
          </a:p>
        </p:txBody>
      </p:sp>
      <p:sp>
        <p:nvSpPr>
          <p:cNvPr id="20" name="text-156"/>
          <p:cNvSpPr txBox="1"/>
          <p:nvPr/>
        </p:nvSpPr>
        <p:spPr>
          <a:xfrm>
            <a:off x="7635240" y="2560320"/>
            <a:ext cx="3504895" cy="1005840"/>
          </a:xfrm>
          <a:prstGeom prst="rect">
            <a:avLst/>
          </a:prstGeom>
          <a:noFill/>
          <a:ln/>
        </p:spPr>
        <p:txBody>
          <a:bodyPr wrap="square" lIns="0" tIns="0" rIns="0" bIns="0" rtlCol="0" anchor="ctr"/>
          <a:lstStyle/>
          <a:p>
            <a:pPr indent="0" marL="0">
              <a:buNone/>
            </a:pPr>
            <a:r>
              <a:rPr lang="en-US" sz="6000" b="1" dirty="0">
                <a:solidFill>
                  <a:schemeClr val="bg1"/>
                </a:solidFill>
              </a:rPr>
              <a:t>59만 원</a:t>
            </a:r>
            <a:endParaRPr lang="en-US" sz="6000" dirty="0"/>
          </a:p>
        </p:txBody>
      </p:sp>
      <p:sp>
        <p:nvSpPr>
          <p:cNvPr id="21" name="text-157"/>
          <p:cNvSpPr txBox="1"/>
          <p:nvPr/>
        </p:nvSpPr>
        <p:spPr>
          <a:xfrm>
            <a:off x="7635240" y="3566160"/>
            <a:ext cx="3504895" cy="365760"/>
          </a:xfrm>
          <a:prstGeom prst="rect">
            <a:avLst/>
          </a:prstGeom>
          <a:noFill/>
          <a:ln/>
        </p:spPr>
        <p:txBody>
          <a:bodyPr wrap="square" lIns="0" tIns="0" rIns="0" bIns="0" rtlCol="0" anchor="t"/>
          <a:lstStyle/>
          <a:p>
            <a:pPr indent="0" marL="0">
              <a:buNone/>
            </a:pPr>
            <a:r>
              <a:rPr lang="en-US" sz="1600" dirty="0">
                <a:solidFill>
                  <a:schemeClr val="accent5"/>
                </a:solidFill>
              </a:rPr>
              <a:t>우리 매출</a:t>
            </a:r>
            <a:endParaRPr lang="en-US" sz="1600" dirty="0"/>
          </a:p>
        </p:txBody>
      </p:sp>
      <p:sp>
        <p:nvSpPr>
          <p:cNvPr id="22" name="text-158"/>
          <p:cNvSpPr txBox="1"/>
          <p:nvPr/>
        </p:nvSpPr>
        <p:spPr>
          <a:xfrm>
            <a:off x="7635240" y="4160520"/>
            <a:ext cx="3504895" cy="1005840"/>
          </a:xfrm>
          <a:prstGeom prst="rect">
            <a:avLst/>
          </a:prstGeom>
          <a:noFill/>
          <a:ln/>
        </p:spPr>
        <p:txBody>
          <a:bodyPr wrap="square" lIns="0" tIns="0" rIns="0" bIns="0" rtlCol="0" anchor="ctr"/>
          <a:lstStyle/>
          <a:p>
            <a:pPr indent="0" marL="0">
              <a:buNone/>
            </a:pPr>
            <a:r>
              <a:rPr lang="en-US" sz="6000" b="1" dirty="0">
                <a:solidFill>
                  <a:schemeClr val="accent2"/>
                </a:solidFill>
              </a:rPr>
              <a:t>77%</a:t>
            </a:r>
            <a:endParaRPr lang="en-US" sz="6000" dirty="0"/>
          </a:p>
        </p:txBody>
      </p:sp>
      <p:sp>
        <p:nvSpPr>
          <p:cNvPr id="23" name="text-159"/>
          <p:cNvSpPr txBox="1"/>
          <p:nvPr/>
        </p:nvSpPr>
        <p:spPr>
          <a:xfrm>
            <a:off x="7635240" y="5166360"/>
            <a:ext cx="3504895" cy="365760"/>
          </a:xfrm>
          <a:prstGeom prst="rect">
            <a:avLst/>
          </a:prstGeom>
          <a:noFill/>
          <a:ln/>
        </p:spPr>
        <p:txBody>
          <a:bodyPr wrap="square" lIns="0" tIns="0" rIns="0" bIns="0" rtlCol="0" anchor="t"/>
          <a:lstStyle/>
          <a:p>
            <a:pPr indent="0" marL="0">
              <a:buNone/>
            </a:pPr>
            <a:r>
              <a:rPr lang="en-US" sz="1600" dirty="0">
                <a:solidFill>
                  <a:schemeClr val="accent5"/>
                </a:solidFill>
              </a:rPr>
              <a:t>공헌이익률</a:t>
            </a:r>
            <a:endParaRPr lang="en-US" sz="1600" dirty="0"/>
          </a:p>
        </p:txBody>
      </p:sp>
      <p:sp>
        <p:nvSpPr>
          <p:cNvPr id="24" name="text-160"/>
          <p:cNvSpPr txBox="1"/>
          <p:nvPr/>
        </p:nvSpPr>
        <p:spPr>
          <a:xfrm>
            <a:off x="640080" y="6355080"/>
            <a:ext cx="9814255" cy="274320"/>
          </a:xfrm>
          <a:prstGeom prst="rect">
            <a:avLst/>
          </a:prstGeom>
          <a:noFill/>
          <a:ln/>
        </p:spPr>
        <p:txBody>
          <a:bodyPr wrap="square" lIns="0" tIns="0" rIns="0" bIns="0" rtlCol="0" anchor="t"/>
          <a:lstStyle/>
          <a:p>
            <a:pPr indent="0" marL="0">
              <a:buNone/>
            </a:pPr>
            <a:r>
              <a:rPr lang="en-US" sz="1000" dirty="0">
                <a:solidFill>
                  <a:schemeClr val="tx2"/>
                </a:solidFill>
              </a:rPr>
              <a:t>추정치 · 월 공구 2회, 신청 10%, 결제 60%, 객단가 77,900원 가정 · 목표 미달 시 수수료 0원</a:t>
            </a:r>
            <a:endParaRPr lang="en-US" sz="1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320040"/>
          </a:xfrm>
          <a:prstGeom prst="rect">
            <a:avLst/>
          </a:prstGeom>
          <a:noFill/>
          <a:ln/>
        </p:spPr>
        <p:txBody>
          <a:bodyPr wrap="square" lIns="0" tIns="0" rIns="0" bIns="0" rtlCol="0"/>
          <a:lstStyle/>
          <a:p>
            <a:pPr algn="l" indent="0" marL="0">
              <a:buNone/>
            </a:pPr>
            <a:r>
              <a:rPr lang="en-US" sz="1300" b="1" dirty="0">
                <a:solidFill>
                  <a:schemeClr val="accent1"/>
                </a:solidFill>
              </a:rPr>
              <a:t>08 · 4주 파일럿</a:t>
            </a:r>
            <a:endParaRPr lang="en-US" sz="1300" dirty="0"/>
          </a:p>
        </p:txBody>
      </p:sp>
      <p:sp>
        <p:nvSpPr>
          <p:cNvPr id="3" name="Text 0"/>
          <p:cNvSpPr/>
          <p:nvPr>
            <p:ph idx="101" type="title" hasCustomPrompt="1"/>
          </p:nvPr>
        </p:nvSpPr>
        <p:spPr>
          <a:xfrm>
            <a:off x="640080" y="777240"/>
            <a:ext cx="10911535" cy="731520"/>
          </a:xfrm>
          <a:prstGeom prst="rect">
            <a:avLst/>
          </a:prstGeom>
          <a:noFill/>
          <a:ln/>
        </p:spPr>
        <p:txBody>
          <a:bodyPr wrap="square" lIns="0" tIns="0" rIns="0" bIns="0" rtlCol="0" anchor="ctr"/>
          <a:lstStyle/>
          <a:p>
            <a:pPr algn="l" indent="0" marL="0">
              <a:buNone/>
            </a:pPr>
            <a:r>
              <a:rPr lang="en-US" sz="3600" b="1" dirty="0">
                <a:solidFill>
                  <a:schemeClr val="tx1"/>
                </a:solidFill>
              </a:rPr>
              <a:t>판정 규칙은 미리 정했다</a:t>
            </a:r>
            <a:endParaRPr lang="en-US" sz="3600" dirty="0"/>
          </a:p>
        </p:txBody>
      </p:sp>
      <p:sp>
        <p:nvSpPr>
          <p:cNvPr id="5" name="timeline"/>
          <p:cNvSpPr/>
          <p:nvPr/>
        </p:nvSpPr>
        <p:spPr>
          <a:xfrm>
            <a:off x="1097280" y="2697480"/>
            <a:ext cx="9997135" cy="0"/>
          </a:xfrm>
          <a:prstGeom prst="line">
            <a:avLst/>
          </a:prstGeom>
          <a:noFill/>
          <a:ln w="38100">
            <a:solidFill>
              <a:srgbClr val="F9C6D3"/>
            </a:solidFill>
            <a:prstDash val="solid"/>
          </a:ln>
        </p:spPr>
      </p:sp>
      <p:sp>
        <p:nvSpPr>
          <p:cNvPr id="6" name="circle-161"/>
          <p:cNvSpPr/>
          <p:nvPr/>
        </p:nvSpPr>
        <p:spPr>
          <a:xfrm>
            <a:off x="731520" y="2331720"/>
            <a:ext cx="731520" cy="731520"/>
          </a:xfrm>
          <a:prstGeom prst="ellipse">
            <a:avLst/>
          </a:prstGeom>
          <a:solidFill>
            <a:schemeClr val="tx1"/>
          </a:solidFill>
          <a:ln/>
        </p:spPr>
      </p:sp>
      <p:sp>
        <p:nvSpPr>
          <p:cNvPr id="7" name="text-162"/>
          <p:cNvSpPr txBox="1"/>
          <p:nvPr/>
        </p:nvSpPr>
        <p:spPr>
          <a:xfrm>
            <a:off x="731520" y="2331720"/>
            <a:ext cx="731520" cy="731520"/>
          </a:xfrm>
          <a:prstGeom prst="rect">
            <a:avLst/>
          </a:prstGeom>
          <a:noFill/>
          <a:ln/>
        </p:spPr>
        <p:txBody>
          <a:bodyPr wrap="square" lIns="0" tIns="0" rIns="0" bIns="0" rtlCol="0" anchor="ctr"/>
          <a:lstStyle/>
          <a:p>
            <a:pPr algn="ctr" indent="0" marL="0">
              <a:buNone/>
            </a:pPr>
            <a:r>
              <a:rPr lang="en-US" sz="1400" b="1" dirty="0">
                <a:solidFill>
                  <a:schemeClr val="bg1"/>
                </a:solidFill>
              </a:rPr>
              <a:t>1주</a:t>
            </a:r>
            <a:endParaRPr lang="en-US" sz="1400" dirty="0"/>
          </a:p>
        </p:txBody>
      </p:sp>
      <p:sp>
        <p:nvSpPr>
          <p:cNvPr id="8" name="text-163"/>
          <p:cNvSpPr txBox="1"/>
          <p:nvPr/>
        </p:nvSpPr>
        <p:spPr>
          <a:xfrm>
            <a:off x="0" y="3200400"/>
            <a:ext cx="2194560" cy="365760"/>
          </a:xfrm>
          <a:prstGeom prst="rect">
            <a:avLst/>
          </a:prstGeom>
          <a:noFill/>
          <a:ln/>
        </p:spPr>
        <p:txBody>
          <a:bodyPr wrap="square" lIns="0" tIns="0" rIns="0" bIns="0" rtlCol="0" anchor="t"/>
          <a:lstStyle/>
          <a:p>
            <a:pPr algn="ctr" indent="0" marL="0">
              <a:buNone/>
            </a:pPr>
            <a:r>
              <a:rPr lang="en-US" sz="1600" b="1" dirty="0">
                <a:solidFill>
                  <a:schemeClr val="tx1"/>
                </a:solidFill>
              </a:rPr>
              <a:t>3몰 섭외</a:t>
            </a:r>
            <a:endParaRPr lang="en-US" sz="1600" dirty="0"/>
          </a:p>
        </p:txBody>
      </p:sp>
      <p:sp>
        <p:nvSpPr>
          <p:cNvPr id="9" name="circle-164"/>
          <p:cNvSpPr/>
          <p:nvPr/>
        </p:nvSpPr>
        <p:spPr>
          <a:xfrm>
            <a:off x="4063898" y="2331720"/>
            <a:ext cx="731520" cy="731520"/>
          </a:xfrm>
          <a:prstGeom prst="ellipse">
            <a:avLst/>
          </a:prstGeom>
          <a:solidFill>
            <a:schemeClr val="tx1"/>
          </a:solidFill>
          <a:ln/>
        </p:spPr>
      </p:sp>
      <p:sp>
        <p:nvSpPr>
          <p:cNvPr id="10" name="text-165"/>
          <p:cNvSpPr txBox="1"/>
          <p:nvPr/>
        </p:nvSpPr>
        <p:spPr>
          <a:xfrm>
            <a:off x="4063898" y="2331720"/>
            <a:ext cx="731520" cy="731520"/>
          </a:xfrm>
          <a:prstGeom prst="rect">
            <a:avLst/>
          </a:prstGeom>
          <a:noFill/>
          <a:ln/>
        </p:spPr>
        <p:txBody>
          <a:bodyPr wrap="square" lIns="0" tIns="0" rIns="0" bIns="0" rtlCol="0" anchor="ctr"/>
          <a:lstStyle/>
          <a:p>
            <a:pPr algn="ctr" indent="0" marL="0">
              <a:buNone/>
            </a:pPr>
            <a:r>
              <a:rPr lang="en-US" sz="1400" b="1" dirty="0">
                <a:solidFill>
                  <a:schemeClr val="bg1"/>
                </a:solidFill>
              </a:rPr>
              <a:t>2주</a:t>
            </a:r>
            <a:endParaRPr lang="en-US" sz="1400" dirty="0"/>
          </a:p>
        </p:txBody>
      </p:sp>
      <p:sp>
        <p:nvSpPr>
          <p:cNvPr id="11" name="text-166"/>
          <p:cNvSpPr txBox="1"/>
          <p:nvPr/>
        </p:nvSpPr>
        <p:spPr>
          <a:xfrm>
            <a:off x="3332378" y="3200400"/>
            <a:ext cx="2194560" cy="365760"/>
          </a:xfrm>
          <a:prstGeom prst="rect">
            <a:avLst/>
          </a:prstGeom>
          <a:noFill/>
          <a:ln/>
        </p:spPr>
        <p:txBody>
          <a:bodyPr wrap="square" lIns="0" tIns="0" rIns="0" bIns="0" rtlCol="0" anchor="t"/>
          <a:lstStyle/>
          <a:p>
            <a:pPr algn="ctr" indent="0" marL="0">
              <a:buNone/>
            </a:pPr>
            <a:r>
              <a:rPr lang="en-US" sz="1600" b="1" dirty="0">
                <a:solidFill>
                  <a:schemeClr val="tx1"/>
                </a:solidFill>
              </a:rPr>
              <a:t>신청 연동</a:t>
            </a:r>
            <a:endParaRPr lang="en-US" sz="1600" dirty="0"/>
          </a:p>
        </p:txBody>
      </p:sp>
      <p:sp>
        <p:nvSpPr>
          <p:cNvPr id="12" name="circle-167"/>
          <p:cNvSpPr/>
          <p:nvPr/>
        </p:nvSpPr>
        <p:spPr>
          <a:xfrm>
            <a:off x="7396277" y="2331720"/>
            <a:ext cx="731520" cy="731520"/>
          </a:xfrm>
          <a:prstGeom prst="ellipse">
            <a:avLst/>
          </a:prstGeom>
          <a:solidFill>
            <a:schemeClr val="tx1"/>
          </a:solidFill>
          <a:ln/>
        </p:spPr>
      </p:sp>
      <p:sp>
        <p:nvSpPr>
          <p:cNvPr id="13" name="text-168"/>
          <p:cNvSpPr txBox="1"/>
          <p:nvPr/>
        </p:nvSpPr>
        <p:spPr>
          <a:xfrm>
            <a:off x="7396277" y="2331720"/>
            <a:ext cx="731520" cy="731520"/>
          </a:xfrm>
          <a:prstGeom prst="rect">
            <a:avLst/>
          </a:prstGeom>
          <a:noFill/>
          <a:ln/>
        </p:spPr>
        <p:txBody>
          <a:bodyPr wrap="square" lIns="0" tIns="0" rIns="0" bIns="0" rtlCol="0" anchor="ctr"/>
          <a:lstStyle/>
          <a:p>
            <a:pPr algn="ctr" indent="0" marL="0">
              <a:buNone/>
            </a:pPr>
            <a:r>
              <a:rPr lang="en-US" sz="1400" b="1" dirty="0">
                <a:solidFill>
                  <a:schemeClr val="bg1"/>
                </a:solidFill>
              </a:rPr>
              <a:t>3주</a:t>
            </a:r>
            <a:endParaRPr lang="en-US" sz="1400" dirty="0"/>
          </a:p>
        </p:txBody>
      </p:sp>
      <p:sp>
        <p:nvSpPr>
          <p:cNvPr id="14" name="text-169"/>
          <p:cNvSpPr txBox="1"/>
          <p:nvPr/>
        </p:nvSpPr>
        <p:spPr>
          <a:xfrm>
            <a:off x="6664757" y="3200400"/>
            <a:ext cx="2194560" cy="365760"/>
          </a:xfrm>
          <a:prstGeom prst="rect">
            <a:avLst/>
          </a:prstGeom>
          <a:noFill/>
          <a:ln/>
        </p:spPr>
        <p:txBody>
          <a:bodyPr wrap="square" lIns="0" tIns="0" rIns="0" bIns="0" rtlCol="0" anchor="t"/>
          <a:lstStyle/>
          <a:p>
            <a:pPr algn="ctr" indent="0" marL="0">
              <a:buNone/>
            </a:pPr>
            <a:r>
              <a:rPr lang="en-US" sz="1600" b="1" dirty="0">
                <a:solidFill>
                  <a:schemeClr val="tx1"/>
                </a:solidFill>
              </a:rPr>
              <a:t>공구 3건 오픈</a:t>
            </a:r>
            <a:endParaRPr lang="en-US" sz="1600" dirty="0"/>
          </a:p>
        </p:txBody>
      </p:sp>
      <p:sp>
        <p:nvSpPr>
          <p:cNvPr id="15" name="circle-170"/>
          <p:cNvSpPr/>
          <p:nvPr/>
        </p:nvSpPr>
        <p:spPr>
          <a:xfrm>
            <a:off x="10728655" y="2331720"/>
            <a:ext cx="731520" cy="731520"/>
          </a:xfrm>
          <a:prstGeom prst="ellipse">
            <a:avLst/>
          </a:prstGeom>
          <a:solidFill>
            <a:schemeClr val="accent1"/>
          </a:solidFill>
          <a:ln/>
        </p:spPr>
      </p:sp>
      <p:sp>
        <p:nvSpPr>
          <p:cNvPr id="16" name="text-171"/>
          <p:cNvSpPr txBox="1"/>
          <p:nvPr/>
        </p:nvSpPr>
        <p:spPr>
          <a:xfrm>
            <a:off x="10728655" y="2331720"/>
            <a:ext cx="731520" cy="731520"/>
          </a:xfrm>
          <a:prstGeom prst="rect">
            <a:avLst/>
          </a:prstGeom>
          <a:noFill/>
          <a:ln/>
        </p:spPr>
        <p:txBody>
          <a:bodyPr wrap="square" lIns="0" tIns="0" rIns="0" bIns="0" rtlCol="0" anchor="ctr"/>
          <a:lstStyle/>
          <a:p>
            <a:pPr algn="ctr" indent="0" marL="0">
              <a:buNone/>
            </a:pPr>
            <a:r>
              <a:rPr lang="en-US" sz="1400" b="1" dirty="0">
                <a:solidFill>
                  <a:schemeClr val="bg1"/>
                </a:solidFill>
              </a:rPr>
              <a:t>4주</a:t>
            </a:r>
            <a:endParaRPr lang="en-US" sz="1400" dirty="0"/>
          </a:p>
        </p:txBody>
      </p:sp>
      <p:sp>
        <p:nvSpPr>
          <p:cNvPr id="17" name="text-172"/>
          <p:cNvSpPr txBox="1"/>
          <p:nvPr/>
        </p:nvSpPr>
        <p:spPr>
          <a:xfrm>
            <a:off x="9997135" y="3200400"/>
            <a:ext cx="2194560" cy="365760"/>
          </a:xfrm>
          <a:prstGeom prst="rect">
            <a:avLst/>
          </a:prstGeom>
          <a:noFill/>
          <a:ln/>
        </p:spPr>
        <p:txBody>
          <a:bodyPr wrap="square" lIns="0" tIns="0" rIns="0" bIns="0" rtlCol="0" anchor="t"/>
          <a:lstStyle/>
          <a:p>
            <a:pPr algn="ctr" indent="0" marL="0">
              <a:buNone/>
            </a:pPr>
            <a:r>
              <a:rPr lang="en-US" sz="1600" b="1" dirty="0">
                <a:solidFill>
                  <a:schemeClr val="tx1"/>
                </a:solidFill>
              </a:rPr>
              <a:t>결제 → 판정</a:t>
            </a:r>
            <a:endParaRPr lang="en-US" sz="1600" dirty="0"/>
          </a:p>
        </p:txBody>
      </p:sp>
      <p:sp>
        <p:nvSpPr>
          <p:cNvPr id="18" name="text-173"/>
          <p:cNvSpPr txBox="1"/>
          <p:nvPr/>
        </p:nvSpPr>
        <p:spPr>
          <a:xfrm>
            <a:off x="2103120" y="3840480"/>
            <a:ext cx="2926080" cy="548640"/>
          </a:xfrm>
          <a:prstGeom prst="rect">
            <a:avLst/>
          </a:prstGeom>
          <a:noFill/>
          <a:ln/>
        </p:spPr>
        <p:txBody>
          <a:bodyPr wrap="square" lIns="0" tIns="0" rIns="0" bIns="0" rtlCol="0" anchor="ctr"/>
          <a:lstStyle/>
          <a:p>
            <a:pPr indent="0" marL="0">
              <a:buNone/>
            </a:pPr>
            <a:r>
              <a:rPr lang="en-US" sz="3000" b="1" dirty="0">
                <a:solidFill>
                  <a:schemeClr val="accent1"/>
                </a:solidFill>
              </a:rPr>
              <a:t>60%</a:t>
            </a:r>
            <a:pPr indent="0" marL="0">
              <a:buNone/>
            </a:pPr>
            <a:r>
              <a:rPr lang="en-US" sz="1500" dirty="0">
                <a:solidFill>
                  <a:schemeClr val="tx2"/>
                </a:solidFill>
              </a:rPr>
              <a:t>  공구 성사율</a:t>
            </a:r>
            <a:endParaRPr lang="en-US" sz="1600" dirty="0"/>
          </a:p>
        </p:txBody>
      </p:sp>
      <p:sp>
        <p:nvSpPr>
          <p:cNvPr id="19" name="text-174"/>
          <p:cNvSpPr txBox="1"/>
          <p:nvPr/>
        </p:nvSpPr>
        <p:spPr>
          <a:xfrm>
            <a:off x="5120640" y="3840480"/>
            <a:ext cx="2926080" cy="548640"/>
          </a:xfrm>
          <a:prstGeom prst="rect">
            <a:avLst/>
          </a:prstGeom>
          <a:noFill/>
          <a:ln/>
        </p:spPr>
        <p:txBody>
          <a:bodyPr wrap="square" lIns="0" tIns="0" rIns="0" bIns="0" rtlCol="0" anchor="ctr"/>
          <a:lstStyle/>
          <a:p>
            <a:pPr indent="0" marL="0">
              <a:buNone/>
            </a:pPr>
            <a:r>
              <a:rPr lang="en-US" sz="3000" b="1" dirty="0">
                <a:solidFill>
                  <a:schemeClr val="accent1"/>
                </a:solidFill>
              </a:rPr>
              <a:t>5%</a:t>
            </a:r>
            <a:pPr indent="0" marL="0">
              <a:buNone/>
            </a:pPr>
            <a:r>
              <a:rPr lang="en-US" sz="1500" dirty="0">
                <a:solidFill>
                  <a:schemeClr val="tx2"/>
                </a:solidFill>
              </a:rPr>
              <a:t>  초대 → 신청</a:t>
            </a:r>
            <a:endParaRPr lang="en-US" sz="1600" dirty="0"/>
          </a:p>
        </p:txBody>
      </p:sp>
      <p:sp>
        <p:nvSpPr>
          <p:cNvPr id="20" name="text-175"/>
          <p:cNvSpPr txBox="1"/>
          <p:nvPr/>
        </p:nvSpPr>
        <p:spPr>
          <a:xfrm>
            <a:off x="8138160" y="3840480"/>
            <a:ext cx="2926080" cy="548640"/>
          </a:xfrm>
          <a:prstGeom prst="rect">
            <a:avLst/>
          </a:prstGeom>
          <a:noFill/>
          <a:ln/>
        </p:spPr>
        <p:txBody>
          <a:bodyPr wrap="square" lIns="0" tIns="0" rIns="0" bIns="0" rtlCol="0" anchor="ctr"/>
          <a:lstStyle/>
          <a:p>
            <a:pPr indent="0" marL="0">
              <a:buNone/>
            </a:pPr>
            <a:r>
              <a:rPr lang="en-US" sz="3000" b="1" dirty="0">
                <a:solidFill>
                  <a:schemeClr val="accent1"/>
                </a:solidFill>
              </a:rPr>
              <a:t>50%</a:t>
            </a:r>
            <a:pPr indent="0" marL="0">
              <a:buNone/>
            </a:pPr>
            <a:r>
              <a:rPr lang="en-US" sz="1500" dirty="0">
                <a:solidFill>
                  <a:schemeClr val="tx2"/>
                </a:solidFill>
              </a:rPr>
              <a:t>  신청 → 결제</a:t>
            </a:r>
            <a:endParaRPr lang="en-US" sz="1600" dirty="0"/>
          </a:p>
        </p:txBody>
      </p:sp>
      <p:sp>
        <p:nvSpPr>
          <p:cNvPr id="21" name="card-176"/>
          <p:cNvSpPr/>
          <p:nvPr/>
        </p:nvSpPr>
        <p:spPr>
          <a:xfrm>
            <a:off x="640080" y="4663440"/>
            <a:ext cx="3393338" cy="1417320"/>
          </a:xfrm>
          <a:prstGeom prst="roundRect">
            <a:avLst>
              <a:gd name="adj" fmla="val 9677"/>
            </a:avLst>
          </a:prstGeom>
          <a:solidFill>
            <a:schemeClr val="accent1"/>
          </a:solidFill>
          <a:ln/>
        </p:spPr>
      </p:sp>
      <p:sp>
        <p:nvSpPr>
          <p:cNvPr id="22" name="text-177"/>
          <p:cNvSpPr txBox="1"/>
          <p:nvPr/>
        </p:nvSpPr>
        <p:spPr>
          <a:xfrm>
            <a:off x="960120" y="4663440"/>
            <a:ext cx="1188720" cy="1417320"/>
          </a:xfrm>
          <a:prstGeom prst="rect">
            <a:avLst/>
          </a:prstGeom>
          <a:noFill/>
          <a:ln/>
        </p:spPr>
        <p:txBody>
          <a:bodyPr wrap="square" lIns="0" tIns="0" rIns="0" bIns="0" rtlCol="0" anchor="ctr"/>
          <a:lstStyle/>
          <a:p>
            <a:pPr indent="0" marL="0">
              <a:buNone/>
            </a:pPr>
            <a:r>
              <a:rPr lang="en-US" sz="2800" b="1" dirty="0">
                <a:solidFill>
                  <a:schemeClr val="bg1"/>
                </a:solidFill>
              </a:rPr>
              <a:t>GO</a:t>
            </a:r>
            <a:endParaRPr lang="en-US" sz="2800" dirty="0"/>
          </a:p>
        </p:txBody>
      </p:sp>
      <p:sp>
        <p:nvSpPr>
          <p:cNvPr id="23" name="text-178"/>
          <p:cNvSpPr txBox="1"/>
          <p:nvPr/>
        </p:nvSpPr>
        <p:spPr>
          <a:xfrm>
            <a:off x="2103120" y="4663440"/>
            <a:ext cx="1793138" cy="141732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모두 달성</a:t>
            </a:r>
            <a:endParaRPr lang="en-US" sz="1500" dirty="0"/>
          </a:p>
          <a:p>
            <a:pPr indent="0" marL="0">
              <a:spcAft>
                <a:spcPts val="400"/>
              </a:spcAft>
              <a:buNone/>
            </a:pPr>
            <a:r>
              <a:rPr lang="en-US" sz="1500" dirty="0">
                <a:solidFill>
                  <a:schemeClr val="bg1"/>
                </a:solidFill>
              </a:rPr>
              <a:t>→ 10몰로 확대</a:t>
            </a:r>
            <a:endParaRPr lang="en-US" sz="1500" dirty="0"/>
          </a:p>
        </p:txBody>
      </p:sp>
      <p:sp>
        <p:nvSpPr>
          <p:cNvPr id="24" name="card-179"/>
          <p:cNvSpPr/>
          <p:nvPr/>
        </p:nvSpPr>
        <p:spPr>
          <a:xfrm>
            <a:off x="4399178" y="4663440"/>
            <a:ext cx="3393338" cy="1417320"/>
          </a:xfrm>
          <a:prstGeom prst="roundRect">
            <a:avLst>
              <a:gd name="adj" fmla="val 9677"/>
            </a:avLst>
          </a:prstGeom>
          <a:solidFill>
            <a:schemeClr val="accent6"/>
          </a:solidFill>
          <a:ln/>
        </p:spPr>
      </p:sp>
      <p:sp>
        <p:nvSpPr>
          <p:cNvPr id="25" name="text-180"/>
          <p:cNvSpPr txBox="1"/>
          <p:nvPr/>
        </p:nvSpPr>
        <p:spPr>
          <a:xfrm>
            <a:off x="4719218" y="4663440"/>
            <a:ext cx="1188720" cy="1417320"/>
          </a:xfrm>
          <a:prstGeom prst="rect">
            <a:avLst/>
          </a:prstGeom>
          <a:noFill/>
          <a:ln/>
        </p:spPr>
        <p:txBody>
          <a:bodyPr wrap="square" lIns="0" tIns="0" rIns="0" bIns="0" rtlCol="0" anchor="ctr"/>
          <a:lstStyle/>
          <a:p>
            <a:pPr indent="0" marL="0">
              <a:buNone/>
            </a:pPr>
            <a:r>
              <a:rPr lang="en-US" sz="2800" b="1" dirty="0">
                <a:solidFill>
                  <a:schemeClr val="tx1"/>
                </a:solidFill>
              </a:rPr>
              <a:t>보완</a:t>
            </a:r>
            <a:endParaRPr lang="en-US" sz="2800" dirty="0"/>
          </a:p>
        </p:txBody>
      </p:sp>
      <p:sp>
        <p:nvSpPr>
          <p:cNvPr id="26" name="text-181"/>
          <p:cNvSpPr txBox="1"/>
          <p:nvPr/>
        </p:nvSpPr>
        <p:spPr>
          <a:xfrm>
            <a:off x="5862218" y="4663440"/>
            <a:ext cx="1793138" cy="141732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결제만 미달</a:t>
            </a:r>
            <a:endParaRPr lang="en-US" sz="1500" dirty="0"/>
          </a:p>
          <a:p>
            <a:pPr indent="0" marL="0">
              <a:spcAft>
                <a:spcPts val="400"/>
              </a:spcAft>
              <a:buNone/>
            </a:pPr>
            <a:r>
              <a:rPr lang="en-US" sz="1500" dirty="0">
                <a:solidFill>
                  <a:schemeClr val="tx1"/>
                </a:solidFill>
              </a:rPr>
              <a:t>→ 2주 더 테스트</a:t>
            </a:r>
            <a:endParaRPr lang="en-US" sz="1500" dirty="0"/>
          </a:p>
        </p:txBody>
      </p:sp>
      <p:sp>
        <p:nvSpPr>
          <p:cNvPr id="27" name="card-182"/>
          <p:cNvSpPr/>
          <p:nvPr/>
        </p:nvSpPr>
        <p:spPr>
          <a:xfrm>
            <a:off x="8158277" y="4663440"/>
            <a:ext cx="3393338" cy="1417320"/>
          </a:xfrm>
          <a:prstGeom prst="roundRect">
            <a:avLst>
              <a:gd name="adj" fmla="val 9677"/>
            </a:avLst>
          </a:prstGeom>
          <a:solidFill>
            <a:schemeClr val="tx1"/>
          </a:solidFill>
          <a:ln/>
        </p:spPr>
      </p:sp>
      <p:sp>
        <p:nvSpPr>
          <p:cNvPr id="28" name="text-183"/>
          <p:cNvSpPr txBox="1"/>
          <p:nvPr/>
        </p:nvSpPr>
        <p:spPr>
          <a:xfrm>
            <a:off x="8478317" y="4663440"/>
            <a:ext cx="1188720" cy="1417320"/>
          </a:xfrm>
          <a:prstGeom prst="rect">
            <a:avLst/>
          </a:prstGeom>
          <a:noFill/>
          <a:ln/>
        </p:spPr>
        <p:txBody>
          <a:bodyPr wrap="square" lIns="0" tIns="0" rIns="0" bIns="0" rtlCol="0" anchor="ctr"/>
          <a:lstStyle/>
          <a:p>
            <a:pPr indent="0" marL="0">
              <a:buNone/>
            </a:pPr>
            <a:r>
              <a:rPr lang="en-US" sz="2800" b="1" dirty="0">
                <a:solidFill>
                  <a:schemeClr val="bg1"/>
                </a:solidFill>
              </a:rPr>
              <a:t>중단</a:t>
            </a:r>
            <a:endParaRPr lang="en-US" sz="2800" dirty="0"/>
          </a:p>
        </p:txBody>
      </p:sp>
      <p:sp>
        <p:nvSpPr>
          <p:cNvPr id="29" name="text-184"/>
          <p:cNvSpPr txBox="1"/>
          <p:nvPr/>
        </p:nvSpPr>
        <p:spPr>
          <a:xfrm>
            <a:off x="9621317" y="4663440"/>
            <a:ext cx="1793138" cy="141732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신청 2% 미만</a:t>
            </a:r>
            <a:endParaRPr lang="en-US" sz="1500" dirty="0"/>
          </a:p>
          <a:p>
            <a:pPr indent="0" marL="0">
              <a:spcAft>
                <a:spcPts val="400"/>
              </a:spcAft>
              <a:buNone/>
            </a:pPr>
            <a:r>
              <a:rPr lang="en-US" sz="1500" dirty="0">
                <a:solidFill>
                  <a:schemeClr val="bg1"/>
                </a:solidFill>
              </a:rPr>
              <a:t>→ 가정부터 다시</a:t>
            </a:r>
            <a:endParaRPr lang="en-US" sz="15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911535" cy="1463040"/>
          </a:xfrm>
          <a:prstGeom prst="rect">
            <a:avLst/>
          </a:prstGeom>
          <a:noFill/>
          <a:ln/>
        </p:spPr>
        <p:txBody>
          <a:bodyPr wrap="square" lIns="0" tIns="0" rIns="0" bIns="0" rtlCol="0" anchor="ctr"/>
          <a:lstStyle/>
          <a:p>
            <a:pPr algn="l" indent="0" marL="0">
              <a:buNone/>
            </a:pPr>
            <a:r>
              <a:rPr lang="en-US" sz="7200" b="1" dirty="0">
                <a:solidFill>
                  <a:schemeClr val="bg1"/>
                </a:solidFill>
              </a:rPr>
              <a:t>Q&amp;A</a:t>
            </a:r>
            <a:endParaRPr lang="en-US" sz="7200" dirty="0"/>
          </a:p>
        </p:txBody>
      </p:sp>
      <p:sp>
        <p:nvSpPr>
          <p:cNvPr id="4" name="circle-185"/>
          <p:cNvSpPr/>
          <p:nvPr/>
        </p:nvSpPr>
        <p:spPr>
          <a:xfrm>
            <a:off x="640080" y="2743200"/>
            <a:ext cx="594360" cy="594360"/>
          </a:xfrm>
          <a:prstGeom prst="ellipse">
            <a:avLst/>
          </a:prstGeom>
          <a:solidFill>
            <a:schemeClr val="accent1"/>
          </a:solidFill>
          <a:ln/>
        </p:spPr>
      </p:sp>
      <p:sp>
        <p:nvSpPr>
          <p:cNvPr id="5" name="text-186"/>
          <p:cNvSpPr txBox="1"/>
          <p:nvPr/>
        </p:nvSpPr>
        <p:spPr>
          <a:xfrm>
            <a:off x="640080" y="2743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187"/>
          <p:cNvSpPr txBox="1"/>
          <p:nvPr/>
        </p:nvSpPr>
        <p:spPr>
          <a:xfrm>
            <a:off x="1463040" y="2743200"/>
            <a:ext cx="4449928" cy="594360"/>
          </a:xfrm>
          <a:prstGeom prst="rect">
            <a:avLst/>
          </a:prstGeom>
          <a:noFill/>
          <a:ln/>
        </p:spPr>
        <p:txBody>
          <a:bodyPr wrap="square" lIns="0" tIns="0" rIns="0" bIns="0" rtlCol="0" anchor="ctr"/>
          <a:lstStyle/>
          <a:p>
            <a:pPr indent="0" marL="0">
              <a:buNone/>
            </a:pPr>
            <a:r>
              <a:rPr lang="en-US" sz="2000" dirty="0">
                <a:solidFill>
                  <a:schemeClr val="bg1"/>
                </a:solidFill>
              </a:rPr>
              <a:t>신청 → 결제 50%, 현실적일까?</a:t>
            </a:r>
            <a:endParaRPr lang="en-US" sz="2000" dirty="0"/>
          </a:p>
        </p:txBody>
      </p:sp>
      <p:sp>
        <p:nvSpPr>
          <p:cNvPr id="7" name="circle-188"/>
          <p:cNvSpPr/>
          <p:nvPr/>
        </p:nvSpPr>
        <p:spPr>
          <a:xfrm>
            <a:off x="6095848" y="2743200"/>
            <a:ext cx="594360" cy="594360"/>
          </a:xfrm>
          <a:prstGeom prst="ellipse">
            <a:avLst/>
          </a:prstGeom>
          <a:solidFill>
            <a:schemeClr val="accent1"/>
          </a:solidFill>
          <a:ln/>
        </p:spPr>
      </p:sp>
      <p:sp>
        <p:nvSpPr>
          <p:cNvPr id="8" name="text-189"/>
          <p:cNvSpPr txBox="1"/>
          <p:nvPr/>
        </p:nvSpPr>
        <p:spPr>
          <a:xfrm>
            <a:off x="6095848" y="2743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190"/>
          <p:cNvSpPr txBox="1"/>
          <p:nvPr/>
        </p:nvSpPr>
        <p:spPr>
          <a:xfrm>
            <a:off x="6918808" y="2743200"/>
            <a:ext cx="4449928" cy="594360"/>
          </a:xfrm>
          <a:prstGeom prst="rect">
            <a:avLst/>
          </a:prstGeom>
          <a:noFill/>
          <a:ln/>
        </p:spPr>
        <p:txBody>
          <a:bodyPr wrap="square" lIns="0" tIns="0" rIns="0" bIns="0" rtlCol="0" anchor="ctr"/>
          <a:lstStyle/>
          <a:p>
            <a:pPr indent="0" marL="0">
              <a:buNone/>
            </a:pPr>
            <a:r>
              <a:rPr lang="en-US" sz="2000" dirty="0">
                <a:solidFill>
                  <a:schemeClr val="bg1"/>
                </a:solidFill>
              </a:rPr>
              <a:t>카페24 의존 위험은?</a:t>
            </a:r>
            <a:endParaRPr lang="en-US" sz="2000" dirty="0"/>
          </a:p>
        </p:txBody>
      </p:sp>
      <p:sp>
        <p:nvSpPr>
          <p:cNvPr id="10" name="circle-191"/>
          <p:cNvSpPr/>
          <p:nvPr/>
        </p:nvSpPr>
        <p:spPr>
          <a:xfrm>
            <a:off x="640080" y="3794760"/>
            <a:ext cx="594360" cy="594360"/>
          </a:xfrm>
          <a:prstGeom prst="ellipse">
            <a:avLst/>
          </a:prstGeom>
          <a:solidFill>
            <a:schemeClr val="accent1"/>
          </a:solidFill>
          <a:ln/>
        </p:spPr>
      </p:sp>
      <p:sp>
        <p:nvSpPr>
          <p:cNvPr id="11" name="text-192"/>
          <p:cNvSpPr txBox="1"/>
          <p:nvPr/>
        </p:nvSpPr>
        <p:spPr>
          <a:xfrm>
            <a:off x="640080" y="37947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193"/>
          <p:cNvSpPr txBox="1"/>
          <p:nvPr/>
        </p:nvSpPr>
        <p:spPr>
          <a:xfrm>
            <a:off x="1463040" y="3794760"/>
            <a:ext cx="4449928" cy="594360"/>
          </a:xfrm>
          <a:prstGeom prst="rect">
            <a:avLst/>
          </a:prstGeom>
          <a:noFill/>
          <a:ln/>
        </p:spPr>
        <p:txBody>
          <a:bodyPr wrap="square" lIns="0" tIns="0" rIns="0" bIns="0" rtlCol="0" anchor="ctr"/>
          <a:lstStyle/>
          <a:p>
            <a:pPr indent="0" marL="0">
              <a:buNone/>
            </a:pPr>
            <a:r>
              <a:rPr lang="en-US" sz="2000" dirty="0">
                <a:solidFill>
                  <a:schemeClr val="bg1"/>
                </a:solidFill>
              </a:rPr>
              <a:t>요금제 3단, 셀러 빈도에 맞나?</a:t>
            </a:r>
            <a:endParaRPr lang="en-US" sz="2000" dirty="0"/>
          </a:p>
        </p:txBody>
      </p:sp>
      <p:sp>
        <p:nvSpPr>
          <p:cNvPr id="13" name="circle-194"/>
          <p:cNvSpPr/>
          <p:nvPr/>
        </p:nvSpPr>
        <p:spPr>
          <a:xfrm>
            <a:off x="6095848" y="3794760"/>
            <a:ext cx="594360" cy="594360"/>
          </a:xfrm>
          <a:prstGeom prst="ellipse">
            <a:avLst/>
          </a:prstGeom>
          <a:solidFill>
            <a:schemeClr val="accent1"/>
          </a:solidFill>
          <a:ln/>
        </p:spPr>
      </p:sp>
      <p:sp>
        <p:nvSpPr>
          <p:cNvPr id="14" name="text-195"/>
          <p:cNvSpPr txBox="1"/>
          <p:nvPr/>
        </p:nvSpPr>
        <p:spPr>
          <a:xfrm>
            <a:off x="6095848" y="37947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196"/>
          <p:cNvSpPr txBox="1"/>
          <p:nvPr/>
        </p:nvSpPr>
        <p:spPr>
          <a:xfrm>
            <a:off x="6918808" y="3794760"/>
            <a:ext cx="4449928" cy="594360"/>
          </a:xfrm>
          <a:prstGeom prst="rect">
            <a:avLst/>
          </a:prstGeom>
          <a:noFill/>
          <a:ln/>
        </p:spPr>
        <p:txBody>
          <a:bodyPr wrap="square" lIns="0" tIns="0" rIns="0" bIns="0" rtlCol="0" anchor="ctr"/>
          <a:lstStyle/>
          <a:p>
            <a:pPr indent="0" marL="0">
              <a:buNone/>
            </a:pPr>
            <a:r>
              <a:rPr lang="en-US" sz="2000" dirty="0">
                <a:solidFill>
                  <a:schemeClr val="bg1"/>
                </a:solidFill>
              </a:rPr>
              <a:t>파일럿 3몰 섭외 방법은?</a:t>
            </a:r>
            <a:endParaRPr lang="en-US" sz="2000" dirty="0"/>
          </a:p>
        </p:txBody>
      </p:sp>
      <p:sp>
        <p:nvSpPr>
          <p:cNvPr id="16" name="circle-197"/>
          <p:cNvSpPr/>
          <p:nvPr/>
        </p:nvSpPr>
        <p:spPr>
          <a:xfrm>
            <a:off x="640080" y="4846320"/>
            <a:ext cx="594360" cy="594360"/>
          </a:xfrm>
          <a:prstGeom prst="ellipse">
            <a:avLst/>
          </a:prstGeom>
          <a:solidFill>
            <a:schemeClr val="accent1"/>
          </a:solidFill>
          <a:ln/>
        </p:spPr>
      </p:sp>
      <p:sp>
        <p:nvSpPr>
          <p:cNvPr id="17" name="text-198"/>
          <p:cNvSpPr txBox="1"/>
          <p:nvPr/>
        </p:nvSpPr>
        <p:spPr>
          <a:xfrm>
            <a:off x="640080" y="48463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8" name="text-199"/>
          <p:cNvSpPr txBox="1"/>
          <p:nvPr/>
        </p:nvSpPr>
        <p:spPr>
          <a:xfrm>
            <a:off x="1463040" y="4846320"/>
            <a:ext cx="4449928" cy="594360"/>
          </a:xfrm>
          <a:prstGeom prst="rect">
            <a:avLst/>
          </a:prstGeom>
          <a:noFill/>
          <a:ln/>
        </p:spPr>
        <p:txBody>
          <a:bodyPr wrap="square" lIns="0" tIns="0" rIns="0" bIns="0" rtlCol="0" anchor="ctr"/>
          <a:lstStyle/>
          <a:p>
            <a:pPr indent="0" marL="0">
              <a:buNone/>
            </a:pPr>
            <a:r>
              <a:rPr lang="en-US" sz="2000" dirty="0">
                <a:solidFill>
                  <a:schemeClr val="bg1"/>
                </a:solidFill>
              </a:rPr>
              <a:t>수요 신호, 무엇으로 보충할까?</a:t>
            </a:r>
            <a:endParaRPr lang="en-US" sz="2000" dirty="0"/>
          </a:p>
        </p:txBody>
      </p:sp>
      <p:sp>
        <p:nvSpPr>
          <p:cNvPr id="19" name="circle-200"/>
          <p:cNvSpPr/>
          <p:nvPr/>
        </p:nvSpPr>
        <p:spPr>
          <a:xfrm>
            <a:off x="6095848" y="4846320"/>
            <a:ext cx="594360" cy="594360"/>
          </a:xfrm>
          <a:prstGeom prst="ellipse">
            <a:avLst/>
          </a:prstGeom>
          <a:solidFill>
            <a:schemeClr val="accent1"/>
          </a:solidFill>
          <a:ln/>
        </p:spPr>
      </p:sp>
      <p:sp>
        <p:nvSpPr>
          <p:cNvPr id="20" name="text-201"/>
          <p:cNvSpPr txBox="1"/>
          <p:nvPr/>
        </p:nvSpPr>
        <p:spPr>
          <a:xfrm>
            <a:off x="6095848" y="48463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1" name="text-202"/>
          <p:cNvSpPr txBox="1"/>
          <p:nvPr/>
        </p:nvSpPr>
        <p:spPr>
          <a:xfrm>
            <a:off x="6918808" y="4846320"/>
            <a:ext cx="4449928" cy="594360"/>
          </a:xfrm>
          <a:prstGeom prst="rect">
            <a:avLst/>
          </a:prstGeom>
          <a:noFill/>
          <a:ln/>
        </p:spPr>
        <p:txBody>
          <a:bodyPr wrap="square" lIns="0" tIns="0" rIns="0" bIns="0" rtlCol="0" anchor="ctr"/>
          <a:lstStyle/>
          <a:p>
            <a:pPr indent="0" marL="0">
              <a:buNone/>
            </a:pPr>
            <a:r>
              <a:rPr lang="en-US" sz="2000" dirty="0">
                <a:solidFill>
                  <a:schemeClr val="bg1"/>
                </a:solidFill>
              </a:rPr>
              <a:t>문제정의, 충분히 뾰족한가?</a:t>
            </a:r>
            <a:endParaRPr lang="en-US" sz="2000" dirty="0"/>
          </a:p>
        </p:txBody>
      </p:sp>
      <p:pic>
        <p:nvPicPr>
          <p:cNvPr id="22" name="mascot" descr="찜꽁 캐릭터">    </p:cNvPr>
          <p:cNvPicPr>
            <a:picLocks noChangeAspect="1"/>
          </p:cNvPicPr>
          <p:nvPr/>
        </p:nvPicPr>
        <p:blipFill>
          <a:blip r:embed="rId1"/>
          <a:stretch>
            <a:fillRect/>
          </a:stretch>
        </p:blipFill>
        <p:spPr>
          <a:xfrm>
            <a:off x="10088575" y="640080"/>
            <a:ext cx="1463040" cy="1463040"/>
          </a:xfrm>
          <a:prstGeom prst="ellipse">
            <a:avLst/>
          </a:prstGeom>
        </p:spPr>
      </p:pic>
    </p:spTree>
  </p:cSld>
  <p:clrMapOvr>
    <a:masterClrMapping/>
  </p:clrMapOvr>
</p:sld>
</file>

<file path=ppt/theme/theme1.xml><?xml version="1.0" encoding="utf-8"?>
<a:theme xmlns:a="http://schemas.openxmlformats.org/drawingml/2006/main" name="Jjimkkong">
  <a:themeElements>
    <a:clrScheme name="Jjimkkong">
      <a:dk1>
        <a:srgbClr val="1C1C1F"/>
      </a:dk1>
      <a:lt1>
        <a:srgbClr val="FFFFFF"/>
      </a:lt1>
      <a:dk2>
        <a:srgbClr val="6B6B75"/>
      </a:dk2>
      <a:lt2>
        <a:srgbClr val="FFF0F3"/>
      </a:lt2>
      <a:accent1>
        <a:srgbClr val="E94162"/>
      </a:accent1>
      <a:accent2>
        <a:srgbClr val="FC7598"/>
      </a:accent2>
      <a:accent3>
        <a:srgbClr val="F9C6D3"/>
      </a:accent3>
      <a:accent4>
        <a:srgbClr val="2E2E35"/>
      </a:accent4>
      <a:accent5>
        <a:srgbClr val="C9C9D1"/>
      </a:accent5>
      <a:accent6>
        <a:srgbClr val="FFE3EA"/>
      </a:accent6>
      <a:hlink>
        <a:srgbClr val="E94162"/>
      </a:hlink>
      <a:folHlink>
        <a:srgbClr val="9A9AA5"/>
      </a:folHlink>
    </a:clrScheme>
    <a:fontScheme name="Jjimkkong">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찜꽁 · 찜 공구 발표용</dc:title>
  <dc:subject>PptxGenJS Presentation</dc:subject>
  <dc:creator>HOP</dc:creator>
  <cp:lastModifiedBy>HOP</cp:lastModifiedBy>
  <cp:revision>1</cp:revision>
  <dcterms:created xsi:type="dcterms:W3CDTF">2026-10-15T03:15:25Z</dcterms:created>
  <dcterms:modified xsi:type="dcterms:W3CDTF">2026-10-15T03:15:25Z</dcterms:modified>
</cp:coreProperties>
</file>