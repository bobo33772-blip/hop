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650" r:id="rId2"/>
    <p:sldMasterId id="2147483662" r:id="rId3"/>
  </p:sldMasterIdLst>
  <p:notesMasterIdLst>
    <p:notesMasterId r:id="rId31"/>
  </p:notesMasterIdLst>
  <p:sldIdLst>
    <p:sldId id="332" r:id="rId4"/>
    <p:sldId id="388" r:id="rId5"/>
    <p:sldId id="363" r:id="rId6"/>
    <p:sldId id="364" r:id="rId7"/>
    <p:sldId id="256" r:id="rId8"/>
    <p:sldId id="368" r:id="rId9"/>
    <p:sldId id="366" r:id="rId10"/>
    <p:sldId id="339" r:id="rId11"/>
    <p:sldId id="393" r:id="rId12"/>
    <p:sldId id="371" r:id="rId13"/>
    <p:sldId id="396" r:id="rId14"/>
    <p:sldId id="373" r:id="rId15"/>
    <p:sldId id="403" r:id="rId16"/>
    <p:sldId id="401" r:id="rId17"/>
    <p:sldId id="409" r:id="rId18"/>
    <p:sldId id="257" r:id="rId19"/>
    <p:sldId id="394" r:id="rId20"/>
    <p:sldId id="408" r:id="rId21"/>
    <p:sldId id="399" r:id="rId22"/>
    <p:sldId id="407" r:id="rId23"/>
    <p:sldId id="381" r:id="rId24"/>
    <p:sldId id="382" r:id="rId25"/>
    <p:sldId id="370" r:id="rId26"/>
    <p:sldId id="405" r:id="rId27"/>
    <p:sldId id="384" r:id="rId28"/>
    <p:sldId id="387" r:id="rId29"/>
    <p:sldId id="397" r:id="rId30"/>
  </p:sldIdLst>
  <p:sldSz cx="18288000" cy="10287000"/>
  <p:notesSz cx="10287000" cy="1828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F4"/>
    <a:srgbClr val="FDBABC"/>
    <a:srgbClr val="E94162"/>
    <a:srgbClr val="FEAAC2"/>
    <a:srgbClr val="FF99CC"/>
    <a:srgbClr val="FDACC3"/>
    <a:srgbClr val="DBDBDB"/>
    <a:srgbClr val="FFF1F3"/>
    <a:srgbClr val="F7DED5"/>
    <a:srgbClr val="F7D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709"/>
  </p:normalViewPr>
  <p:slideViewPr>
    <p:cSldViewPr snapToGrid="0">
      <p:cViewPr varScale="1">
        <p:scale>
          <a:sx n="73" d="100"/>
          <a:sy n="73" d="100"/>
        </p:scale>
        <p:origin x="408" y="200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7" name="Google Shape;67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2" name="Google Shape;71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9" name="Google Shape;77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5" name="Google Shape;82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4" name="Google Shape;91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5" name="Google Shape;97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7" name="Google Shape;100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0" name="Google Shape;10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8" name="Google Shape;109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7" name="Google Shape;114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1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E9C02-91DF-81A5-917A-1B53B5FAC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F549BF-B8C7-C510-52B6-D42B65780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1C16F-D742-B6E0-A5F1-DD535EA5D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7DEBBC-0FC6-C0A5-D7DF-3C84976F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63B7B-1F1A-5B3E-6994-A165AD6F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436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5565E-F3DD-F20C-F6C4-8DB7D079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8CDFC8-5284-96C9-5E1B-EB3C9B572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EDF398-7323-B04A-D153-776AFD6F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71DA91-349E-0CB9-1EFA-D06F005E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ABB2D-0FE4-AF10-29E5-CBC2E6CB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317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A4D1D-AE65-516B-797E-3DD35B5C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5A9034-792A-0229-3443-B37C115DD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74B19-B69E-1031-917D-AD28F37B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B0F6C-1F76-918C-9E76-3053159D4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35984E-8054-A517-552F-CAE7513A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225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655800-1014-E3B0-252C-031597E3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529007-9BE7-5AF9-407B-6CF92FEE1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8A20FA-395D-BC11-B0F5-8215D7878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8B24D3-BF99-7EDE-E473-3CD5F0FEF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99141-CEC1-5ABE-11C0-3AB0D6B2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1A2CF7-C0D3-6B9A-523D-FF3EA6513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2166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7A9DE-8DA3-7A85-60F2-FAA40E45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05FCE1-04C5-C5F6-4524-37E540832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FE1C17-75A5-6A1B-BBD1-AEC00F3EE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3281A3-A3E2-8A15-AB75-F9E959E29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F2B2EB-88A0-9052-68A0-94585202A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FBB31F-0DE1-EB23-C128-791B35EB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3D4F34-F3B1-347B-8448-ED8C4BB5E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A909FF-EA25-6DBB-E1D1-5DBE14A6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908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A86AF-B838-56C6-363A-589DC19F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A3EF4D-A918-A4A6-44F4-80AC586A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1A4594-3C2B-87DE-8C4E-B0071352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C75D5D-F872-AD3D-F411-F25F6868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777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811972-6BC4-9C43-8E0D-B19200A3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CC7E1C-15CD-D2EA-B6E6-02C57787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DC4374-D05B-1C62-0523-C458E302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0207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810CA-AF60-F148-4E21-84BB75DD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86F649-30E9-A394-6731-529C7993F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0E48C-E64F-D133-7CA2-F47454110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D533DE-06E9-9D22-46E4-4E3842E0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47AF19-516B-B1F3-BA8D-629D267A7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A2C98B-7842-2549-97F9-BF26E7507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41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3EE31-6059-311B-F79F-54CF003D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F03D60-BA11-D94A-B59B-A92F535FD8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E8E42-5C1A-2EFD-A899-DFF7E4AA4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F6F0A7-38C0-D1C1-8348-87E855D0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7724B3-69DF-ADF7-04DE-CB4233ED9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5B001-9953-0A26-B3AB-D8558085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8110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C9C91-E5C9-37E4-EDED-71A8CF26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1299B6-8D2E-DFD4-E2B9-48B26B940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40B22D-5900-DBD5-94A5-EDE3A1338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52162F-D03A-6F04-2593-2E84D78F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34EF2-E4B7-2907-1FE9-9B07C187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160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718B29-A870-10A6-630F-82A27486A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6551B7-E431-B438-5278-814445B2D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F0A51D-8AF9-008D-E154-4CA28995E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CE85F-C1F7-EF76-3567-376D341E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73976B-4822-EDCF-24B1-10A4B9D0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733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3B2F4-98EE-CC59-107C-393B56D92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086D36-FFBB-54FC-9AC6-55D4CCE9F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ADFFBE-1AF4-BBB2-2F57-DCB89869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B0516A-4AF5-750D-72D1-DB10BE353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8DCB6D-37BA-38D7-B1FD-F0CF8028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1695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9C7BA-9BDE-CCB7-937A-71973399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5B65E-9B60-BBDE-1ACC-1DA819E03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EED15-A924-A336-B5AC-0D04B0F2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98B2A8-8C78-FCF2-70B0-9CFDBEDC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3B3C9C-C9E6-CFC3-F798-F26D5EDB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9895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5888A-3FDA-5589-8306-FCF7F4DE3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220B4E-4809-27B5-BBC8-A4A910E08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25DE41-AD78-517B-21BF-0048A6B3A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4F664A-5E79-0E78-156E-D500D72A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F3CDA4-6A01-93B0-DF6A-56DE1DEE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0382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0B205-A367-76F0-4202-81A2DE0E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90ABE6-8959-1F29-49C1-1E0AC3E83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F0CB9D-1E96-EBE9-783D-33EA572CF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01B86B-9CAA-2EC4-AA7A-3C3BC39C2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7F4625-A631-3CAD-9727-2352D186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19B123-BA19-7D6B-011E-A1D4C8F4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04983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F6519-F6A9-9371-5736-1F784540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372B76-7FD5-E955-54B4-13A964EB5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5809FD-AACD-8662-3D00-9CC959A51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A85637-B3A6-BB15-1CCF-9CEA3E79A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BA79CC2-2E9B-AE42-04A9-0BB584FD7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CD0D6B-96D6-AB2B-35FD-9F2FED11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C1F953-0BF9-89D2-E929-A5CB3B84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A66E6E-03A7-7D01-38EC-56B4921F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0937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8739E4-6875-452D-022E-2FEFEBBB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6F9446-B1CF-0D5F-2B52-BA0327E6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478B4A-D126-C0BA-1840-426F0FD8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CA4747-5183-DC41-8DB2-1199A5DE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9229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D3CABD-A238-2759-0EE8-C7AF59480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A4BC74-1C18-FB0A-B558-9D94EA76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A09859-0920-3255-3530-AF54F92F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0055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CD90F-6F43-9CAD-6C2D-6BB1F271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E2856-B398-1369-8E9F-60AD4D475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40F360-A3A3-7563-9A66-E20BF7189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F6D3F-BE67-989B-A133-53F74247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982652-CC06-08DB-DB5B-4671D0A6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0D6B2-BA7B-72D5-80ED-D7CC86E2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1687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F92DF-3BF7-B666-5FB4-93006E04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44A89A-024A-8ADB-7D52-7C54945086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9BB32E-1E0B-9E1B-D602-2C6B94E80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C6D9C2-7E9D-829B-F3B0-077355A3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E36521-FDBD-8C8C-084D-8323C2481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68291F-776A-9655-08D9-D71161F7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2025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FD434A-9F2E-3FE5-0427-993F1B17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949D8C-9932-0157-AA85-7A29F1104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FE5755-CA13-7AC4-634A-AD06B7B4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2A556A-4A2C-3134-2122-73C90A3B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58FFCA-F339-6170-0009-08055CA0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08830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7D9F1E-5D83-2A56-95D9-1BA2CB794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1FCCB8-285C-8147-4648-87DF5FD53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C46D73-3D7A-18FD-7547-6D7104ED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E4A030-9A61-A6B3-5FF5-FC9DA40E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7FEA6B-511E-1CD8-2789-76E97FE5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094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4CF508-41D8-F6A1-F840-43CBC258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72644D-A01E-2B7D-C3BC-F18A32F1A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90D7F8-F4DE-00B7-9950-AB87DF80B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07BBC-3A93-954F-B4AF-FB440B9C8A37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F0AF5-5E20-34C6-89B7-33E879368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D12EC3-D1E7-DB81-68A4-E32268A87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A9D83-7FB7-7C4C-9179-B47A43A84D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3651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F6C4C2-9DE3-8493-9420-72E97152C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511E9B-2634-2C58-A6B1-DCF9F36AA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A200A1-E14C-6EA8-6F77-83F8CA5CB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F1F9A-CC41-DC4C-BFF9-2F641425DB3A}" type="datetimeFigureOut">
              <a:rPr kumimoji="1" lang="ko-KR" altLang="en-US" smtClean="0"/>
              <a:t>2026. 10. 14.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36C41-839C-EA17-9306-0C226C9A5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1321FC-57EF-797A-2DEF-0A88B72CF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1ABCB-9B36-104D-9648-CD1802F7422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269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77500" y="0"/>
            <a:ext cx="7810500" cy="1028700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8288000" cy="95250"/>
          </a:xfrm>
          <a:prstGeom prst="rect">
            <a:avLst/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43000" y="303847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5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5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404342" y="3028950"/>
            <a:ext cx="50467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14413" y="3672699"/>
            <a:ext cx="8829600" cy="1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5700"/>
              <a:buFont typeface="Arial"/>
              <a:buNone/>
            </a:pPr>
            <a:r>
              <a:rPr lang="ko-KR" altLang="en-US" sz="4800" b="1" i="0" u="none" strike="noStrike" cap="none" spc="-17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찜만 쌓여 있던 수요를, </a:t>
            </a:r>
            <a:endParaRPr sz="4800" b="1" i="0" u="none" strike="noStrike" cap="none" spc="-171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5700"/>
              <a:buFont typeface="Arial"/>
              <a:buNone/>
            </a:pPr>
            <a:r>
              <a:rPr lang="ko-KR" altLang="en-US" sz="4800" b="1" i="0" u="none" strike="noStrike" cap="none" spc="-17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결제가 끝난 확정 주문으로</a:t>
            </a:r>
            <a:endParaRPr sz="4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3000" y="5830906"/>
            <a:ext cx="8572500" cy="14288"/>
          </a:xfrm>
          <a:prstGeom prst="rect">
            <a:avLst/>
          </a:prstGeom>
          <a:solidFill>
            <a:srgbClr val="1C1C1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43000" y="6111893"/>
            <a:ext cx="88296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550"/>
              <a:buFont typeface="Arial"/>
              <a:buNone/>
            </a:pPr>
            <a:r>
              <a:rPr lang="ko-KR" altLang="en-US" sz="25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카페24 홈리빙 자체 브랜드를 위한 예약 공동구매 도구</a:t>
            </a:r>
            <a:endParaRPr sz="25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143000" y="6944140"/>
            <a:ext cx="942975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[</a:t>
            </a:r>
            <a:r>
              <a:rPr lang="en-US" sz="2100" b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HOP</a:t>
            </a: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] · [</a:t>
            </a:r>
            <a:r>
              <a:rPr lang="ko-KR" altLang="en-US" sz="2100" b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강민서,김보성,김혜수,이규현,하유정</a:t>
            </a: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]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pic>
        <p:nvPicPr>
          <p:cNvPr id="24" name="Google Shape;24;p3" descr="preencoded.png"/>
          <p:cNvPicPr preferRelativeResize="0"/>
          <p:nvPr/>
        </p:nvPicPr>
        <p:blipFill rotWithShape="1">
          <a:blip r:embed="rId3">
            <a:alphaModFix amt="99000"/>
          </a:blip>
          <a:srcRect/>
          <a:stretch/>
        </p:blipFill>
        <p:spPr>
          <a:xfrm>
            <a:off x="11334750" y="3210563"/>
            <a:ext cx="6096000" cy="38690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516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404342" y="762000"/>
            <a:ext cx="31940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lvl="0" eaLnBrk="0">
              <a:buClr>
                <a:srgbClr val="1C1C1F"/>
              </a:buClr>
              <a:buSzPts val="1950"/>
            </a:pPr>
            <a:r>
              <a:rPr lang="en-US" altLang="ko-KR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01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</a:t>
            </a: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· 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공구 · 시장조사 · 2026.10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5개국 구매 결정 벤치마킹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3000" y="2148780"/>
            <a:ext cx="14712696" cy="45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3538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1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5개국 모두 "이 값이 </a:t>
            </a:r>
            <a:r>
              <a:rPr lang="ko-KR" altLang="en-US" sz="21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맞나"에서</a:t>
            </a:r>
            <a:r>
              <a:rPr lang="ko-KR" altLang="en-US" sz="21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멈췄고</a:t>
            </a:r>
            <a:r>
              <a:rPr lang="en-US" altLang="ko-KR" sz="21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,</a:t>
            </a:r>
            <a:r>
              <a:rPr lang="ko-KR" altLang="en-US" sz="21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프로모션 설계는 아무도 </a:t>
            </a:r>
            <a:r>
              <a:rPr lang="ko-KR" altLang="en-US" sz="21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풀지 않았습니다</a:t>
            </a:r>
            <a:endParaRPr sz="21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43000" y="2771715"/>
            <a:ext cx="3414861" cy="6048449"/>
          </a:xfrm>
          <a:prstGeom prst="roundRect">
            <a:avLst>
              <a:gd name="adj" fmla="val 2789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500188" y="3174146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690688" y="3095565"/>
            <a:ext cx="88723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7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STEP 1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500188" y="3486090"/>
            <a:ext cx="297053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해외 이커머스 조사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500188" y="4015621"/>
            <a:ext cx="479152" cy="495300"/>
          </a:xfrm>
          <a:prstGeom prst="ellipse">
            <a:avLst/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462088" y="4015621"/>
            <a:ext cx="55535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한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055540" y="4015621"/>
            <a:ext cx="479078" cy="495300"/>
          </a:xfrm>
          <a:prstGeom prst="ellipse">
            <a:avLst/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017440" y="4015621"/>
            <a:ext cx="55527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미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610817" y="4015621"/>
            <a:ext cx="479152" cy="495300"/>
          </a:xfrm>
          <a:prstGeom prst="ellipse">
            <a:avLst/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72717" y="4015621"/>
            <a:ext cx="55535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영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166170" y="4015621"/>
            <a:ext cx="479152" cy="495300"/>
          </a:xfrm>
          <a:prstGeom prst="ellipse">
            <a:avLst/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128070" y="4015621"/>
            <a:ext cx="55535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일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721522" y="4015621"/>
            <a:ext cx="479152" cy="495300"/>
          </a:xfrm>
          <a:prstGeom prst="ellipse">
            <a:avLst/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83422" y="4015621"/>
            <a:ext cx="55535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중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00188" y="4644271"/>
            <a:ext cx="297053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5개국 × 쇼핑 7단계 전체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500188" y="6953264"/>
            <a:ext cx="2700486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00188" y="7119951"/>
            <a:ext cx="29705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왜?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710261" y="2771701"/>
            <a:ext cx="419100" cy="6086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›</a:t>
            </a:r>
            <a:endParaRPr sz="3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281761" y="2772514"/>
            <a:ext cx="3414861" cy="6048449"/>
          </a:xfrm>
          <a:prstGeom prst="roundRect">
            <a:avLst>
              <a:gd name="adj" fmla="val 2789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638949" y="317494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829449" y="3096364"/>
            <a:ext cx="88723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7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STEP 2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638949" y="3486889"/>
            <a:ext cx="297053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③ 구매 결정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638949" y="4016419"/>
            <a:ext cx="947365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786586" y="4078332"/>
            <a:ext cx="728290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① 탐색</a:t>
            </a:r>
            <a:endParaRPr sz="15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662514" y="4016419"/>
            <a:ext cx="1404789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810152" y="4078332"/>
            <a:ext cx="1185714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② 비교·검토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638949" y="4513579"/>
            <a:ext cx="1411039" cy="420960"/>
          </a:xfrm>
          <a:prstGeom prst="roundRect">
            <a:avLst>
              <a:gd name="adj" fmla="val 13576"/>
            </a:avLst>
          </a:prstGeom>
          <a:solidFill>
            <a:srgbClr val="1C1C1F">
              <a:alpha val="98824"/>
            </a:srgbClr>
          </a:solidFill>
          <a:ln w="14275" cap="flat" cmpd="sng">
            <a:solidFill>
              <a:srgbClr val="1C1C1F">
                <a:alpha val="98824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786586" y="4575492"/>
            <a:ext cx="1191964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ko-KR" altLang="en-US" sz="1550" b="1" i="0" u="none" strike="noStrike" cap="none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③ 구매 결정</a:t>
            </a:r>
            <a:endParaRPr sz="15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126188" y="4513579"/>
            <a:ext cx="947365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73826" y="4575492"/>
            <a:ext cx="728290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④ 결제</a:t>
            </a:r>
            <a:endParaRPr sz="15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638949" y="5010739"/>
            <a:ext cx="947365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786586" y="5072652"/>
            <a:ext cx="728290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⑤ 배송</a:t>
            </a:r>
            <a:endParaRPr sz="15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662514" y="5010739"/>
            <a:ext cx="1315045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810152" y="5072652"/>
            <a:ext cx="1095970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⑥반품·CS</a:t>
            </a:r>
            <a:endParaRPr sz="16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638949" y="5507900"/>
            <a:ext cx="1602358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786586" y="5569812"/>
            <a:ext cx="1383283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⑦ 재구매·충성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638949" y="6946900"/>
            <a:ext cx="2700486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638949" y="7112000"/>
            <a:ext cx="29705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왜?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849023" y="2771701"/>
            <a:ext cx="419100" cy="6086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›</a:t>
            </a:r>
            <a:endParaRPr sz="3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309794" y="2755875"/>
            <a:ext cx="3414936" cy="6048449"/>
          </a:xfrm>
          <a:prstGeom prst="roundRect">
            <a:avLst>
              <a:gd name="adj" fmla="val 2789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9777710" y="3177479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9968210" y="3098897"/>
            <a:ext cx="88723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7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STEP 3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777710" y="3489422"/>
            <a:ext cx="297061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Ⓓ 프로모션 설계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777710" y="4018953"/>
            <a:ext cx="1404789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9925348" y="4080865"/>
            <a:ext cx="1185714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Ⓐ 담기·보관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9777710" y="4516113"/>
            <a:ext cx="1396752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9925348" y="4578026"/>
            <a:ext cx="1177677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Ⓑ 가격 확신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777710" y="5013274"/>
            <a:ext cx="1396752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9925348" y="5075186"/>
            <a:ext cx="1177677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Ⓒ 할인 적용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777710" y="5510434"/>
            <a:ext cx="1806476" cy="420960"/>
          </a:xfrm>
          <a:prstGeom prst="roundRect">
            <a:avLst>
              <a:gd name="adj" fmla="val 13576"/>
            </a:avLst>
          </a:prstGeom>
          <a:solidFill>
            <a:srgbClr val="1C1C1F">
              <a:alpha val="96863"/>
            </a:srgbClr>
          </a:solidFill>
          <a:ln w="14275" cap="flat" cmpd="sng">
            <a:solidFill>
              <a:srgbClr val="1C1C1F">
                <a:alpha val="9686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925348" y="5572346"/>
            <a:ext cx="1587401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ko-KR" altLang="en-US" sz="1550" b="1" i="0" u="none" strike="noStrike" cap="none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Ⓓ 프로모션 설계</a:t>
            </a:r>
            <a:endParaRPr sz="15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777710" y="6007594"/>
            <a:ext cx="2051745" cy="420960"/>
          </a:xfrm>
          <a:prstGeom prst="roundRect">
            <a:avLst>
              <a:gd name="adj" fmla="val 13576"/>
            </a:avLst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9925350" y="6069500"/>
            <a:ext cx="20517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Ⓔ 망설임·이탈 회수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777710" y="6956597"/>
            <a:ext cx="2700561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9777710" y="7123284"/>
            <a:ext cx="297061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왜?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777710" y="7475709"/>
            <a:ext cx="2781578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숨은</a:t>
            </a:r>
            <a:r>
              <a:rPr lang="ko-KR" altLang="en-US" sz="17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기업 18곳 중 주력은 1곳뿐 · 아이디어 점수는 1위 (평균 12.3점)</a:t>
            </a:r>
            <a:endParaRPr sz="17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2987858" y="2771701"/>
            <a:ext cx="419100" cy="6086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›</a:t>
            </a:r>
            <a:endParaRPr sz="3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3559358" y="2780580"/>
            <a:ext cx="3585567" cy="6048449"/>
          </a:xfrm>
          <a:prstGeom prst="roundRect">
            <a:avLst>
              <a:gd name="adj" fmla="val 2656"/>
            </a:avLst>
          </a:prstGeom>
          <a:solidFill>
            <a:srgbClr val="FFF0F3">
              <a:alpha val="92941"/>
            </a:srgbClr>
          </a:solidFill>
          <a:ln w="14275" cap="flat" cmpd="sng">
            <a:solidFill>
              <a:srgbClr val="FDAAC1">
                <a:alpha val="9294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3916546" y="319015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4107046" y="3104430"/>
            <a:ext cx="683196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그래서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3916546" y="3509243"/>
            <a:ext cx="31584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65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4500"/>
              <a:buFont typeface="Arial"/>
              <a:buNone/>
            </a:pPr>
            <a:r>
              <a:rPr lang="ko-KR" altLang="en-US" sz="4500" b="1" i="0" u="none" strike="noStrike" cap="none" spc="-9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공구</a:t>
            </a:r>
            <a:endParaRPr sz="4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3835521" y="6280581"/>
            <a:ext cx="2957400" cy="9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641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550"/>
              <a:buFont typeface="Arial"/>
              <a:buNone/>
            </a:pPr>
            <a:r>
              <a:rPr lang="ko-KR" altLang="en-US" sz="23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비어 있는 </a:t>
            </a:r>
            <a:endParaRPr lang="en-US" altLang="ko-KR" sz="2300" b="1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  <a:p>
            <a:pPr marL="0" marR="0" lvl="0" indent="0" algn="l" rtl="0" eaLnBrk="0">
              <a:lnSpc>
                <a:spcPct val="12641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550"/>
              <a:buFont typeface="Arial"/>
              <a:buNone/>
            </a:pPr>
            <a:r>
              <a:rPr lang="en-US" altLang="ko-KR" sz="23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‘</a:t>
            </a:r>
            <a:r>
              <a:rPr lang="ko-KR" altLang="en-US" sz="23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Ⓓ 프로모션 설계</a:t>
            </a:r>
            <a:r>
              <a:rPr lang="en-US" altLang="ko-KR" sz="23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’</a:t>
            </a:r>
            <a:r>
              <a:rPr lang="ko-KR" altLang="en-US" sz="2300" b="1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를</a:t>
            </a:r>
            <a:r>
              <a:rPr lang="ko-KR" altLang="en-US" sz="23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endParaRPr lang="en-US" altLang="ko-KR" sz="2300" b="1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  <a:p>
            <a:pPr marL="0" marR="0" lvl="0" indent="0" algn="l" rtl="0" eaLnBrk="0">
              <a:lnSpc>
                <a:spcPct val="12641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550"/>
              <a:buFont typeface="Arial"/>
              <a:buNone/>
            </a:pPr>
            <a:r>
              <a:rPr lang="ko-KR" altLang="en-US" sz="23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예약 공동 구매로 채움</a:t>
            </a:r>
            <a:endParaRPr sz="2300" b="1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143000" y="9029700"/>
            <a:ext cx="17602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자료: 이커머스 벤치마킹 공동 조사표 · ③ 구매 결정 5개국 통합 (2026-10-02) · 숨은 기업 18곳 · 한국용 아이디어 25개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</a:t>
            </a:r>
            <a:r>
              <a:rPr lang="ko-KR" altLang="en-US" sz="16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찜 공구</a:t>
            </a:r>
            <a:endParaRPr sz="16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02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102" name="Google Shape;102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2" name="Google Shape;73;p4">
            <a:extLst>
              <a:ext uri="{FF2B5EF4-FFF2-40B4-BE49-F238E27FC236}">
                <a16:creationId xmlns:a16="http://schemas.microsoft.com/office/drawing/2014/main" id="{9A609146-4EF9-ACD1-25AA-8FE1CD9A7C81}"/>
              </a:ext>
            </a:extLst>
          </p:cNvPr>
          <p:cNvSpPr/>
          <p:nvPr/>
        </p:nvSpPr>
        <p:spPr>
          <a:xfrm>
            <a:off x="5598440" y="7460007"/>
            <a:ext cx="2781501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찜·장바구니에서</a:t>
            </a:r>
            <a:r>
              <a:rPr lang="ko-KR" altLang="en-US" sz="17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가장 많이 떠남(미국 </a:t>
            </a:r>
            <a:r>
              <a:rPr lang="ko-KR" altLang="en-US" sz="17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이탈률</a:t>
            </a:r>
            <a:r>
              <a:rPr lang="ko-KR" altLang="en-US" sz="17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70.22%)</a:t>
            </a:r>
            <a:endParaRPr sz="17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" name="Google Shape;51;p4">
            <a:extLst>
              <a:ext uri="{FF2B5EF4-FFF2-40B4-BE49-F238E27FC236}">
                <a16:creationId xmlns:a16="http://schemas.microsoft.com/office/drawing/2014/main" id="{47CD8BC9-7BA5-A543-4D4A-FA4AD60AE45C}"/>
              </a:ext>
            </a:extLst>
          </p:cNvPr>
          <p:cNvSpPr/>
          <p:nvPr/>
        </p:nvSpPr>
        <p:spPr>
          <a:xfrm>
            <a:off x="1500188" y="7472376"/>
            <a:ext cx="2781501" cy="106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국내에 아직 없는 해외 해법을 찾으려고 나라별로 </a:t>
            </a:r>
            <a:r>
              <a:rPr lang="ko-KR" altLang="en-US" sz="170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마켓 리서치</a:t>
            </a:r>
            <a:endParaRPr sz="17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45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404342" y="762000"/>
            <a:ext cx="226183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lvl="0" eaLnBrk="0">
              <a:buClr>
                <a:srgbClr val="1C1C1F"/>
              </a:buClr>
              <a:buSzPts val="1950"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</a:t>
            </a:r>
            <a:r>
              <a:rPr lang="en-US" altLang="ko-KR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1-1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</a:t>
            </a: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시장조사 · 5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개국 공통 통증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5개국 모두 "구매 결정" 단계에서 멈춥니다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143000" y="2148797"/>
            <a:ext cx="3048000" cy="6261795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500188" y="2467885"/>
            <a:ext cx="2566988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한국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500188" y="2997415"/>
            <a:ext cx="2566988" cy="64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224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4350"/>
              <a:buFont typeface="Arial"/>
              <a:buNone/>
            </a:pPr>
            <a:r>
              <a:rPr lang="ko-KR" altLang="en-US" sz="4350" b="1" i="0" u="none" strike="noStrike" cap="none" spc="-87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45건</a:t>
            </a:r>
            <a:endParaRPr sz="4350" b="1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500188" y="3847750"/>
            <a:ext cx="3048000" cy="8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온라인 </a:t>
            </a:r>
            <a:r>
              <a:rPr lang="ko-KR" altLang="en-US" sz="2000" b="0" i="0" u="none" strike="noStrike" cap="none" spc="-150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다크패턴</a:t>
            </a: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적발 </a:t>
            </a:r>
            <a:endParaRPr lang="en-US" altLang="ko-KR" sz="2000" b="0" i="0" u="none" strike="noStrike" cap="none" spc="-150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(</a:t>
            </a:r>
            <a:r>
              <a:rPr lang="ko-KR" altLang="en-US" sz="2000" b="0" i="0" u="none" strike="noStrike" cap="none" spc="-150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공정위·소비자원</a:t>
            </a: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, </a:t>
            </a:r>
            <a:endParaRPr lang="en-US" altLang="ko-KR" sz="2000" b="0" i="0" u="none" strike="noStrike" cap="none" spc="-150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2025)</a:t>
            </a:r>
            <a:endParaRPr sz="2000" b="0" i="0" u="none" strike="noStrike" cap="none" spc="-15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500188" y="6751455"/>
            <a:ext cx="233362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500188" y="7020537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690688" y="6941955"/>
            <a:ext cx="116405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5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Pain Point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500188" y="7294380"/>
            <a:ext cx="2757488" cy="8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025"/>
              <a:buFont typeface="Arial"/>
              <a:buNone/>
            </a:pPr>
            <a:r>
              <a:rPr lang="ko-KR" altLang="en-US" sz="180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지금 이 값이 </a:t>
            </a:r>
            <a:endParaRPr lang="en-US" altLang="ko-KR" sz="180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025"/>
              <a:buFont typeface="Arial"/>
              <a:buNone/>
            </a:pPr>
            <a:r>
              <a:rPr lang="ko-KR" altLang="en-US" sz="180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최종가이자</a:t>
            </a:r>
            <a:r>
              <a:rPr lang="ko-KR" altLang="en-US" sz="180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최저가인가</a:t>
            </a:r>
            <a:endParaRPr lang="ko-KR" altLang="en-US" sz="180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381500" y="2149611"/>
            <a:ext cx="3048000" cy="6261795"/>
          </a:xfrm>
          <a:prstGeom prst="roundRect">
            <a:avLst>
              <a:gd name="adj" fmla="val 3125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738688" y="2468699"/>
            <a:ext cx="2566988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미국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738688" y="2998229"/>
            <a:ext cx="2566988" cy="64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224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4350"/>
              <a:buFont typeface="Arial"/>
              <a:buNone/>
            </a:pPr>
            <a:r>
              <a:rPr lang="en-US" sz="4350" b="1" i="0" u="none" strike="noStrike" cap="none" spc="-87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70.22%</a:t>
            </a:r>
            <a:endParaRPr sz="4350" b="1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22" name="Google Shape;122;p5"/>
          <p:cNvSpPr>
            <a:spLocks/>
          </p:cNvSpPr>
          <p:nvPr/>
        </p:nvSpPr>
        <p:spPr>
          <a:xfrm>
            <a:off x="4721102" y="3809208"/>
            <a:ext cx="2881311" cy="6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평균 장바구니</a:t>
            </a:r>
            <a:r>
              <a:rPr lang="en-US" altLang="ko-KR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</a:t>
            </a:r>
            <a:r>
              <a:rPr lang="ko-KR" altLang="en-US" sz="2000" b="0" i="0" u="none" strike="noStrike" cap="none" spc="-150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이탈률</a:t>
            </a:r>
            <a:endParaRPr lang="en-US" altLang="ko-KR" sz="2000" b="0" i="0" u="none" strike="noStrike" cap="none" spc="-150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(</a:t>
            </a:r>
            <a:r>
              <a:rPr lang="ko-KR" altLang="en-US" sz="2000" b="0" i="0" u="none" strike="noStrike" cap="none" spc="-150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Baymard</a:t>
            </a: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, </a:t>
            </a:r>
            <a:endParaRPr lang="en-US" altLang="ko-KR" sz="2000" b="0" i="0" u="none" strike="noStrike" cap="none" spc="-150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50개 연구)</a:t>
            </a:r>
            <a:endParaRPr sz="2000" b="0" i="0" u="none" strike="noStrike" cap="none" spc="-15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738688" y="6764938"/>
            <a:ext cx="233362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738688" y="7017241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929188" y="6955438"/>
            <a:ext cx="116405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500" b="1" i="0" u="none" strike="noStrike" cap="none" spc="36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Pain Point</a:t>
            </a:r>
            <a:endParaRPr sz="1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738688" y="7307863"/>
            <a:ext cx="2566988" cy="43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025"/>
              <a:buFont typeface="Arial"/>
              <a:buNone/>
            </a:pPr>
            <a:r>
              <a:rPr lang="ko-KR" altLang="en-US" sz="180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 할인이 진짜인가</a:t>
            </a:r>
            <a:endParaRPr sz="180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620000" y="2152171"/>
            <a:ext cx="3048000" cy="6261795"/>
          </a:xfrm>
          <a:prstGeom prst="roundRect">
            <a:avLst>
              <a:gd name="adj" fmla="val 3125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977188" y="2471258"/>
            <a:ext cx="2566988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영국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977188" y="3000789"/>
            <a:ext cx="2566988" cy="64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224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4350"/>
              <a:buFont typeface="Arial"/>
              <a:buNone/>
            </a:pPr>
            <a:r>
              <a:rPr lang="en-US" sz="4350" b="1" i="0" u="none" strike="noStrike" cap="none" spc="-87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£38bn</a:t>
            </a:r>
            <a:endParaRPr sz="4350" b="1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939087" y="3809208"/>
            <a:ext cx="2409825" cy="6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단계에서 버려진 구매액 (2024)</a:t>
            </a:r>
            <a:endParaRPr sz="2000" b="0" i="0" u="none" strike="noStrike" cap="none" spc="-15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977188" y="6754830"/>
            <a:ext cx="233362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977188" y="7023911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167687" y="6945330"/>
            <a:ext cx="116405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5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Pain Point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977188" y="7297755"/>
            <a:ext cx="2409825" cy="8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025"/>
              <a:buFont typeface="Arial"/>
              <a:buNone/>
            </a:pPr>
            <a:r>
              <a:rPr lang="ko-KR" altLang="en-US" sz="180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마지막에 드러나는 진짜 총액</a:t>
            </a:r>
            <a:endParaRPr sz="180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0858500" y="2157750"/>
            <a:ext cx="3048000" cy="6261795"/>
          </a:xfrm>
          <a:prstGeom prst="roundRect">
            <a:avLst>
              <a:gd name="adj" fmla="val 3125"/>
            </a:avLst>
          </a:prstGeom>
          <a:solidFill>
            <a:srgbClr val="FFFFFF">
              <a:alpha val="92941"/>
            </a:srgbClr>
          </a:solidFill>
          <a:ln w="14275" cap="flat" cmpd="sng">
            <a:solidFill>
              <a:srgbClr val="1C1C1F">
                <a:alpha val="1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215688" y="2476838"/>
            <a:ext cx="2566988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일본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1215688" y="3006369"/>
            <a:ext cx="2566988" cy="64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224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4350"/>
              <a:buFont typeface="Arial"/>
              <a:buNone/>
            </a:pPr>
            <a:r>
              <a:rPr lang="en-US" sz="4350" b="1" i="0" u="none" strike="noStrike" cap="none" spc="-87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62.9%</a:t>
            </a:r>
            <a:endParaRPr sz="4350" b="1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1215688" y="3851725"/>
            <a:ext cx="2409825" cy="6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EC 장바구니 </a:t>
            </a:r>
            <a:r>
              <a:rPr lang="ko-KR" altLang="en-US" sz="2000" b="0" i="0" u="none" strike="noStrike" cap="none" spc="-150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이탈률</a:t>
            </a: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(2025, 회사 조사)</a:t>
            </a:r>
            <a:endParaRPr sz="2000" b="0" i="0" u="none" strike="noStrike" cap="none" spc="-15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215688" y="6760409"/>
            <a:ext cx="2333625" cy="14288"/>
          </a:xfrm>
          <a:prstGeom prst="rect">
            <a:avLst/>
          </a:prstGeom>
          <a:solidFill>
            <a:srgbClr val="1C1C1F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1215688" y="7029490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1406188" y="6950909"/>
            <a:ext cx="1164059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5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Pain Point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1215688" y="7303334"/>
            <a:ext cx="2409825" cy="8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025"/>
              <a:buFont typeface="Arial"/>
              <a:buNone/>
            </a:pPr>
            <a:r>
              <a:rPr lang="ko-KR" altLang="en-US" sz="180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직전에 붙는 배송비</a:t>
            </a:r>
            <a:endParaRPr sz="180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4097000" y="2169264"/>
            <a:ext cx="3048000" cy="6261795"/>
          </a:xfrm>
          <a:prstGeom prst="roundRect">
            <a:avLst>
              <a:gd name="adj" fmla="val 3125"/>
            </a:avLst>
          </a:prstGeom>
          <a:solidFill>
            <a:srgbClr val="FFFFFF">
              <a:alpha val="85098"/>
            </a:srgbClr>
          </a:solidFill>
          <a:ln w="14275" cap="flat" cmpd="sng">
            <a:solidFill>
              <a:srgbClr val="1C1C1F">
                <a:alpha val="1411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4454188" y="2488351"/>
            <a:ext cx="2566988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중국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4454188" y="3017881"/>
            <a:ext cx="2566988" cy="64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224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4350"/>
              <a:buFont typeface="Arial"/>
              <a:buNone/>
            </a:pPr>
            <a:r>
              <a:rPr lang="ko-KR" altLang="en-US" sz="4350" b="1" i="0" u="none" strike="noStrike" cap="none" spc="-87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10.4만 건</a:t>
            </a:r>
            <a:endParaRPr sz="4350" b="1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4454188" y="3845162"/>
            <a:ext cx="2409825" cy="6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双11 "할인 꼼수" 불만 게시물 (2024)</a:t>
            </a:r>
            <a:endParaRPr sz="2000" b="0" i="0" u="none" strike="noStrike" cap="none" spc="-15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4454188" y="6771923"/>
            <a:ext cx="2333625" cy="14288"/>
          </a:xfrm>
          <a:prstGeom prst="rect">
            <a:avLst/>
          </a:prstGeom>
          <a:solidFill>
            <a:srgbClr val="1C1C1F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4454188" y="7041003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8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4644688" y="6962423"/>
            <a:ext cx="1164059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5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Pain Point</a:t>
            </a:r>
            <a:endParaRPr sz="1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4454188" y="7314847"/>
            <a:ext cx="2409825" cy="8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025"/>
              <a:buFont typeface="Arial"/>
              <a:buNone/>
            </a:pPr>
            <a:r>
              <a:rPr lang="ko-KR" altLang="en-US" sz="180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먼저 올리고 깎는 </a:t>
            </a:r>
            <a:endParaRPr lang="en-US" altLang="ko-KR" sz="180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025"/>
              <a:buFont typeface="Arial"/>
              <a:buNone/>
            </a:pPr>
            <a:r>
              <a:rPr lang="ko-KR" altLang="en-US" sz="180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가짜 할인</a:t>
            </a:r>
            <a:endParaRPr sz="180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143000" y="8665536"/>
            <a:ext cx="16002000" cy="752475"/>
          </a:xfrm>
          <a:prstGeom prst="roundRect">
            <a:avLst>
              <a:gd name="adj" fmla="val 10127"/>
            </a:avLst>
          </a:prstGeom>
          <a:solidFill>
            <a:srgbClr val="FFF0F3">
              <a:alpha val="6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03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156" name="Google Shape;15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2" name="Google Shape;152;p5">
            <a:extLst>
              <a:ext uri="{FF2B5EF4-FFF2-40B4-BE49-F238E27FC236}">
                <a16:creationId xmlns:a16="http://schemas.microsoft.com/office/drawing/2014/main" id="{522A176A-2A5F-4399-B8C1-DDEB6DA59AEF}"/>
              </a:ext>
            </a:extLst>
          </p:cNvPr>
          <p:cNvSpPr/>
          <p:nvPr/>
        </p:nvSpPr>
        <p:spPr>
          <a:xfrm>
            <a:off x="1466088" y="8819460"/>
            <a:ext cx="1587246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 </a:t>
            </a:r>
            <a:r>
              <a:rPr lang="ko-KR" altLang="en-US" sz="195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한국·미국·중국은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가격, </a:t>
            </a:r>
            <a:r>
              <a:rPr lang="ko-KR" altLang="en-US" sz="195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영국·일본은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</a:t>
            </a:r>
            <a:r>
              <a:rPr lang="ko-KR" altLang="en-US" sz="195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구매 최종 단계에서 </a:t>
            </a:r>
            <a:r>
              <a:rPr lang="ko-KR" altLang="en-US" sz="1950" b="1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이탈률이</a:t>
            </a:r>
            <a:r>
              <a:rPr lang="ko-KR" altLang="en-US" sz="195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가장 크게 </a:t>
            </a:r>
            <a:r>
              <a:rPr lang="ko-KR" altLang="en-US" sz="195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나타납니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다. 공통 통증은 "</a:t>
            </a:r>
            <a:r>
              <a:rPr lang="ko-KR" altLang="en-US" sz="195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최종 </a:t>
            </a:r>
            <a:r>
              <a:rPr lang="ko-KR" altLang="en-US" sz="1950" b="1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구매</a:t>
            </a:r>
            <a:r>
              <a:rPr lang="ko-KR" altLang="en-US" sz="195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"에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대한 </a:t>
            </a:r>
            <a:r>
              <a:rPr lang="ko-KR" altLang="en-US" sz="195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망설임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입니다.</a:t>
            </a:r>
            <a:endParaRPr sz="19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160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404351" y="762000"/>
            <a:ext cx="438185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lvl="0" eaLnBrk="0">
              <a:buClr>
                <a:srgbClr val="1C1C1F"/>
              </a:buClr>
              <a:buSzPts val="1950"/>
            </a:pP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</a:t>
            </a:r>
            <a:r>
              <a:rPr 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1-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2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</a:t>
            </a: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시장조사 · 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어디가 비어 있나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143000" y="1259536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en-US" altLang="ko-KR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‘</a:t>
            </a: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Ⓓ 프로모션 설계</a:t>
            </a:r>
            <a:r>
              <a:rPr lang="en-US" altLang="ko-KR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’</a:t>
            </a: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단계가 </a:t>
            </a:r>
            <a:r>
              <a:rPr lang="ko-KR" altLang="en-US" sz="3900" b="1" i="0" u="none" strike="noStrike" cap="none" spc="-78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비어있었습니다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143000" y="2485840"/>
            <a:ext cx="1123950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나라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180622" y="2485840"/>
            <a:ext cx="1899211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Ⓐ 담기·보관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983374" y="2485840"/>
            <a:ext cx="1899292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Ⓑ 가격 확신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786203" y="2485840"/>
            <a:ext cx="1899292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Ⓒ 할인 적용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675364" y="2447740"/>
            <a:ext cx="1726629" cy="373335"/>
          </a:xfrm>
          <a:prstGeom prst="roundRect">
            <a:avLst>
              <a:gd name="adj" fmla="val 25513"/>
            </a:avLst>
          </a:prstGeom>
          <a:solidFill>
            <a:srgbClr val="FDAA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694414" y="2485840"/>
            <a:ext cx="1688529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Ⓓ 프로모션 설계</a:t>
            </a:r>
            <a:endParaRPr sz="16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391862" y="2485840"/>
            <a:ext cx="1899292" cy="3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Ⓔ 이탈 회수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143000" y="3106825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한국</a:t>
            </a:r>
            <a:endParaRPr sz="19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266950" y="2916325"/>
            <a:ext cx="1726555" cy="685800"/>
          </a:xfrm>
          <a:prstGeom prst="roundRect">
            <a:avLst>
              <a:gd name="adj" fmla="val 2778"/>
            </a:avLst>
          </a:prstGeom>
          <a:solidFill>
            <a:srgbClr val="FDAA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228850" y="2916325"/>
            <a:ext cx="180275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069705" y="291632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031605" y="291632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872535" y="291632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834435" y="291632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675364" y="2897275"/>
            <a:ext cx="1726629" cy="723900"/>
          </a:xfrm>
          <a:prstGeom prst="roundRect">
            <a:avLst>
              <a:gd name="adj" fmla="val 2632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656314" y="2916325"/>
            <a:ext cx="17647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없음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478194" y="291632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440094" y="291632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143000" y="3887875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미국</a:t>
            </a:r>
            <a:endParaRPr sz="19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266950" y="3697375"/>
            <a:ext cx="1726555" cy="685800"/>
          </a:xfrm>
          <a:prstGeom prst="roundRect">
            <a:avLst>
              <a:gd name="adj" fmla="val 2778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228850" y="3697375"/>
            <a:ext cx="180275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069705" y="369737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DAA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031605" y="369737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872535" y="369737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DAA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834435" y="369737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675364" y="369737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637264" y="369737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9478194" y="369737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440094" y="369737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143000" y="4668925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영국</a:t>
            </a:r>
            <a:endParaRPr sz="19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266950" y="4478425"/>
            <a:ext cx="1726555" cy="685800"/>
          </a:xfrm>
          <a:prstGeom prst="roundRect">
            <a:avLst>
              <a:gd name="adj" fmla="val 2778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228850" y="4478425"/>
            <a:ext cx="180275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069705" y="447842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031605" y="447842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872535" y="447842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DAA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834435" y="447842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675364" y="4459375"/>
            <a:ext cx="1726629" cy="723900"/>
          </a:xfrm>
          <a:prstGeom prst="roundRect">
            <a:avLst>
              <a:gd name="adj" fmla="val 2632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656314" y="4478425"/>
            <a:ext cx="17647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없음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9478194" y="447842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440094" y="447842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143000" y="5469025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일본</a:t>
            </a:r>
            <a:endParaRPr sz="19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266950" y="5278525"/>
            <a:ext cx="1726555" cy="685800"/>
          </a:xfrm>
          <a:prstGeom prst="roundRect">
            <a:avLst>
              <a:gd name="adj" fmla="val 2778"/>
            </a:avLst>
          </a:prstGeom>
          <a:solidFill>
            <a:srgbClr val="F55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2228850" y="5278525"/>
            <a:ext cx="180275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069705" y="527852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55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031605" y="527852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872535" y="527852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DAA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834435" y="527852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7675364" y="5259475"/>
            <a:ext cx="1726629" cy="723900"/>
          </a:xfrm>
          <a:prstGeom prst="roundRect">
            <a:avLst>
              <a:gd name="adj" fmla="val 2632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656314" y="5278525"/>
            <a:ext cx="17647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없음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9478194" y="527852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DAA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9440094" y="527852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1143000" y="6250075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중국</a:t>
            </a:r>
            <a:endParaRPr sz="19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266950" y="6059575"/>
            <a:ext cx="1726555" cy="685800"/>
          </a:xfrm>
          <a:prstGeom prst="roundRect">
            <a:avLst>
              <a:gd name="adj" fmla="val 2778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228850" y="6059575"/>
            <a:ext cx="180275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069705" y="605957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031605" y="605957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872535" y="605957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834435" y="605957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7675364" y="605957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7637264" y="605957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9478194" y="6059575"/>
            <a:ext cx="1726629" cy="685800"/>
          </a:xfrm>
          <a:prstGeom prst="roundRect">
            <a:avLst>
              <a:gd name="adj" fmla="val 2778"/>
            </a:avLst>
          </a:prstGeom>
          <a:solidFill>
            <a:srgbClr val="F55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440094" y="6059575"/>
            <a:ext cx="180282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143000" y="6988262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합계</a:t>
            </a:r>
            <a:endParaRPr sz="19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2266950" y="6821575"/>
            <a:ext cx="1726555" cy="28575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2228850" y="6850150"/>
            <a:ext cx="180275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12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069705" y="6821575"/>
            <a:ext cx="1726629" cy="28575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4031605" y="6850150"/>
            <a:ext cx="1802829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16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872535" y="6821575"/>
            <a:ext cx="1726629" cy="28575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834435" y="6850150"/>
            <a:ext cx="1802829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10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7675364" y="6821575"/>
            <a:ext cx="1726629" cy="638175"/>
          </a:xfrm>
          <a:custGeom>
            <a:avLst/>
            <a:gdLst/>
            <a:ahLst/>
            <a:cxnLst/>
            <a:rect l="l" t="t" r="r" b="b"/>
            <a:pathLst>
              <a:path w="1726629" h="638175" extrusionOk="0">
                <a:moveTo>
                  <a:pt x="0" y="0"/>
                </a:moveTo>
                <a:lnTo>
                  <a:pt x="1726629" y="0"/>
                </a:lnTo>
                <a:lnTo>
                  <a:pt x="1726629" y="542925"/>
                </a:lnTo>
                <a:cubicBezTo>
                  <a:pt x="1726629" y="595530"/>
                  <a:pt x="1683984" y="638175"/>
                  <a:pt x="1631379" y="638175"/>
                </a:cubicBezTo>
                <a:lnTo>
                  <a:pt x="95250" y="638175"/>
                </a:lnTo>
                <a:cubicBezTo>
                  <a:pt x="42645" y="638175"/>
                  <a:pt x="0" y="595530"/>
                  <a:pt x="0" y="542925"/>
                </a:cubicBezTo>
                <a:lnTo>
                  <a:pt x="0" y="0"/>
                </a:lnTo>
                <a:close/>
              </a:path>
            </a:pathLst>
          </a:custGeom>
          <a:solidFill>
            <a:srgbClr val="FDAA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7675364" y="6821575"/>
            <a:ext cx="1726629" cy="28575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7637264" y="6850150"/>
            <a:ext cx="1802829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4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9478194" y="6821575"/>
            <a:ext cx="1726629" cy="28575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9440094" y="6850150"/>
            <a:ext cx="1802829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14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143000" y="7828468"/>
            <a:ext cx="1106800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칸 숫자 = 그 단계를 주력으로 하는 숨은 기업 ×2 + 연관 기업 ×1 · 진할수록 경쟁이 몰린 곳</a:t>
            </a:r>
            <a:r>
              <a:rPr lang="en-US" altLang="ko-KR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1501718" y="2276838"/>
            <a:ext cx="5433154" cy="3227566"/>
          </a:xfrm>
          <a:prstGeom prst="roundRect">
            <a:avLst>
              <a:gd name="adj" fmla="val 2709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11875603" y="2657290"/>
            <a:ext cx="5538832" cy="79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95422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5400"/>
              <a:buFont typeface="Arial"/>
              <a:buNone/>
            </a:pPr>
            <a:r>
              <a:rPr lang="en-US" sz="5400" b="1" i="0" u="none" strike="noStrike" cap="none" spc="-150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1</a:t>
            </a:r>
            <a:r>
              <a:rPr lang="ko-KR" altLang="en-US" sz="5400" b="1" i="0" u="none" strike="noStrike" cap="none" spc="-150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 </a:t>
            </a:r>
            <a:r>
              <a:rPr lang="en-US" sz="5400" b="1" i="0" u="none" strike="noStrike" cap="none" spc="-150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/</a:t>
            </a:r>
            <a:r>
              <a:rPr lang="ko-KR" altLang="en-US" sz="5400" b="1" i="0" u="none" strike="noStrike" cap="none" spc="-150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 </a:t>
            </a:r>
            <a:r>
              <a:rPr lang="en-US" sz="5400" b="1" i="0" u="none" strike="noStrike" cap="none" spc="-150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18</a:t>
            </a:r>
            <a:endParaRPr sz="5400" b="0" i="0" u="none" strike="noStrike" cap="none" spc="-150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1817962" y="3697375"/>
            <a:ext cx="5186361" cy="80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lvl="0" eaLnBrk="0">
              <a:lnSpc>
                <a:spcPct val="134333"/>
              </a:lnSpc>
              <a:buClr>
                <a:srgbClr val="1C1C1F"/>
              </a:buClr>
              <a:buSzPts val="1950"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Ⓓ 주력 기업은 중국 </a:t>
            </a:r>
            <a:r>
              <a:rPr lang="ko-KR" altLang="en-US" sz="1800" b="1" dirty="0" err="1">
                <a:solidFill>
                  <a:srgbClr val="1C1C1F"/>
                </a:solidFill>
                <a:ea typeface="맑은 고딕"/>
              </a:rPr>
              <a:t>群接龙</a:t>
            </a:r>
            <a:r>
              <a:rPr lang="en-US" altLang="ko-KR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(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공동구매</a:t>
            </a:r>
            <a:r>
              <a:rPr lang="en-US" altLang="ko-KR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)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1곳뿐 (</a:t>
            </a:r>
            <a:r>
              <a:rPr lang="ko-KR" altLang="en-US" sz="18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한·영·일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0곳)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11539818" y="5845967"/>
            <a:ext cx="5433154" cy="3227566"/>
          </a:xfrm>
          <a:prstGeom prst="roundRect">
            <a:avLst>
              <a:gd name="adj" fmla="val 2709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11875603" y="6178371"/>
            <a:ext cx="5538832" cy="79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95422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5400"/>
              <a:buFont typeface="Arial"/>
              <a:buNone/>
            </a:pPr>
            <a:r>
              <a:rPr lang="ko-KR" altLang="en-US" sz="5400" b="1" i="0" u="none" strike="noStrike" cap="none" spc="-108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12.3점</a:t>
            </a:r>
            <a:endParaRPr sz="5400" b="0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11875603" y="7311955"/>
            <a:ext cx="5186361" cy="80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Ⓓ</a:t>
            </a:r>
            <a:r>
              <a:rPr lang="ko-KR" altLang="en-US" sz="1950" b="1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를</a:t>
            </a:r>
            <a:r>
              <a:rPr lang="ko-KR" altLang="en-US" sz="195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겨냥한 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아이디어 평균 점수 1위 </a:t>
            </a:r>
            <a:endParaRPr lang="en-US" altLang="ko-KR" sz="1950" b="1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(실현성 </a:t>
            </a:r>
            <a:r>
              <a:rPr lang="en-US" altLang="ko-KR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+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차별성 </a:t>
            </a:r>
            <a:r>
              <a:rPr lang="en-US" altLang="ko-KR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+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수익성</a:t>
            </a:r>
            <a:r>
              <a:rPr lang="en-US" altLang="ko-KR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,</a:t>
            </a:r>
            <a:r>
              <a:rPr lang="ko-KR" altLang="en-US" sz="19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15점 만점)</a:t>
            </a:r>
            <a:endParaRPr sz="19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11875603" y="8212961"/>
            <a:ext cx="5186361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조사자 자체 평가 · 만점 설계 제외 시 9.5점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04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250" name="Google Shape;250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203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3000" y="1200150"/>
            <a:ext cx="80281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1008"/>
              </a:lnSpc>
              <a:buNone/>
            </a:pPr>
            <a:r>
              <a:rPr lang="en-US" sz="3900" b="1" kern="0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세 가지 기준이 모두 </a:t>
            </a:r>
            <a:r>
              <a:rPr lang="en-US" sz="3900" b="1" kern="0" spc="-78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찜공구를</a:t>
            </a:r>
            <a:r>
              <a:rPr lang="en-US" sz="3900" b="1" kern="0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</a:t>
            </a:r>
            <a:r>
              <a:rPr lang="en-US" sz="3900" b="1" kern="0" spc="-78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가리켰다</a:t>
            </a:r>
            <a:endParaRPr lang="en-US" sz="39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" y="2152650"/>
            <a:ext cx="5206975" cy="60960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14475" y="2505075"/>
            <a:ext cx="491042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ko-KR" sz="24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01</a:t>
            </a:r>
            <a:r>
              <a:rPr lang="ko-KR" altLang="en-US" sz="24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</a:t>
            </a:r>
            <a:r>
              <a:rPr lang="en-US" sz="2400" b="1" kern="0" spc="-12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고르는</a:t>
            </a:r>
            <a:r>
              <a:rPr lang="en-US" sz="24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기준</a:t>
            </a:r>
            <a:endParaRPr lang="en-US" sz="24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14475" y="2967038"/>
            <a:ext cx="491042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세 가지 </a:t>
            </a:r>
            <a:r>
              <a:rPr lang="en-US" sz="1950" b="1" kern="0" spc="-12" dirty="0" err="1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질문으로</a:t>
            </a:r>
            <a:r>
              <a:rPr lang="en-US" sz="195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</a:t>
            </a:r>
            <a:r>
              <a:rPr lang="ko-KR" altLang="en-US" sz="195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아이디어 </a:t>
            </a:r>
            <a:r>
              <a:rPr lang="en-US" sz="195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25개를 걸렀다</a:t>
            </a:r>
            <a:endParaRPr lang="en-US" sz="19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14475" y="3533775"/>
            <a:ext cx="4464025" cy="1905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14475" y="3838575"/>
            <a:ext cx="5334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01</a:t>
            </a:r>
            <a:endParaRPr lang="en-US" sz="18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47875" y="3838575"/>
            <a:ext cx="432368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경쟁이 비어 있는가</a:t>
            </a:r>
            <a:endParaRPr lang="en-US" sz="18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47875" y="4167188"/>
            <a:ext cx="43236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500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그 단계를 주력으로 하는 숨은 기업이 적은 곳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14475" y="4719638"/>
            <a:ext cx="5334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02</a:t>
            </a:r>
            <a:endParaRPr lang="en-US" sz="18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47875" y="4719638"/>
            <a:ext cx="432368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수요가 진짜인가</a:t>
            </a:r>
            <a:endParaRPr lang="en-US" sz="18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47875" y="5048250"/>
            <a:ext cx="43236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500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다른 나라 조사자들이 따로 같은 해법에 닿았는지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14475" y="5600700"/>
            <a:ext cx="5334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03</a:t>
            </a:r>
            <a:endParaRPr lang="en-US" sz="18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47875" y="5600700"/>
            <a:ext cx="432368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우리가 만들 수 있는가</a:t>
            </a:r>
            <a:endParaRPr lang="en-US" sz="18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47875" y="5929313"/>
            <a:ext cx="43236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500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실현성·차별성·수익성 점수 (각 5점, 15점 만점)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40475" y="2152650"/>
            <a:ext cx="5206975" cy="60960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11950" y="2505075"/>
            <a:ext cx="491042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02 수요가 진짜인가</a:t>
            </a:r>
            <a:endParaRPr lang="en-US" sz="24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11950" y="2967038"/>
            <a:ext cx="491042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세 나라에서 각자 같은 해법을 찾았다</a:t>
            </a:r>
            <a:endParaRPr lang="en-US" sz="19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11950" y="3533775"/>
            <a:ext cx="4464025" cy="1905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11950" y="3838575"/>
            <a:ext cx="4464025" cy="838200"/>
          </a:xfrm>
          <a:prstGeom prst="roundRect">
            <a:avLst>
              <a:gd name="adj" fmla="val 15909"/>
            </a:avLst>
          </a:prstGeom>
          <a:solidFill>
            <a:srgbClr val="FFF0F3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02450" y="39909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55C80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64350" y="39909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KR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88250" y="4005262"/>
            <a:ext cx="269140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찜 공구</a:t>
            </a:r>
            <a:endParaRPr lang="en-US" sz="16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88250" y="4295775"/>
            <a:ext cx="269140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찜한 내 고객 모아 목표 수량 채우기</a:t>
            </a:r>
            <a:endParaRPr lang="en-US" sz="142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11950" y="4810125"/>
            <a:ext cx="4464025" cy="838200"/>
          </a:xfrm>
          <a:prstGeom prst="roundRect">
            <a:avLst>
              <a:gd name="adj" fmla="val 15909"/>
            </a:avLst>
          </a:prstGeom>
          <a:solidFill>
            <a:srgbClr val="FFF0F3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102450" y="496252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C7598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64350" y="496252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UK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788250" y="4976813"/>
            <a:ext cx="2590071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같이 채움</a:t>
            </a:r>
            <a:endParaRPr lang="en-US" sz="16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788250" y="5267325"/>
            <a:ext cx="259007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이웃 장보기 모아 최소금액 넘기기</a:t>
            </a:r>
            <a:endParaRPr lang="en-US" sz="142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11950" y="5781675"/>
            <a:ext cx="4464025" cy="838200"/>
          </a:xfrm>
          <a:prstGeom prst="roundRect">
            <a:avLst>
              <a:gd name="adj" fmla="val 15909"/>
            </a:avLst>
          </a:prstGeom>
          <a:solidFill>
            <a:srgbClr val="FFF0F3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102450" y="59340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DAAC1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64350" y="59340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CN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88250" y="5948363"/>
            <a:ext cx="247817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공구장부</a:t>
            </a:r>
            <a:endParaRPr lang="en-US" sz="16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88250" y="6238875"/>
            <a:ext cx="247817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단톡방 공구 모집·입금 대조 도구</a:t>
            </a:r>
            <a:endParaRPr lang="en-US" sz="142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11950" y="7365111"/>
            <a:ext cx="95250" cy="95250"/>
          </a:xfrm>
          <a:prstGeom prst="roundRect">
            <a:avLst>
              <a:gd name="adj" fmla="val 30000"/>
            </a:avLst>
          </a:prstGeom>
          <a:solidFill>
            <a:srgbClr val="E94162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102450" y="7160133"/>
            <a:ext cx="44017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다른 나라 기업에서 출발해 공동구매형에 </a:t>
            </a:r>
            <a:r>
              <a:rPr lang="en-US" sz="2000" b="1" kern="0" spc="-12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닿았다</a:t>
            </a:r>
            <a:r>
              <a:rPr lang="en-US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.</a:t>
            </a:r>
            <a:r>
              <a:rPr lang="ko-KR" altLang="en-US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</a:t>
            </a:r>
            <a:r>
              <a:rPr lang="ko-KR" altLang="en-US" sz="2000" b="1" dirty="0">
                <a:solidFill>
                  <a:srgbClr val="1C1C1F"/>
                </a:solidFill>
                <a:highlight>
                  <a:srgbClr val="FFF1F4"/>
                </a:highlight>
                <a:latin typeface="KoreanSWGI1R" panose="02020600000000000000" pitchFamily="18" charset="-127"/>
                <a:ea typeface="KoreanSWGI1R" panose="02020600000000000000" pitchFamily="18" charset="-127"/>
              </a:rPr>
              <a:t>→ </a:t>
            </a:r>
            <a:r>
              <a:rPr lang="en-US" sz="2000" b="1" kern="0" spc="-12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수요가</a:t>
            </a:r>
            <a:r>
              <a:rPr lang="en-US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진짜라는 신호</a:t>
            </a:r>
            <a:endParaRPr lang="en-US" sz="20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1937950" y="2152650"/>
            <a:ext cx="5207050" cy="60960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2309425" y="2505075"/>
            <a:ext cx="491051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03 바로 만들 수 있는가</a:t>
            </a:r>
            <a:endParaRPr lang="en-US" sz="24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309425" y="2967038"/>
            <a:ext cx="49105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공동구매형 중 최고점</a:t>
            </a:r>
            <a:endParaRPr lang="en-US" sz="19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2309425" y="3533775"/>
            <a:ext cx="4464100" cy="19050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309425" y="3838575"/>
            <a:ext cx="20257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아이디어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4220825" y="3838575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실현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4830425" y="3838575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차별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5440025" y="3838575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수익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6049625" y="3838575"/>
            <a:ext cx="7620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합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309425" y="4233863"/>
            <a:ext cx="4464100" cy="585788"/>
          </a:xfrm>
          <a:prstGeom prst="roundRect">
            <a:avLst>
              <a:gd name="adj" fmla="val 19512"/>
            </a:avLst>
          </a:prstGeom>
          <a:solidFill>
            <a:srgbClr val="FDCDD6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461825" y="4405313"/>
            <a:ext cx="19920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찜 공구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4220825" y="4405313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5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4830425" y="4405313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5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5440025" y="4405313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5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6049625" y="4367213"/>
            <a:ext cx="7620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kern="0" spc="-12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15</a:t>
            </a:r>
            <a:endParaRPr lang="en-US" sz="21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2309425" y="5405438"/>
            <a:ext cx="4464100" cy="9525"/>
          </a:xfrm>
          <a:prstGeom prst="rect">
            <a:avLst/>
          </a:prstGeom>
          <a:solidFill>
            <a:srgbClr val="1C1C1F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2461825" y="5029200"/>
            <a:ext cx="19920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같이 채움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4220825" y="5029200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3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4830425" y="5029200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4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5440025" y="5029200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3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6049625" y="5029200"/>
            <a:ext cx="7620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10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2461825" y="5624513"/>
            <a:ext cx="19920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공구장부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4220825" y="5624513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4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4830425" y="5624513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3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5440025" y="5624513"/>
            <a:ext cx="6858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2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6049625" y="5624513"/>
            <a:ext cx="76200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9</a:t>
            </a:r>
            <a:endParaRPr lang="en-US" sz="157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2309425" y="7365111"/>
            <a:ext cx="95250" cy="95250"/>
          </a:xfrm>
          <a:prstGeom prst="roundRect">
            <a:avLst>
              <a:gd name="adj" fmla="val 30000"/>
            </a:avLst>
          </a:prstGeom>
          <a:solidFill>
            <a:srgbClr val="E94162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2504756" y="7160133"/>
            <a:ext cx="440180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새 고객을 모으지 않고, </a:t>
            </a:r>
          </a:p>
          <a:p>
            <a:pPr marL="0" indent="0" algn="l">
              <a:lnSpc>
                <a:spcPct val="133333"/>
              </a:lnSpc>
              <a:buNone/>
            </a:pPr>
            <a:r>
              <a:rPr lang="en-US" sz="2000" b="1" kern="0" spc="-12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판매자에게</a:t>
            </a:r>
            <a:r>
              <a:rPr lang="en-US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이미 </a:t>
            </a:r>
            <a:r>
              <a:rPr lang="en-US" sz="2000" b="1" kern="0" spc="-12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쌓인</a:t>
            </a:r>
            <a:r>
              <a:rPr lang="en-US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</a:t>
            </a:r>
            <a:r>
              <a:rPr lang="en-US" sz="2000" b="1" kern="0" spc="-12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찜</a:t>
            </a:r>
            <a:r>
              <a:rPr lang="en-US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</a:t>
            </a:r>
            <a:r>
              <a:rPr lang="en-US" sz="2000" b="1" kern="0" spc="-12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고객을</a:t>
            </a:r>
            <a:r>
              <a:rPr lang="en-US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</a:t>
            </a:r>
            <a:r>
              <a:rPr lang="en-US" sz="2000" b="1" kern="0" spc="-12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쓴다</a:t>
            </a:r>
            <a:r>
              <a:rPr lang="en-US" altLang="ko-KR" sz="20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.</a:t>
            </a:r>
            <a:endParaRPr lang="en-US" sz="20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143000" y="8572500"/>
            <a:ext cx="16002000" cy="752475"/>
          </a:xfrm>
          <a:prstGeom prst="roundRect">
            <a:avLst>
              <a:gd name="adj" fmla="val 20253"/>
            </a:avLst>
          </a:prstGeom>
          <a:solidFill>
            <a:srgbClr val="FFF0F3"/>
          </a:solidFill>
          <a:ln/>
        </p:spPr>
        <p:txBody>
          <a:bodyPr/>
          <a:lstStyle/>
          <a:p>
            <a:endParaRPr lang="ko-KR" altLang="en-US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447800" y="8572500"/>
            <a:ext cx="158724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구매 결정 5개국 조사(2026-10-02) · 출처: 공동 조사표 '구매 결정 5개국 지도'·'아이디어집' · 점수는 조사자 자체 평가(15점 만점)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7" name="Google Shape;249;p6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78" name="Google Shape;250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74" name="Google Shape;256;p7">
            <a:extLst>
              <a:ext uri="{FF2B5EF4-FFF2-40B4-BE49-F238E27FC236}">
                <a16:creationId xmlns:a16="http://schemas.microsoft.com/office/drawing/2014/main" id="{21AF8C35-849A-FA25-3225-F5BE772CD783}"/>
              </a:ext>
            </a:extLst>
          </p:cNvPr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5" name="Google Shape;257;p7">
            <a:extLst>
              <a:ext uri="{FF2B5EF4-FFF2-40B4-BE49-F238E27FC236}">
                <a16:creationId xmlns:a16="http://schemas.microsoft.com/office/drawing/2014/main" id="{0EBFF5A3-5682-3F57-C86C-689E9D105EDF}"/>
              </a:ext>
            </a:extLst>
          </p:cNvPr>
          <p:cNvSpPr/>
          <p:nvPr/>
        </p:nvSpPr>
        <p:spPr>
          <a:xfrm>
            <a:off x="1404352" y="762000"/>
            <a:ext cx="457414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lvl="0" eaLnBrk="0">
              <a:buClr>
                <a:srgbClr val="1C1C1F"/>
              </a:buClr>
              <a:buSzPts val="1950"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01-3 · </a:t>
            </a: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시장조사 · 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공구에 주는 의미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6" name="Google Shape;248;p6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05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/>
          <p:nvPr/>
        </p:nvSpPr>
        <p:spPr>
          <a:xfrm>
            <a:off x="14668500" y="952500"/>
            <a:ext cx="2476500" cy="2476500"/>
          </a:xfrm>
          <a:prstGeom prst="ellipse">
            <a:avLst/>
          </a:prstGeom>
          <a:noFill/>
          <a:ln>
            <a:noFill/>
          </a:ln>
          <a:effectLst>
            <a:outerShdw blurRad="101600" dist="50800" dir="16200000" algn="bl" rotWithShape="0">
              <a:srgbClr val="FFFFFF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4" name="Google Shape;30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68500" y="952500"/>
            <a:ext cx="2476500" cy="2476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05" name="Google Shape;305;p8"/>
          <p:cNvSpPr/>
          <p:nvPr/>
        </p:nvSpPr>
        <p:spPr>
          <a:xfrm>
            <a:off x="1143000" y="2423666"/>
            <a:ext cx="234553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FC7598"/>
              </a:buClr>
              <a:buSzPts val="2100"/>
              <a:buFont typeface="Arial"/>
              <a:buNone/>
            </a:pPr>
            <a:r>
              <a:rPr lang="en-US" sz="1400" b="1" i="0" u="none" strike="noStrike" cap="none">
                <a:solidFill>
                  <a:srgbClr val="FC7598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415653" y="2414141"/>
            <a:ext cx="227263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lang="ko-KR" altLang="en-US" sz="1950" b="1" i="0" u="none" strike="noStrike" cap="none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01</a:t>
            </a:r>
            <a:r>
              <a:rPr lang="en-US" altLang="ko-KR" sz="1950" b="1" i="0" u="none" strike="noStrike" cap="none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-4</a:t>
            </a:r>
            <a:r>
              <a:rPr lang="ko-KR" altLang="en-US" sz="1950" b="1" i="0" u="none" strike="noStrike" cap="none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한 줄로 말하면</a:t>
            </a:r>
            <a:endParaRPr sz="19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1143000" y="3200028"/>
            <a:ext cx="12557760" cy="177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3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Arial"/>
              <a:buNone/>
            </a:pPr>
            <a:r>
              <a:rPr lang="ko-KR" altLang="en-US" sz="5250" b="1" i="0" u="none" strike="noStrike" cap="none" spc="-131" dirty="0" err="1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찜해</a:t>
            </a:r>
            <a:r>
              <a:rPr lang="ko-KR" altLang="en-US" sz="5250" b="1" i="0" u="none" strike="noStrike" cap="none" spc="-131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둔 상품으로 공구를 열고, </a:t>
            </a:r>
            <a:endParaRPr lang="en-US" altLang="ko-KR" sz="5250" b="1" i="0" u="none" strike="noStrike" cap="none" spc="-131" dirty="0">
              <a:solidFill>
                <a:srgbClr val="FFFFF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123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Arial"/>
              <a:buNone/>
            </a:pPr>
            <a:r>
              <a:rPr lang="ko-KR" altLang="en-US" sz="5250" b="1" i="0" u="none" strike="noStrike" cap="none" spc="-131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목표 수량이 차면 할인가로 팝니다.</a:t>
            </a:r>
            <a:endParaRPr sz="52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143000" y="5352800"/>
            <a:ext cx="5181600" cy="1653481"/>
          </a:xfrm>
          <a:prstGeom prst="roundRect">
            <a:avLst>
              <a:gd name="adj" fmla="val 5761"/>
            </a:avLst>
          </a:prstGeom>
          <a:solidFill>
            <a:srgbClr val="FDBABC">
              <a:alpha val="24000"/>
            </a:srgbClr>
          </a:solidFill>
          <a:ln w="14275" cap="flat" cmpd="sng">
            <a:solidFill>
              <a:srgbClr val="FFFFFF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516380" y="5749058"/>
            <a:ext cx="4830128" cy="342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>
                <a:solidFill>
                  <a:schemeClr val="bg1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판매자는</a:t>
            </a:r>
            <a:endParaRPr sz="1950" b="0" i="0" u="none" strike="noStrike" cap="none">
              <a:solidFill>
                <a:schemeClr val="bg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1516380" y="6170092"/>
            <a:ext cx="4830128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577"/>
              </a:lnSpc>
              <a:spcBef>
                <a:spcPts val="0"/>
              </a:spcBef>
              <a:spcAft>
                <a:spcPts val="0"/>
              </a:spcAft>
              <a:buClr>
                <a:srgbClr val="FFF0F3"/>
              </a:buClr>
              <a:buSzPts val="3150"/>
              <a:buFont typeface="Arial"/>
              <a:buNone/>
            </a:pPr>
            <a:r>
              <a:rPr lang="ko-KR" altLang="en-US" sz="2800" b="1" i="0" u="none" strike="noStrike" cap="none" dirty="0">
                <a:solidFill>
                  <a:schemeClr val="bg1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팔린 만큼만 만든다</a:t>
            </a:r>
            <a:endParaRPr sz="2800" b="0" i="0" u="none" strike="noStrike" cap="none" dirty="0">
              <a:solidFill>
                <a:schemeClr val="bg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553200" y="5355821"/>
            <a:ext cx="5181600" cy="1653480"/>
          </a:xfrm>
          <a:prstGeom prst="roundRect">
            <a:avLst>
              <a:gd name="adj" fmla="val 5761"/>
            </a:avLst>
          </a:prstGeom>
          <a:solidFill>
            <a:srgbClr val="FDBABC">
              <a:alpha val="24000"/>
            </a:srgbClr>
          </a:solidFill>
          <a:ln w="14275" cap="flat" cmpd="sng">
            <a:solidFill>
              <a:srgbClr val="FFFFFF">
                <a:alpha val="2117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6948488" y="5752079"/>
            <a:ext cx="48301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>
                <a:solidFill>
                  <a:schemeClr val="bg1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고객은</a:t>
            </a:r>
            <a:endParaRPr sz="1950" b="0" i="0" u="none" strike="noStrike" cap="none">
              <a:solidFill>
                <a:schemeClr val="bg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904672" y="6170092"/>
            <a:ext cx="4830128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577"/>
              </a:lnSpc>
              <a:spcBef>
                <a:spcPts val="0"/>
              </a:spcBef>
              <a:spcAft>
                <a:spcPts val="0"/>
              </a:spcAft>
              <a:buClr>
                <a:srgbClr val="FFF0F3"/>
              </a:buClr>
              <a:buSzPts val="3150"/>
              <a:buFont typeface="Arial"/>
              <a:buNone/>
            </a:pPr>
            <a:r>
              <a:rPr lang="ko-KR" altLang="en-US" sz="2800" b="1" i="0" u="none" strike="noStrike" cap="none" dirty="0">
                <a:solidFill>
                  <a:schemeClr val="bg1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신청만 한다, 결제는 나중에</a:t>
            </a:r>
            <a:endParaRPr sz="2800" b="0" i="0" u="none" strike="noStrike" cap="none" dirty="0">
              <a:solidFill>
                <a:schemeClr val="bg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11963400" y="5362250"/>
            <a:ext cx="5181600" cy="1653480"/>
          </a:xfrm>
          <a:prstGeom prst="roundRect">
            <a:avLst>
              <a:gd name="adj" fmla="val 5761"/>
            </a:avLst>
          </a:prstGeom>
          <a:solidFill>
            <a:srgbClr val="FDBABC">
              <a:alpha val="24000"/>
            </a:srgbClr>
          </a:solidFill>
          <a:ln w="14275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12358688" y="5758507"/>
            <a:ext cx="48301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lang="ko-KR" altLang="en-US" sz="1950" b="1" i="0" u="none" strike="noStrike" cap="none">
                <a:solidFill>
                  <a:schemeClr val="bg1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우리는</a:t>
            </a:r>
            <a:endParaRPr sz="1950" b="0" i="0" u="none" strike="noStrike" cap="none">
              <a:solidFill>
                <a:schemeClr val="bg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12358688" y="6179541"/>
            <a:ext cx="4830128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577"/>
              </a:lnSpc>
              <a:spcBef>
                <a:spcPts val="0"/>
              </a:spcBef>
              <a:spcAft>
                <a:spcPts val="0"/>
              </a:spcAft>
              <a:buClr>
                <a:srgbClr val="FFF0F3"/>
              </a:buClr>
              <a:buSzPts val="3150"/>
              <a:buFont typeface="Arial"/>
              <a:buNone/>
            </a:pPr>
            <a:r>
              <a:rPr lang="ko-KR" altLang="en-US" sz="2800" b="1" i="0" u="none" strike="noStrike" cap="none" dirty="0">
                <a:solidFill>
                  <a:schemeClr val="bg1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결제금을 받지 않는다</a:t>
            </a:r>
            <a:endParaRPr sz="2800" b="0" i="0" u="none" strike="noStrike" cap="none" dirty="0">
              <a:solidFill>
                <a:schemeClr val="bg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1143000" y="7525326"/>
            <a:ext cx="176022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ko-KR" altLang="en-US" sz="3000" b="1" i="0" u="none" strike="noStrike" cap="none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수요를 확정 주문으로 바꾸는 판매자 도구입니다</a:t>
            </a:r>
            <a:r>
              <a:rPr lang="en-US" altLang="ko-KR" sz="3000" b="1" i="0" u="none" strike="noStrike" cap="none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.</a:t>
            </a:r>
            <a:endParaRPr sz="3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5280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1404342" y="762000"/>
            <a:ext cx="10001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02 · 문제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찜은 쌓이는데, 사는 사람도 만드는 사람도 없습니다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1143000" y="2148860"/>
            <a:ext cx="7905750" cy="6204645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1500188" y="255843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690688" y="2472710"/>
            <a:ext cx="751284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b="1" i="0" u="none" strike="noStrike" cap="none" spc="36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고객 쪽</a:t>
            </a:r>
            <a:endParaRPr sz="17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1500188" y="2877522"/>
            <a:ext cx="7910512" cy="5086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3200" b="1" i="0" u="none" strike="noStrike" cap="none" spc="-29" dirty="0">
                <a:solidFill>
                  <a:srgbClr val="1C1C1F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찜은 하지만 정가로는 망설임</a:t>
            </a:r>
            <a:endParaRPr sz="3200" b="0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1547813" y="7464027"/>
            <a:ext cx="79105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장바구니 </a:t>
            </a:r>
            <a:r>
              <a:rPr lang="ko-KR" altLang="en-US" sz="18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이탈률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(</a:t>
            </a:r>
            <a:r>
              <a:rPr lang="ko-KR" altLang="en-US" sz="18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Baymard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, 50개 연구 평균, 2025)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9144000" y="2116856"/>
            <a:ext cx="7905750" cy="6204645"/>
          </a:xfrm>
          <a:prstGeom prst="roundRect">
            <a:avLst>
              <a:gd name="adj" fmla="val 1535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9596438" y="255954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9786938" y="2473820"/>
            <a:ext cx="953542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50" b="1" i="0" u="none" strike="noStrike" cap="none" spc="36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판매자 쪽</a:t>
            </a:r>
            <a:endParaRPr sz="16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9596438" y="2878632"/>
            <a:ext cx="7910512" cy="50862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3200" b="1" i="0" u="none" strike="noStrike" cap="none" spc="-29" dirty="0">
                <a:solidFill>
                  <a:srgbClr val="1C1C1F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실제 구매 수를 몰라 </a:t>
            </a:r>
            <a:r>
              <a:rPr lang="ko-KR" altLang="en-US" sz="3200" b="1" i="0" u="none" strike="noStrike" cap="none" spc="-29" dirty="0" err="1">
                <a:solidFill>
                  <a:srgbClr val="1C1C1F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할인·재생산</a:t>
            </a:r>
            <a:r>
              <a:rPr lang="ko-KR" altLang="en-US" sz="3200" b="1" i="0" u="none" strike="noStrike" cap="none" spc="-29" dirty="0">
                <a:solidFill>
                  <a:srgbClr val="1C1C1F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 보류</a:t>
            </a:r>
            <a:endParaRPr sz="3200" b="0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9548812" y="6043798"/>
            <a:ext cx="7191375" cy="1991730"/>
          </a:xfrm>
          <a:prstGeom prst="roundRect">
            <a:avLst>
              <a:gd name="adj" fmla="val 4737"/>
            </a:avLst>
          </a:prstGeom>
          <a:solidFill>
            <a:srgbClr val="FDCDD6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1143000" y="8567214"/>
            <a:ext cx="16002000" cy="809625"/>
          </a:xfrm>
          <a:prstGeom prst="roundRect">
            <a:avLst>
              <a:gd name="adj" fmla="val 9412"/>
            </a:avLst>
          </a:prstGeom>
          <a:solidFill>
            <a:srgbClr val="FFF0F3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1447800" y="8739426"/>
            <a:ext cx="1587246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ko-KR" altLang="en-US" sz="22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 찜 수요를 확정 주문으로 바꿀 도구가 없음</a:t>
            </a:r>
            <a:endParaRPr sz="22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Arial"/>
                <a:ea typeface="맑은 고딕"/>
                <a:cs typeface="Arial"/>
                <a:sym typeface="Arial"/>
              </a:rPr>
              <a:t>07 / 27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맑은 고딕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4" name="Google Shape;344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5" name="Google Shape;338;p9">
            <a:extLst>
              <a:ext uri="{FF2B5EF4-FFF2-40B4-BE49-F238E27FC236}">
                <a16:creationId xmlns:a16="http://schemas.microsoft.com/office/drawing/2014/main" id="{FE9BA676-FA82-17D1-E923-0E00DEF911B2}"/>
              </a:ext>
            </a:extLst>
          </p:cNvPr>
          <p:cNvSpPr/>
          <p:nvPr/>
        </p:nvSpPr>
        <p:spPr>
          <a:xfrm>
            <a:off x="9715642" y="6381729"/>
            <a:ext cx="6857714" cy="1461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예) 원단 </a:t>
            </a:r>
            <a:r>
              <a:rPr lang="ko-KR" altLang="en-US" sz="2000" b="0" i="0" u="none" strike="noStrike" cap="none" spc="-150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롤·가마</a:t>
            </a: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1회분처럼 생산 단위가 커서, </a:t>
            </a:r>
            <a:endParaRPr lang="en-US" altLang="ko-KR" sz="2000" b="0" i="0" u="none" strike="noStrike" cap="none" spc="-150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최소 수량을 못 채울까 봐 할인도 재생산도 망설입니다. </a:t>
            </a:r>
            <a:endParaRPr lang="en-US" altLang="ko-KR" sz="2000" b="0" i="0" u="none" strike="noStrike" cap="none" spc="-150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000" b="0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수요를 재생산 전에 확정 주문으로 바꿀 도구가 없습니다.</a:t>
            </a:r>
            <a:endParaRPr sz="2000" b="0" i="0" u="none" strike="noStrike" cap="none" spc="-15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2DE6B9C-5D63-5463-CEB0-E91D44E31773}"/>
              </a:ext>
            </a:extLst>
          </p:cNvPr>
          <p:cNvSpPr/>
          <p:nvPr/>
        </p:nvSpPr>
        <p:spPr>
          <a:xfrm>
            <a:off x="9541535" y="3671460"/>
            <a:ext cx="7593940" cy="1338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480"/>
              </a:lnSpc>
              <a:buFont typeface="Arial" panose="020B0604020202020204" pitchFamily="34" charset="0"/>
              <a:buChar char="•"/>
            </a:pPr>
            <a:r>
              <a:rPr lang="en-US" sz="2000" spc="-150" dirty="0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소규모 브랜드는 재고 부담 때문에 할인도, </a:t>
            </a:r>
            <a:r>
              <a:rPr lang="en-US" sz="2000" spc="-150" dirty="0" err="1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재생산도</a:t>
            </a:r>
            <a:r>
              <a:rPr lang="en-US" sz="2000" spc="-150" dirty="0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 </a:t>
            </a:r>
            <a:r>
              <a:rPr lang="en-US" sz="2000" spc="-150" dirty="0" err="1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망설인다</a:t>
            </a:r>
            <a:r>
              <a:rPr lang="en-US" sz="2000" spc="-150" dirty="0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.</a:t>
            </a:r>
            <a:r>
              <a:rPr lang="ko-KR" altLang="en-US" sz="2000" spc="-150" dirty="0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 </a:t>
            </a:r>
            <a:endParaRPr lang="en-US" altLang="ko-KR" sz="2000" spc="-150" dirty="0">
              <a:solidFill>
                <a:srgbClr val="4A5162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IBM Plex Sans KR" pitchFamily="34" charset="-120"/>
            </a:endParaRPr>
          </a:p>
          <a:p>
            <a:pPr marL="342900" indent="-342900" algn="l">
              <a:lnSpc>
                <a:spcPts val="2480"/>
              </a:lnSpc>
              <a:buFont typeface="Arial" panose="020B0604020202020204" pitchFamily="34" charset="0"/>
              <a:buChar char="•"/>
            </a:pPr>
            <a:r>
              <a:rPr lang="en-US" sz="2000" spc="-150" dirty="0" err="1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찜한</a:t>
            </a:r>
            <a:r>
              <a:rPr lang="en-US" sz="2000" spc="-150" dirty="0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 고객의 수요를 확정 주문으로 바꿀 도구가 없다.</a:t>
            </a:r>
            <a:endParaRPr lang="en-US" sz="2000" spc="-1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85115C1-16DD-F610-1067-8D46BF8F67A6}"/>
              </a:ext>
            </a:extLst>
          </p:cNvPr>
          <p:cNvSpPr/>
          <p:nvPr/>
        </p:nvSpPr>
        <p:spPr>
          <a:xfrm>
            <a:off x="1366242" y="3682125"/>
            <a:ext cx="7453312" cy="970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480"/>
              </a:lnSpc>
              <a:buFont typeface="Arial" panose="020B0604020202020204" pitchFamily="34" charset="0"/>
              <a:buChar char="•"/>
            </a:pPr>
            <a:r>
              <a:rPr lang="en-US" sz="2000" spc="-150" dirty="0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'언젠가 살 것'을 찜으로 쌓아 둔다. </a:t>
            </a:r>
          </a:p>
          <a:p>
            <a:pPr marL="342900" indent="-342900" algn="l">
              <a:lnSpc>
                <a:spcPts val="2480"/>
              </a:lnSpc>
              <a:buFont typeface="Arial" panose="020B0604020202020204" pitchFamily="34" charset="0"/>
              <a:buChar char="•"/>
            </a:pPr>
            <a:r>
              <a:rPr lang="en-US" sz="2000" spc="-150" dirty="0" err="1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사고</a:t>
            </a:r>
            <a:r>
              <a:rPr lang="en-US" sz="2000" spc="-150" dirty="0">
                <a:solidFill>
                  <a:srgbClr val="4A5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IBM Plex Sans KR" pitchFamily="34" charset="-120"/>
              </a:rPr>
              <a:t> 싶은 상품을 캡처·URL 복붙·나에게 보내기로 겨우 모은다.</a:t>
            </a:r>
            <a:endParaRPr lang="en-US" sz="2000" spc="-1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193E41A-1F5A-1393-FDD9-C033F24A6CB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5011230" y="4369068"/>
            <a:ext cx="3181794" cy="318179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31" name="Google Shape;331;p9"/>
          <p:cNvSpPr/>
          <p:nvPr/>
        </p:nvSpPr>
        <p:spPr>
          <a:xfrm>
            <a:off x="1595438" y="6043797"/>
            <a:ext cx="3854386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652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9000"/>
              <a:buFont typeface="Arial"/>
              <a:buNone/>
            </a:pPr>
            <a:r>
              <a:rPr lang="en-US" sz="9000" b="1" i="0" u="none" strike="noStrike" cap="none" spc="-180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70.22%</a:t>
            </a:r>
            <a:endParaRPr sz="9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2706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1404342" y="762000"/>
            <a:ext cx="12144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03 · 사용자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돈 내는 사람, 매일 쓰는 사람, 최종 사용자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1143000" y="2148794"/>
            <a:ext cx="5206975" cy="7223820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354" name="Google Shape;354;p10" descr="preencoded.png"/>
          <p:cNvPicPr preferRelativeResize="0"/>
          <p:nvPr/>
        </p:nvPicPr>
        <p:blipFill rotWithShape="1">
          <a:blip r:embed="rId3">
            <a:alphaModFix/>
          </a:blip>
          <a:srcRect t="12728" b="26519"/>
          <a:stretch/>
        </p:blipFill>
        <p:spPr>
          <a:xfrm>
            <a:off x="1424000" y="2391674"/>
            <a:ext cx="4644992" cy="3137247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0"/>
          <p:cNvSpPr/>
          <p:nvPr/>
        </p:nvSpPr>
        <p:spPr>
          <a:xfrm>
            <a:off x="1423988" y="5778169"/>
            <a:ext cx="95400" cy="9540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1614488" y="5692444"/>
            <a:ext cx="12240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돈을 내는 쪽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1143000" y="6289965"/>
            <a:ext cx="51096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14146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700"/>
              <a:buFont typeface="Arial"/>
              <a:buNone/>
            </a:pPr>
            <a:r>
              <a:rPr lang="ko-KR" altLang="en-US" sz="2700" b="1" i="0" u="none" strike="noStrike" cap="none" spc="-27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김유정 · 35세</a:t>
            </a:r>
            <a:endParaRPr sz="27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305600" y="6869056"/>
            <a:ext cx="47844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1인 패브릭 소품 브랜드 대표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ctr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카페24 · </a:t>
            </a:r>
            <a:r>
              <a:rPr lang="ko-KR" altLang="en-US" sz="18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월매출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약 3천만 원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423988" y="8132577"/>
            <a:ext cx="4645000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298738" y="8299406"/>
            <a:ext cx="4784350" cy="81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2492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“</a:t>
            </a:r>
            <a:r>
              <a:rPr lang="ko-KR" altLang="en-US" sz="2000" b="1" i="0" u="none" strike="noStrike" cap="none" spc="-150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찜한</a:t>
            </a:r>
            <a:r>
              <a:rPr lang="ko-KR" altLang="en-US" sz="2000" b="1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사람 중 몇 명이 진짜 살지 알면</a:t>
            </a:r>
            <a:endParaRPr lang="en-US" altLang="ko-KR" sz="2000" b="1" i="0" u="none" strike="noStrike" cap="none" spc="-150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ctr" rtl="0" eaLnBrk="0">
              <a:lnSpc>
                <a:spcPct val="12492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바로 발주할 텐데.”</a:t>
            </a:r>
            <a:endParaRPr sz="2000" b="0" i="0" u="none" strike="noStrike" cap="none" spc="-15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6540475" y="2149585"/>
            <a:ext cx="5206975" cy="7223820"/>
          </a:xfrm>
          <a:prstGeom prst="roundRect">
            <a:avLst>
              <a:gd name="adj" fmla="val 1829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362" name="Google Shape;362;p10" descr="preencoded.png"/>
          <p:cNvPicPr preferRelativeResize="0"/>
          <p:nvPr/>
        </p:nvPicPr>
        <p:blipFill rotWithShape="1">
          <a:blip r:embed="rId4">
            <a:alphaModFix amt="99000"/>
          </a:blip>
          <a:srcRect t="13440" b="26020"/>
          <a:stretch/>
        </p:blipFill>
        <p:spPr>
          <a:xfrm>
            <a:off x="6821467" y="2392639"/>
            <a:ext cx="4644992" cy="313724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0"/>
          <p:cNvSpPr/>
          <p:nvPr/>
        </p:nvSpPr>
        <p:spPr>
          <a:xfrm>
            <a:off x="6821463" y="5778960"/>
            <a:ext cx="95400" cy="95400"/>
          </a:xfrm>
          <a:prstGeom prst="roundRect">
            <a:avLst>
              <a:gd name="adj" fmla="val 20000"/>
            </a:avLst>
          </a:prstGeom>
          <a:solidFill>
            <a:srgbClr val="E9416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7011963" y="5693235"/>
            <a:ext cx="12240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매일 쓰는 쪽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547362" y="6413190"/>
            <a:ext cx="51096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14146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700"/>
              <a:buFont typeface="Arial"/>
              <a:buNone/>
            </a:pPr>
            <a:r>
              <a:rPr lang="ko-KR" altLang="en-US" sz="2700" b="1" i="0" u="none" strike="noStrike" cap="none" spc="-27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박보성</a:t>
            </a:r>
            <a:r>
              <a:rPr lang="ko-KR" altLang="en-US" sz="2700" b="1" i="0" u="none" strike="noStrike" cap="none" spc="-27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29세</a:t>
            </a:r>
            <a:endParaRPr sz="27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709962" y="6992280"/>
            <a:ext cx="47844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7인 </a:t>
            </a:r>
            <a:r>
              <a:rPr lang="ko-KR" altLang="en-US" sz="18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홈리빙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브랜드 CRM 담당.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ctr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수신동의와 (광고) 표기가 늘 걱정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6821463" y="8151724"/>
            <a:ext cx="4645000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6703125" y="8557331"/>
            <a:ext cx="478435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2492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“할인을 하더라도 팔릴 만큼만 하고 싶어요.”</a:t>
            </a:r>
            <a:endParaRPr sz="2000" b="0" i="0" u="none" strike="noStrike" cap="none" spc="-15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11937950" y="2152107"/>
            <a:ext cx="5207050" cy="7223820"/>
          </a:xfrm>
          <a:prstGeom prst="roundRect">
            <a:avLst>
              <a:gd name="adj" fmla="val 1829"/>
            </a:avLst>
          </a:prstGeom>
          <a:solidFill>
            <a:srgbClr val="FFFFFF">
              <a:alpha val="98039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0" name="Google Shape;370;p10" descr="preencoded.png"/>
          <p:cNvPicPr preferRelativeResize="0"/>
          <p:nvPr/>
        </p:nvPicPr>
        <p:blipFill rotWithShape="1">
          <a:blip r:embed="rId5">
            <a:alphaModFix amt="98000"/>
          </a:blip>
          <a:srcRect t="10243" b="27222"/>
          <a:stretch/>
        </p:blipFill>
        <p:spPr>
          <a:xfrm>
            <a:off x="12218933" y="2395715"/>
            <a:ext cx="4645066" cy="313724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0"/>
          <p:cNvSpPr/>
          <p:nvPr/>
        </p:nvSpPr>
        <p:spPr>
          <a:xfrm>
            <a:off x="12218938" y="5781481"/>
            <a:ext cx="95400" cy="95400"/>
          </a:xfrm>
          <a:prstGeom prst="roundRect">
            <a:avLst>
              <a:gd name="adj" fmla="val 20000"/>
            </a:avLst>
          </a:prstGeom>
          <a:solidFill>
            <a:srgbClr val="E94162">
              <a:alpha val="9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12409438" y="5695756"/>
            <a:ext cx="11559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최종 사용자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11847462" y="6312200"/>
            <a:ext cx="51096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14146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700"/>
              <a:buFont typeface="Arial"/>
              <a:buNone/>
            </a:pPr>
            <a:r>
              <a:rPr lang="ko-KR" altLang="en-US" sz="2700" b="1" i="0" u="none" strike="noStrike" cap="none" spc="-27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조규현 · 31세</a:t>
            </a:r>
            <a:endParaRPr sz="2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12010062" y="6891290"/>
            <a:ext cx="47844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이사를 앞두고 침구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ctr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그릇 찜 30개를 쌓아 둔 단골 고객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12218938" y="8135890"/>
            <a:ext cx="464507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12003162" y="8322292"/>
            <a:ext cx="4784427" cy="81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lnSpc>
                <a:spcPct val="12492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“결제 없이 신청만 하는 거면 </a:t>
            </a:r>
            <a:endParaRPr lang="en-US" altLang="ko-KR" sz="2000" b="1" i="0" u="none" strike="noStrike" cap="none" spc="-150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ctr" rtl="0" eaLnBrk="0">
              <a:lnSpc>
                <a:spcPct val="12492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 일단 눌러 </a:t>
            </a:r>
            <a:r>
              <a:rPr lang="ko-KR" altLang="en-US" sz="2000" b="1" i="0" u="none" strike="noStrike" cap="none" spc="-150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볼래요</a:t>
            </a:r>
            <a:r>
              <a:rPr lang="ko-KR" altLang="en-US" sz="2000" b="1" i="0" u="none" strike="noStrike" cap="none" spc="-1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.”</a:t>
            </a:r>
            <a:endParaRPr sz="2000" b="0" i="0" u="none" strike="noStrike" cap="none" spc="-15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</a:t>
            </a:r>
            <a:r>
              <a:rPr lang="ko-KR" altLang="en-US" sz="16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찜 공구</a:t>
            </a:r>
            <a:endParaRPr sz="16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08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0" name="Google Shape;380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0785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1404342" y="762000"/>
            <a:ext cx="15633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04 · 작동 방식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Arial"/>
                <a:ea typeface="맑은 고딕"/>
                <a:cs typeface="Arial"/>
                <a:sym typeface="Arial"/>
              </a:rPr>
              <a:t>신청은 먼저</a:t>
            </a:r>
            <a:r>
              <a:rPr lang="en-US" altLang="ko-KR" sz="3900" b="1" i="0" u="none" strike="noStrike" cap="none" spc="-78" dirty="0">
                <a:solidFill>
                  <a:srgbClr val="1C1C1F"/>
                </a:solidFill>
                <a:latin typeface="Arial"/>
                <a:ea typeface="맑은 고딕"/>
                <a:cs typeface="Arial"/>
                <a:sym typeface="Arial"/>
              </a:rPr>
              <a:t>,</a:t>
            </a: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Arial"/>
                <a:ea typeface="맑은 고딕"/>
                <a:cs typeface="Arial"/>
                <a:sym typeface="Arial"/>
              </a:rPr>
              <a:t> 결제는 목표를 채운 뒤에</a:t>
            </a:r>
            <a:endParaRPr lang="ko-KR" altLang="en-US" sz="3900" b="0" i="0" u="none" strike="noStrike" cap="none" dirty="0">
              <a:solidFill>
                <a:schemeClr val="dk1"/>
              </a:solidFill>
              <a:latin typeface="Calibri"/>
              <a:ea typeface="맑은 고딕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1104900" y="2222500"/>
            <a:ext cx="4699000" cy="4381500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1498600" y="27305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727200" y="26035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 spc="36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01 · 판매자</a:t>
            </a:r>
            <a:endParaRPr sz="2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1358900" y="3530219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000"/>
              <a:buFont typeface="Arial"/>
              <a:buNone/>
            </a:pPr>
            <a:r>
              <a:rPr lang="ko-KR" altLang="en-US" sz="3200" b="1" i="0" u="none" strike="noStrike" cap="none" spc="-3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공구 개설</a:t>
            </a:r>
            <a:endParaRPr sz="32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1358900" y="4444492"/>
            <a:ext cx="4191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5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수신동의 고객에게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  <a:p>
            <a:pPr marL="0" marR="0" lvl="0" indent="0" algn="ctr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5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수량·할인가·마감일 설정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5994400" y="2222500"/>
            <a:ext cx="647700" cy="4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</a:t>
            </a:r>
            <a:endParaRPr sz="3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794500" y="2222500"/>
            <a:ext cx="4699000" cy="4381500"/>
          </a:xfrm>
          <a:prstGeom prst="roundRect">
            <a:avLst>
              <a:gd name="adj" fmla="val 2027"/>
            </a:avLst>
          </a:prstGeom>
          <a:solidFill>
            <a:srgbClr val="FFF0F3">
              <a:alpha val="98824"/>
            </a:srgbClr>
          </a:solidFill>
          <a:ln w="14275" cap="flat" cmpd="sng">
            <a:solidFill>
              <a:srgbClr val="FDAAC1">
                <a:alpha val="98824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7150100" y="27305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9416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7378700" y="26035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02 · 고객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7150100" y="3530219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ctr" anchorCtr="0">
            <a:noAutofit/>
          </a:bodyPr>
          <a:lstStyle/>
          <a:p>
            <a:pPr marL="0" marR="0" lvl="0" indent="0" algn="ctr" rtl="0" eaLnBrk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000"/>
              <a:buFont typeface="Arial"/>
              <a:buNone/>
            </a:pPr>
            <a:r>
              <a:rPr lang="ko-KR" altLang="en-US" sz="3200" b="1" i="0" u="none" strike="noStrike" cap="none" spc="-3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참여 신청</a:t>
            </a:r>
            <a:endParaRPr sz="32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7048500" y="4438650"/>
            <a:ext cx="4191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5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위젯에서 신청만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  <a:p>
            <a:pPr marL="0" marR="0" lvl="0" indent="0" algn="ctr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5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달성 시 쿠폰으로 결제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1645900" y="2222500"/>
            <a:ext cx="647700" cy="4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</a:t>
            </a:r>
            <a:endParaRPr sz="3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12446000" y="2222500"/>
            <a:ext cx="4699000" cy="4381500"/>
          </a:xfrm>
          <a:prstGeom prst="roundRect">
            <a:avLst>
              <a:gd name="adj" fmla="val 2027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12801600" y="27305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9416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3030200" y="26035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03 · 판매자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12700000" y="357505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000"/>
              <a:buFont typeface="Arial"/>
              <a:buNone/>
            </a:pPr>
            <a:r>
              <a:rPr lang="ko-KR" altLang="en-US" sz="3200" b="1" i="0" u="none" strike="noStrike" cap="none" spc="-3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확정 수량으로 발주</a:t>
            </a:r>
            <a:endParaRPr sz="32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12700000" y="4396232"/>
            <a:ext cx="4191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5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완료 수량만큼 발주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  <a:p>
            <a:pPr marL="0" marR="0" lvl="0" indent="0" algn="ctr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5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미달 시 '진행 안 됨' 안내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1143000" y="7172325"/>
            <a:ext cx="16002000" cy="1447800"/>
          </a:xfrm>
          <a:prstGeom prst="roundRect">
            <a:avLst>
              <a:gd name="adj" fmla="val 8788"/>
            </a:avLst>
          </a:prstGeom>
          <a:solidFill>
            <a:srgbClr val="FFF0F3">
              <a:alpha val="92941"/>
            </a:srgbClr>
          </a:solidFill>
          <a:ln w="14275" cap="flat" cmpd="sng">
            <a:solidFill>
              <a:srgbClr val="FDAAC1">
                <a:alpha val="9294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1498600" y="7658100"/>
            <a:ext cx="33020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14146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700"/>
              <a:buFont typeface="Arial"/>
              <a:buNone/>
            </a:pPr>
            <a:r>
              <a:rPr lang="ko-KR" altLang="en-US" sz="2800" b="1" i="0" u="none" strike="noStrike" cap="none" spc="-27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목표 미달이면?</a:t>
            </a:r>
            <a:endParaRPr sz="2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4826000" y="7683500"/>
            <a:ext cx="12065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'진행 안 됨' 안내만 · 고객 손해 0 · 재고 부담 0 · 수수료 0원</a:t>
            </a:r>
            <a:endParaRPr sz="240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</a:t>
            </a:r>
            <a:r>
              <a:rPr lang="ko-KR" altLang="en-US" sz="16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찜 공구</a:t>
            </a:r>
            <a:endParaRPr sz="16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09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412" name="Google Shape;412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76829F-EA80-A823-64E1-50167A2E9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623" y="3670724"/>
            <a:ext cx="570651" cy="57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38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1404342" y="762000"/>
            <a:ext cx="15633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</a:t>
            </a:r>
            <a:r>
              <a:rPr lang="en-US" altLang="ko-KR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핵심 정책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Arial"/>
                <a:ea typeface="맑은 고딕"/>
                <a:cs typeface="Arial"/>
                <a:sym typeface="Arial"/>
              </a:rPr>
              <a:t>확정 수량은 '결제가 끝난 </a:t>
            </a:r>
            <a:r>
              <a:rPr lang="ko-KR" altLang="en-US" sz="3900" b="1" i="0" u="none" strike="noStrike" cap="none" spc="-78" dirty="0" err="1">
                <a:solidFill>
                  <a:srgbClr val="1C1C1F"/>
                </a:solidFill>
                <a:latin typeface="Arial"/>
                <a:ea typeface="맑은 고딕"/>
                <a:cs typeface="Arial"/>
                <a:sym typeface="Arial"/>
              </a:rPr>
              <a:t>수량’입니다</a:t>
            </a:r>
            <a:endParaRPr sz="3900" b="0" i="0" u="none" strike="noStrike" cap="none" dirty="0">
              <a:solidFill>
                <a:schemeClr val="dk1"/>
              </a:solidFill>
              <a:latin typeface="Calibri"/>
              <a:ea typeface="맑은 고딕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1001438" y="2163886"/>
            <a:ext cx="7905750" cy="3035647"/>
          </a:xfrm>
          <a:prstGeom prst="roundRect">
            <a:avLst>
              <a:gd name="adj" fmla="val 3138"/>
            </a:avLst>
          </a:prstGeom>
          <a:solidFill>
            <a:srgbClr val="FFF0F3"/>
          </a:solidFill>
          <a:ln w="14275" cap="flat" cmpd="sng">
            <a:solidFill>
              <a:srgbClr val="FDAA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1500188" y="2711357"/>
            <a:ext cx="79104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285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확정 수량</a:t>
            </a:r>
            <a:endParaRPr sz="28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9144000" y="2146239"/>
            <a:ext cx="7905750" cy="3035647"/>
          </a:xfrm>
          <a:prstGeom prst="roundRect">
            <a:avLst>
              <a:gd name="adj" fmla="val 3138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9596438" y="2712155"/>
            <a:ext cx="79104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2850" b="1" i="0" u="none" strike="noStrike" cap="none" spc="-29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가격</a:t>
            </a:r>
            <a:endParaRPr sz="28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1001438" y="5378271"/>
            <a:ext cx="7905750" cy="3035647"/>
          </a:xfrm>
          <a:prstGeom prst="roundRect">
            <a:avLst>
              <a:gd name="adj" fmla="val 3138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1500188" y="5961108"/>
            <a:ext cx="79104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285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마감</a:t>
            </a:r>
            <a:endParaRPr sz="28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9144000" y="5429157"/>
            <a:ext cx="7905750" cy="3035647"/>
          </a:xfrm>
          <a:prstGeom prst="roundRect">
            <a:avLst>
              <a:gd name="adj" fmla="val 3138"/>
            </a:avLst>
          </a:prstGeom>
          <a:solidFill>
            <a:srgbClr val="FFFFFF">
              <a:alpha val="92941"/>
            </a:srgbClr>
          </a:solidFill>
          <a:ln w="14275" cap="flat" cmpd="sng">
            <a:solidFill>
              <a:srgbClr val="1C1C1F">
                <a:alpha val="1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9596438" y="5966637"/>
            <a:ext cx="2638234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285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미달</a:t>
            </a:r>
            <a:endParaRPr sz="28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1001438" y="8640403"/>
            <a:ext cx="16143562" cy="752475"/>
          </a:xfrm>
          <a:prstGeom prst="roundRect">
            <a:avLst>
              <a:gd name="adj" fmla="val 10127"/>
            </a:avLst>
          </a:prstGeom>
          <a:solidFill>
            <a:srgbClr val="FFF0F3">
              <a:alpha val="8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3"/>
          <p:cNvSpPr/>
          <p:nvPr/>
        </p:nvSpPr>
        <p:spPr>
          <a:xfrm>
            <a:off x="1447800" y="8830903"/>
            <a:ext cx="1587246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기간 24·48·72시간 중 선택(기본 72시간) · 같은 업종 실적으로 기간 추천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10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476" name="Google Shape;47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C64A473-108A-5F95-678D-DF705ABEA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758" y="2824485"/>
            <a:ext cx="1785741" cy="178574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6DF538B-412B-CF51-EA20-FAB7E584F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15267" y="2827590"/>
            <a:ext cx="1708235" cy="17082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C29E4CA-673B-5075-0B1F-704DB1822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769" y="6289008"/>
            <a:ext cx="1425101" cy="1425101"/>
          </a:xfrm>
          <a:prstGeom prst="rect">
            <a:avLst/>
          </a:prstGeom>
        </p:spPr>
      </p:pic>
      <p:sp>
        <p:nvSpPr>
          <p:cNvPr id="5" name="Google Shape;461;p13">
            <a:extLst>
              <a:ext uri="{FF2B5EF4-FFF2-40B4-BE49-F238E27FC236}">
                <a16:creationId xmlns:a16="http://schemas.microsoft.com/office/drawing/2014/main" id="{67D4C21A-6A48-744D-3D3C-97528B6CFE3E}"/>
              </a:ext>
            </a:extLst>
          </p:cNvPr>
          <p:cNvSpPr/>
          <p:nvPr/>
        </p:nvSpPr>
        <p:spPr>
          <a:xfrm>
            <a:off x="1500188" y="3571054"/>
            <a:ext cx="7407000" cy="8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기간 안에 쿠폰으로 결제한 수량만 카운트 </a:t>
            </a:r>
            <a:endParaRPr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lvl="0" eaLnBrk="0">
              <a:lnSpc>
                <a:spcPct val="134333"/>
              </a:lnSpc>
              <a:buClr>
                <a:srgbClr val="1C1C1F"/>
              </a:buClr>
              <a:buSzPts val="1950"/>
            </a:pPr>
            <a:r>
              <a:rPr lang="ko-KR" altLang="en-US" sz="1800" b="1" dirty="0">
                <a:solidFill>
                  <a:srgbClr val="1C1C1F"/>
                </a:solidFill>
                <a:highlight>
                  <a:srgbClr val="FFF1F4"/>
                </a:highlight>
                <a:latin typeface="KoreanSWGI1R" panose="02020600000000000000" pitchFamily="18" charset="-127"/>
                <a:ea typeface="KoreanSWGI1R" panose="02020600000000000000" pitchFamily="18" charset="-127"/>
              </a:rPr>
              <a:t>→ 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'신청 × 예상 </a:t>
            </a:r>
            <a:r>
              <a:rPr lang="ko-KR" altLang="en-US" sz="18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결제율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’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" name="Google Shape;464;p13">
            <a:extLst>
              <a:ext uri="{FF2B5EF4-FFF2-40B4-BE49-F238E27FC236}">
                <a16:creationId xmlns:a16="http://schemas.microsoft.com/office/drawing/2014/main" id="{15DC9B96-21AD-1378-B16F-7B38AC1E03A7}"/>
              </a:ext>
            </a:extLst>
          </p:cNvPr>
          <p:cNvSpPr/>
          <p:nvPr/>
        </p:nvSpPr>
        <p:spPr>
          <a:xfrm>
            <a:off x="9596438" y="3571054"/>
            <a:ext cx="7407000" cy="8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할인가가 원가보다 낮으면 경고</a:t>
            </a:r>
            <a:endParaRPr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할인 전 가격은 실제로 판매했던 정가만 표시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" name="Google Shape;467;p13">
            <a:extLst>
              <a:ext uri="{FF2B5EF4-FFF2-40B4-BE49-F238E27FC236}">
                <a16:creationId xmlns:a16="http://schemas.microsoft.com/office/drawing/2014/main" id="{61611458-C8DD-2209-2C75-049CD443D296}"/>
              </a:ext>
            </a:extLst>
          </p:cNvPr>
          <p:cNvSpPr/>
          <p:nvPr/>
        </p:nvSpPr>
        <p:spPr>
          <a:xfrm>
            <a:off x="1500188" y="6820805"/>
            <a:ext cx="7407000" cy="8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실제 마감 시각이 지나야 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판정</a:t>
            </a:r>
            <a:r>
              <a:rPr lang="ko-KR" altLang="en-US" sz="180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연장은 1회, 사유 공개. 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가짜 카운트다운은 </a:t>
            </a:r>
            <a:r>
              <a:rPr lang="ko-KR" altLang="en-US" sz="180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지양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" name="Google Shape;470;p13">
            <a:extLst>
              <a:ext uri="{FF2B5EF4-FFF2-40B4-BE49-F238E27FC236}">
                <a16:creationId xmlns:a16="http://schemas.microsoft.com/office/drawing/2014/main" id="{0DF72D2B-C77A-4C94-FE20-3682718959DF}"/>
              </a:ext>
            </a:extLst>
          </p:cNvPr>
          <p:cNvSpPr/>
          <p:nvPr/>
        </p:nvSpPr>
        <p:spPr>
          <a:xfrm>
            <a:off x="9596438" y="6820805"/>
            <a:ext cx="7407000" cy="805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기본은 '진행 안 됨' 안내. 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'그래도 </a:t>
            </a:r>
            <a:r>
              <a:rPr lang="ko-KR" altLang="en-US" sz="18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진행'을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고르면 </a:t>
            </a:r>
            <a:r>
              <a:rPr lang="ko-KR" altLang="en-US" sz="1800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재안내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8FCFF6-6C90-36E8-264D-4ED1E972C7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44519" y="6026929"/>
            <a:ext cx="1701623" cy="173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415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4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1404342" y="762000"/>
            <a:ext cx="28172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</a:t>
            </a:r>
            <a:r>
              <a:rPr lang="en-US" altLang="ko-KR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6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기존 대안과의 </a:t>
            </a:r>
            <a:r>
              <a:rPr lang="ko-KR" altLang="en-US" sz="18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차별점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새 고객이 아니라, 이미 </a:t>
            </a:r>
            <a:r>
              <a:rPr lang="ko-KR" altLang="en-US" sz="3900" b="1" i="0" u="none" strike="noStrike" cap="none" spc="-78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찜한</a:t>
            </a: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내 고객을 전환합니다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2F47AA9-65AB-A873-031E-DA2C64418CBE}"/>
              </a:ext>
            </a:extLst>
          </p:cNvPr>
          <p:cNvGrpSpPr/>
          <p:nvPr/>
        </p:nvGrpSpPr>
        <p:grpSpPr>
          <a:xfrm>
            <a:off x="2231684" y="2079692"/>
            <a:ext cx="15101557" cy="5379840"/>
            <a:chOff x="1270000" y="2413000"/>
            <a:chExt cx="15684500" cy="5625681"/>
          </a:xfrm>
        </p:grpSpPr>
        <p:sp>
          <p:nvSpPr>
            <p:cNvPr id="485" name="Google Shape;485;p14"/>
            <p:cNvSpPr/>
            <p:nvPr/>
          </p:nvSpPr>
          <p:spPr>
            <a:xfrm>
              <a:off x="1511300" y="2413000"/>
              <a:ext cx="254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1900"/>
                <a:buFont typeface="Arial"/>
                <a:buNone/>
              </a:pPr>
              <a:r>
                <a:rPr lang="ko-KR" altLang="en-US" sz="2000" b="1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대안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4127500" y="2413000"/>
              <a:ext cx="482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1900"/>
                <a:buFont typeface="Arial"/>
                <a:buNone/>
              </a:pPr>
              <a:r>
                <a:rPr lang="ko-KR" altLang="en-US" sz="2000" b="1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방식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9080500" y="2413000"/>
              <a:ext cx="787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1900"/>
                <a:buFont typeface="Arial"/>
                <a:buNone/>
              </a:pPr>
              <a:r>
                <a:rPr lang="ko-KR" altLang="en-US" sz="2000" b="1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한계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1270000" y="2921000"/>
              <a:ext cx="14366240" cy="850481"/>
            </a:xfrm>
            <a:prstGeom prst="roundRect">
              <a:avLst>
                <a:gd name="adj" fmla="val 10076"/>
              </a:avLst>
            </a:prstGeom>
            <a:solidFill>
              <a:srgbClr val="FFFFFF"/>
            </a:solidFill>
            <a:ln w="15075" cap="flat" cmpd="sng">
              <a:solidFill>
                <a:srgbClr val="1C1C1F">
                  <a:alpha val="16078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6475" tIns="96475" rIns="96475" bIns="96475" anchor="ctr" anchorCtr="0">
              <a:noAutofit/>
            </a:bodyPr>
            <a:lstStyle/>
            <a:p>
              <a:pPr marL="0" lvl="0" indent="0" algn="ctr" rtl="0" eaLnBrk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KoreanSWGI1R" panose="02020600000000000000" pitchFamily="18" charset="-127"/>
                <a:ea typeface="KoreanSWGI1R" panose="02020600000000000000" pitchFamily="18" charset="-127"/>
              </a:endParaRPr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1511300" y="3136900"/>
              <a:ext cx="2298598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1" i="0" u="none" strike="noStrike" cap="none" dirty="0" err="1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와디즈</a:t>
              </a:r>
              <a:r>
                <a:rPr lang="ko-KR" altLang="en-US" sz="2000" b="1" i="0" u="none" strike="noStrike" cap="none" dirty="0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 · </a:t>
              </a:r>
              <a:r>
                <a:rPr lang="ko-KR" altLang="en-US" sz="2000" b="1" i="0" u="none" strike="noStrike" cap="none" dirty="0" err="1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텀블벅</a:t>
              </a:r>
              <a:endParaRPr sz="2000" b="0" i="0" u="none" strike="noStrike" cap="none" dirty="0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4127500" y="3136900"/>
              <a:ext cx="4367337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크라우드펀딩 선주문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91" name="Google Shape;491;p14"/>
            <p:cNvSpPr/>
            <p:nvPr/>
          </p:nvSpPr>
          <p:spPr>
            <a:xfrm>
              <a:off x="9080500" y="3136900"/>
              <a:ext cx="7125655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내 몰 밖 새 고객 모집 · 비용률 13~15%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1270000" y="3987800"/>
              <a:ext cx="14366240" cy="850481"/>
            </a:xfrm>
            <a:prstGeom prst="roundRect">
              <a:avLst>
                <a:gd name="adj" fmla="val 10076"/>
              </a:avLst>
            </a:prstGeom>
            <a:solidFill>
              <a:srgbClr val="FFFFFF"/>
            </a:solidFill>
            <a:ln w="15075" cap="flat" cmpd="sng">
              <a:solidFill>
                <a:srgbClr val="1C1C1F">
                  <a:alpha val="16078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6475" tIns="96475" rIns="96475" bIns="96475" anchor="ctr" anchorCtr="0">
              <a:noAutofit/>
            </a:bodyPr>
            <a:lstStyle/>
            <a:p>
              <a:pPr marL="0" lvl="0" indent="0" algn="ctr" rtl="0" eaLnBrk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KoreanSWGI1R" panose="02020600000000000000" pitchFamily="18" charset="-127"/>
                <a:ea typeface="KoreanSWGI1R" panose="02020600000000000000" pitchFamily="18" charset="-127"/>
              </a:endParaRPr>
            </a:p>
          </p:txBody>
        </p:sp>
        <p:sp>
          <p:nvSpPr>
            <p:cNvPr id="493" name="Google Shape;493;p14"/>
            <p:cNvSpPr/>
            <p:nvPr/>
          </p:nvSpPr>
          <p:spPr>
            <a:xfrm>
              <a:off x="1511300" y="4203700"/>
              <a:ext cx="2298598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1" i="0" u="none" strike="noStrike" cap="none" dirty="0" err="1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올웨이즈</a:t>
              </a:r>
              <a:r>
                <a:rPr lang="ko-KR" altLang="en-US" sz="2000" b="1" i="0" u="none" strike="noStrike" cap="none" dirty="0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 </a:t>
              </a:r>
              <a:r>
                <a:rPr lang="ko-KR" altLang="en-US" sz="2000" b="1" i="0" u="none" strike="noStrike" cap="none" dirty="0" err="1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팀구매</a:t>
              </a:r>
              <a:endParaRPr sz="2000" b="0" i="0" u="none" strike="noStrike" cap="none" dirty="0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94" name="Google Shape;494;p14"/>
            <p:cNvSpPr/>
            <p:nvPr/>
          </p:nvSpPr>
          <p:spPr>
            <a:xfrm>
              <a:off x="4127500" y="4203700"/>
              <a:ext cx="4367337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 dirty="0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플랫폼이 판매량 보장</a:t>
              </a:r>
              <a:endParaRPr sz="2000" b="0" i="0" u="none" strike="noStrike" cap="none" dirty="0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9080500" y="4203700"/>
              <a:ext cx="7125655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 dirty="0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10% 할인 필수, 고객 데이터는 플랫폼 소유</a:t>
              </a:r>
              <a:endParaRPr sz="2000" b="0" i="0" u="none" strike="noStrike" cap="none" dirty="0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1270000" y="5054600"/>
              <a:ext cx="14366240" cy="850481"/>
            </a:xfrm>
            <a:prstGeom prst="roundRect">
              <a:avLst>
                <a:gd name="adj" fmla="val 10076"/>
              </a:avLst>
            </a:prstGeom>
            <a:solidFill>
              <a:srgbClr val="FFFFFF"/>
            </a:solidFill>
            <a:ln w="15075" cap="flat" cmpd="sng">
              <a:solidFill>
                <a:srgbClr val="1C1C1F">
                  <a:alpha val="16078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6475" tIns="96475" rIns="96475" bIns="96475" anchor="ctr" anchorCtr="0">
              <a:noAutofit/>
            </a:bodyPr>
            <a:lstStyle/>
            <a:p>
              <a:pPr marL="0" lvl="0" indent="0" algn="ctr" rtl="0" eaLnBrk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KoreanSWGI1R" panose="02020600000000000000" pitchFamily="18" charset="-127"/>
                <a:ea typeface="KoreanSWGI1R" panose="02020600000000000000" pitchFamily="18" charset="-127"/>
              </a:endParaRPr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1511300" y="5270500"/>
              <a:ext cx="2298598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1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카카오 톡딜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98" name="Google Shape;498;p14"/>
            <p:cNvSpPr/>
            <p:nvPr/>
          </p:nvSpPr>
          <p:spPr>
            <a:xfrm>
              <a:off x="4127500" y="5270500"/>
              <a:ext cx="4367337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 dirty="0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2명 모이면 할인</a:t>
              </a:r>
              <a:endParaRPr sz="2000" b="0" i="0" u="none" strike="noStrike" cap="none" dirty="0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499" name="Google Shape;499;p14"/>
            <p:cNvSpPr/>
            <p:nvPr/>
          </p:nvSpPr>
          <p:spPr>
            <a:xfrm>
              <a:off x="9080500" y="5270500"/>
              <a:ext cx="7125655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카카오 안에서만 동작, 자사몰 고객과 연결 안 됨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1270000" y="6121400"/>
              <a:ext cx="14366240" cy="850481"/>
            </a:xfrm>
            <a:prstGeom prst="roundRect">
              <a:avLst>
                <a:gd name="adj" fmla="val 10076"/>
              </a:avLst>
            </a:prstGeom>
            <a:solidFill>
              <a:srgbClr val="FFFFFF"/>
            </a:solidFill>
            <a:ln w="15075" cap="flat" cmpd="sng">
              <a:solidFill>
                <a:srgbClr val="1C1C1F">
                  <a:alpha val="16078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6475" tIns="96475" rIns="96475" bIns="96475" anchor="ctr" anchorCtr="0">
              <a:noAutofit/>
            </a:bodyPr>
            <a:lstStyle/>
            <a:p>
              <a:pPr marL="0" lvl="0" indent="0" algn="ctr" rtl="0" eaLnBrk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KoreanSWGI1R" panose="02020600000000000000" pitchFamily="18" charset="-127"/>
                <a:ea typeface="KoreanSWGI1R" panose="02020600000000000000" pitchFamily="18" charset="-127"/>
              </a:endParaRPr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1511300" y="6337300"/>
              <a:ext cx="2298598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1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수동 운영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502" name="Google Shape;502;p14"/>
            <p:cNvSpPr/>
            <p:nvPr/>
          </p:nvSpPr>
          <p:spPr>
            <a:xfrm>
              <a:off x="4127500" y="6337300"/>
              <a:ext cx="4367337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인스타 공구, 구글폼 + 문자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503" name="Google Shape;503;p14"/>
            <p:cNvSpPr/>
            <p:nvPr/>
          </p:nvSpPr>
          <p:spPr>
            <a:xfrm>
              <a:off x="9080500" y="6337300"/>
              <a:ext cx="7125655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찜 데이터를 못 쓰고, 수신동의·집계를 손으로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504" name="Google Shape;504;p14"/>
            <p:cNvSpPr/>
            <p:nvPr/>
          </p:nvSpPr>
          <p:spPr>
            <a:xfrm>
              <a:off x="1270000" y="7188200"/>
              <a:ext cx="14366240" cy="850481"/>
            </a:xfrm>
            <a:prstGeom prst="roundRect">
              <a:avLst>
                <a:gd name="adj" fmla="val 10076"/>
              </a:avLst>
            </a:prstGeom>
            <a:solidFill>
              <a:srgbClr val="FFFFFF"/>
            </a:solidFill>
            <a:ln w="15075" cap="flat" cmpd="sng">
              <a:solidFill>
                <a:srgbClr val="1C1C1F">
                  <a:alpha val="16078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6475" tIns="96475" rIns="96475" bIns="96475" anchor="ctr" anchorCtr="0">
              <a:noAutofit/>
            </a:bodyPr>
            <a:lstStyle/>
            <a:p>
              <a:pPr marL="0" lvl="0" indent="0" algn="ctr" rtl="0" eaLnBrk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oreanSWGI1R" panose="02020600000000000000" pitchFamily="18" charset="-127"/>
                <a:ea typeface="KoreanSWGI1R" panose="02020600000000000000" pitchFamily="18" charset="-127"/>
              </a:endParaRPr>
            </a:p>
          </p:txBody>
        </p:sp>
        <p:sp>
          <p:nvSpPr>
            <p:cNvPr id="505" name="Google Shape;505;p14"/>
            <p:cNvSpPr/>
            <p:nvPr/>
          </p:nvSpPr>
          <p:spPr>
            <a:xfrm>
              <a:off x="1511300" y="7404100"/>
              <a:ext cx="2298598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1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카페24 기본 기능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506" name="Google Shape;506;p14"/>
            <p:cNvSpPr/>
            <p:nvPr/>
          </p:nvSpPr>
          <p:spPr>
            <a:xfrm>
              <a:off x="4127500" y="7404100"/>
              <a:ext cx="4367337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재입고 알림, 쿠폰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  <p:sp>
          <p:nvSpPr>
            <p:cNvPr id="507" name="Google Shape;507;p14"/>
            <p:cNvSpPr/>
            <p:nvPr/>
          </p:nvSpPr>
          <p:spPr>
            <a:xfrm>
              <a:off x="9080500" y="7404100"/>
              <a:ext cx="7125655" cy="4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00" tIns="26800" rIns="26800" bIns="26800" anchor="ctr" anchorCtr="0">
              <a:noAutofit/>
            </a:bodyPr>
            <a:lstStyle/>
            <a:p>
              <a:pPr marL="0" marR="0" lvl="0" indent="0" algn="ctr" rtl="0" eaLnBrk="0">
                <a:lnSpc>
                  <a:spcPct val="121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F"/>
                </a:buClr>
                <a:buSzPts val="2058"/>
                <a:buFont typeface="Arial"/>
                <a:buNone/>
              </a:pPr>
              <a:r>
                <a:rPr lang="ko-KR" altLang="en-US" sz="2000" b="0" i="0" u="none" strike="noStrike" cap="none">
                  <a:solidFill>
                    <a:srgbClr val="1C1C1F"/>
                  </a:solidFill>
                  <a:latin typeface="KoreanSWGI1R" panose="02020600000000000000" pitchFamily="18" charset="-127"/>
                  <a:ea typeface="KoreanSWGI1R" panose="02020600000000000000" pitchFamily="18" charset="-127"/>
                  <a:sym typeface="Arial"/>
                </a:rPr>
                <a:t>'목표를 채우면 할인'하는 조건부 구조가 없음</a:t>
              </a:r>
              <a:endParaRPr sz="2000" b="0" i="0" u="none" strike="noStrike" cap="none">
                <a:solidFill>
                  <a:schemeClr val="dk1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endParaRPr>
            </a:p>
          </p:txBody>
        </p:sp>
      </p:grpSp>
      <p:sp>
        <p:nvSpPr>
          <p:cNvPr id="508" name="Google Shape;508;p14"/>
          <p:cNvSpPr/>
          <p:nvPr/>
        </p:nvSpPr>
        <p:spPr>
          <a:xfrm>
            <a:off x="1270000" y="8255000"/>
            <a:ext cx="15875000" cy="939800"/>
          </a:xfrm>
          <a:prstGeom prst="roundRect">
            <a:avLst>
              <a:gd name="adj" fmla="val 9733"/>
            </a:avLst>
          </a:prstGeom>
          <a:solidFill>
            <a:srgbClr val="FFF0F3"/>
          </a:solidFill>
          <a:ln w="15075" cap="flat" cmpd="sng">
            <a:solidFill>
              <a:srgbClr val="FDAA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6475" tIns="96475" rIns="96475" bIns="9647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1511300" y="84709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16"/>
              <a:buFont typeface="Arial"/>
              <a:buNone/>
            </a:pPr>
            <a:r>
              <a:rPr lang="ko-KR" altLang="en-US" sz="25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4127500" y="84709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6800" tIns="26800" rIns="26800" bIns="26800" anchor="ctr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16"/>
              <a:buFont typeface="Arial"/>
              <a:buNone/>
            </a:pPr>
            <a:r>
              <a:rPr lang="ko-KR" altLang="en-US" sz="25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내 찜 고객 대상 조건부 공구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9080500" y="8470900"/>
            <a:ext cx="7874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16"/>
              <a:buFont typeface="Arial"/>
              <a:buNone/>
            </a:pPr>
            <a:r>
              <a:rPr lang="ko-KR" altLang="en-US" sz="25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내 고객 데이터로 수요 확인 · </a:t>
            </a:r>
            <a:r>
              <a:rPr lang="ko-KR" altLang="en-US" sz="25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비용률</a:t>
            </a:r>
            <a:r>
              <a:rPr lang="ko-KR" altLang="en-US" sz="25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2.7~5.4%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11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515" name="Google Shape;515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3" name="아래쪽 화살표[D] 2">
            <a:extLst>
              <a:ext uri="{FF2B5EF4-FFF2-40B4-BE49-F238E27FC236}">
                <a16:creationId xmlns:a16="http://schemas.microsoft.com/office/drawing/2014/main" id="{6E72418B-2399-B915-F81F-93A0316DDA0A}"/>
              </a:ext>
            </a:extLst>
          </p:cNvPr>
          <p:cNvSpPr/>
          <p:nvPr/>
        </p:nvSpPr>
        <p:spPr>
          <a:xfrm>
            <a:off x="9035062" y="7589113"/>
            <a:ext cx="266776" cy="579568"/>
          </a:xfrm>
          <a:prstGeom prst="downArrow">
            <a:avLst/>
          </a:prstGeom>
          <a:solidFill>
            <a:srgbClr val="FEAA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2643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4;p15">
            <a:extLst>
              <a:ext uri="{FF2B5EF4-FFF2-40B4-BE49-F238E27FC236}">
                <a16:creationId xmlns:a16="http://schemas.microsoft.com/office/drawing/2014/main" id="{64B1CDFB-7875-050A-EA33-49FC8CAEB92E}"/>
              </a:ext>
            </a:extLst>
          </p:cNvPr>
          <p:cNvSpPr/>
          <p:nvPr/>
        </p:nvSpPr>
        <p:spPr>
          <a:xfrm>
            <a:off x="4383447" y="2747374"/>
            <a:ext cx="2987799" cy="2319892"/>
          </a:xfrm>
          <a:prstGeom prst="roundRect">
            <a:avLst>
              <a:gd name="adj" fmla="val 4941"/>
            </a:avLst>
          </a:prstGeom>
          <a:solidFill>
            <a:srgbClr val="FFF0F4"/>
          </a:solidFill>
          <a:ln w="12700" cap="flat" cmpd="sng">
            <a:solidFill>
              <a:srgbClr val="FEA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" name="Google Shape;524;p15">
            <a:extLst>
              <a:ext uri="{FF2B5EF4-FFF2-40B4-BE49-F238E27FC236}">
                <a16:creationId xmlns:a16="http://schemas.microsoft.com/office/drawing/2014/main" id="{5C0EB9A8-3686-577F-4FCB-E6EECE35BEB4}"/>
              </a:ext>
            </a:extLst>
          </p:cNvPr>
          <p:cNvSpPr/>
          <p:nvPr/>
        </p:nvSpPr>
        <p:spPr>
          <a:xfrm>
            <a:off x="7628759" y="2758250"/>
            <a:ext cx="2987799" cy="2319892"/>
          </a:xfrm>
          <a:prstGeom prst="roundRect">
            <a:avLst>
              <a:gd name="adj" fmla="val 4941"/>
            </a:avLst>
          </a:prstGeom>
          <a:solidFill>
            <a:srgbClr val="FFF0F4"/>
          </a:solidFill>
          <a:ln w="12700" cap="flat" cmpd="sng">
            <a:solidFill>
              <a:srgbClr val="FEA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2" name="Google Shape;524;p15">
            <a:extLst>
              <a:ext uri="{FF2B5EF4-FFF2-40B4-BE49-F238E27FC236}">
                <a16:creationId xmlns:a16="http://schemas.microsoft.com/office/drawing/2014/main" id="{0331A773-265F-ECA3-2815-B1663DB202CB}"/>
              </a:ext>
            </a:extLst>
          </p:cNvPr>
          <p:cNvSpPr/>
          <p:nvPr/>
        </p:nvSpPr>
        <p:spPr>
          <a:xfrm>
            <a:off x="10874071" y="2769995"/>
            <a:ext cx="2987799" cy="2319892"/>
          </a:xfrm>
          <a:prstGeom prst="roundRect">
            <a:avLst>
              <a:gd name="adj" fmla="val 4941"/>
            </a:avLst>
          </a:prstGeom>
          <a:solidFill>
            <a:srgbClr val="FFF0F4"/>
          </a:solidFill>
          <a:ln w="12700" cap="flat" cmpd="sng">
            <a:solidFill>
              <a:srgbClr val="FEA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3" name="Google Shape;524;p15">
            <a:extLst>
              <a:ext uri="{FF2B5EF4-FFF2-40B4-BE49-F238E27FC236}">
                <a16:creationId xmlns:a16="http://schemas.microsoft.com/office/drawing/2014/main" id="{D52E6BD3-C707-BBC1-4138-D335648F2E28}"/>
              </a:ext>
            </a:extLst>
          </p:cNvPr>
          <p:cNvSpPr/>
          <p:nvPr/>
        </p:nvSpPr>
        <p:spPr>
          <a:xfrm>
            <a:off x="14131801" y="2753722"/>
            <a:ext cx="2987799" cy="2319892"/>
          </a:xfrm>
          <a:prstGeom prst="roundRect">
            <a:avLst>
              <a:gd name="adj" fmla="val 4941"/>
            </a:avLst>
          </a:prstGeom>
          <a:solidFill>
            <a:srgbClr val="FFF0F4"/>
          </a:solidFill>
          <a:ln w="12700" cap="flat" cmpd="sng">
            <a:solidFill>
              <a:srgbClr val="FEA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1404342" y="762000"/>
            <a:ext cx="21103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</a:t>
            </a:r>
            <a:r>
              <a:rPr lang="en-US" altLang="ko-KR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가설 검증 과정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5개 업종에 같은 가설로 페르소나 인터뷰</a:t>
            </a:r>
            <a:endParaRPr sz="3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1138135" y="2779981"/>
            <a:ext cx="2987799" cy="2319892"/>
          </a:xfrm>
          <a:prstGeom prst="roundRect">
            <a:avLst>
              <a:gd name="adj" fmla="val 4941"/>
            </a:avLst>
          </a:prstGeom>
          <a:solidFill>
            <a:srgbClr val="FFF0F4"/>
          </a:solidFill>
          <a:ln w="12700" cap="flat" cmpd="sng">
            <a:solidFill>
              <a:srgbClr val="FEA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1463661" y="3075043"/>
            <a:ext cx="2647668" cy="11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600"/>
              <a:buFont typeface="Arial"/>
              <a:buNone/>
            </a:pPr>
            <a:r>
              <a:rPr lang="en-US" sz="3600" b="1" i="0" u="none" strike="noStrike" cap="none" spc="-72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01</a:t>
            </a:r>
            <a:endParaRPr sz="3600" b="0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1457412" y="3812420"/>
            <a:ext cx="2480748" cy="176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공통 가설 8개 정의 (H1~H8)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4686469" y="3068774"/>
            <a:ext cx="2605087" cy="118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600"/>
              <a:buFont typeface="Arial"/>
              <a:buNone/>
            </a:pPr>
            <a:r>
              <a:rPr lang="en-US" sz="3600" b="1" i="0" u="none" strike="noStrike" cap="none" spc="-72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02</a:t>
            </a:r>
            <a:endParaRPr sz="3600" b="0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4686468" y="3711173"/>
            <a:ext cx="2440851" cy="176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업종별 특화 가설 추가 (</a:t>
            </a:r>
            <a:r>
              <a:rPr lang="ko-KR" altLang="en-US" sz="24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S</a:t>
            </a:r>
            <a:r>
              <a:rPr lang="ko-KR" altLang="en-US" sz="24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)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7933405" y="3039873"/>
            <a:ext cx="2430147" cy="118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600"/>
              <a:buFont typeface="Arial"/>
              <a:buNone/>
            </a:pPr>
            <a:r>
              <a:rPr lang="en-US" sz="3600" b="1" i="0" u="none" strike="noStrike" cap="none" spc="-72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03</a:t>
            </a:r>
            <a:endParaRPr sz="3600" b="0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7933405" y="3684927"/>
            <a:ext cx="2430147" cy="92276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업종별 </a:t>
            </a:r>
            <a:endParaRPr lang="en-US" altLang="ko-KR" sz="2400" b="1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페르소나 인터뷰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11232305" y="3092282"/>
            <a:ext cx="2250908" cy="11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600"/>
              <a:buFont typeface="Arial"/>
              <a:buNone/>
            </a:pPr>
            <a:r>
              <a:rPr lang="en-US" sz="3600" b="1" i="0" u="none" strike="noStrike" cap="none" spc="-72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04</a:t>
            </a:r>
            <a:endParaRPr sz="3600" b="0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11232305" y="3737335"/>
            <a:ext cx="2250907" cy="92275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같은 기준으로 </a:t>
            </a:r>
            <a:endParaRPr lang="en-US" altLang="ko-KR" sz="2400" b="1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업종 비교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14398127" y="3092280"/>
            <a:ext cx="2330399" cy="591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600"/>
              <a:buFont typeface="Arial"/>
              <a:buNone/>
            </a:pPr>
            <a:r>
              <a:rPr lang="en-US" sz="3600" b="1" i="0" u="none" strike="noStrike" cap="none" spc="-72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05</a:t>
            </a:r>
            <a:endParaRPr sz="3600" b="0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14398127" y="3737335"/>
            <a:ext cx="2330398" cy="461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집중 업종 선정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1143001" y="5837251"/>
            <a:ext cx="7638496" cy="3204708"/>
          </a:xfrm>
          <a:prstGeom prst="roundRect">
            <a:avLst>
              <a:gd name="adj" fmla="val 1873"/>
            </a:avLst>
          </a:prstGeom>
          <a:solidFill>
            <a:srgbClr val="FFFFFF">
              <a:alpha val="67059"/>
            </a:srgbClr>
          </a:solidFill>
          <a:ln w="12700" cap="flat" cmpd="sng">
            <a:solidFill>
              <a:srgbClr val="DBDB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1500188" y="6283224"/>
            <a:ext cx="8933610" cy="868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인터뷰 원칙 (The </a:t>
            </a:r>
            <a:r>
              <a:rPr lang="ko-KR" altLang="en-US" sz="2400" b="1" i="0" u="none" strike="noStrike" cap="none" spc="-24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Mom</a:t>
            </a:r>
            <a:r>
              <a:rPr lang="ko-KR" altLang="en-US" sz="2400" b="1" i="0" u="none" strike="noStrike" cap="none" spc="-24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</a:t>
            </a:r>
            <a:r>
              <a:rPr lang="ko-KR" altLang="en-US" sz="2400" b="1" i="0" u="none" strike="noStrike" cap="none" spc="-24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Test</a:t>
            </a:r>
            <a:r>
              <a:rPr lang="ko-KR" altLang="en-US" sz="2400" b="1" i="0" u="none" strike="noStrike" cap="none" spc="-24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)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1500188" y="6976512"/>
            <a:ext cx="94079" cy="190413"/>
          </a:xfrm>
          <a:prstGeom prst="roundRect">
            <a:avLst>
              <a:gd name="adj" fmla="val 20000"/>
            </a:avLst>
          </a:prstGeom>
          <a:solidFill>
            <a:srgbClr val="F55C80">
              <a:alpha val="6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1747838" y="6847925"/>
            <a:ext cx="8664543" cy="76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과거의 실제 행동만 질문</a:t>
            </a:r>
            <a:endParaRPr sz="1875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1500188" y="7436093"/>
            <a:ext cx="94079" cy="190413"/>
          </a:xfrm>
          <a:prstGeom prst="roundRect">
            <a:avLst>
              <a:gd name="adj" fmla="val 20000"/>
            </a:avLst>
          </a:prstGeom>
          <a:solidFill>
            <a:srgbClr val="F55C80">
              <a:alpha val="6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1747838" y="7325092"/>
            <a:ext cx="8664543" cy="76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제품 소개는 7~8번째 질문에서 짧게</a:t>
            </a:r>
            <a:endParaRPr sz="1875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1500188" y="7895674"/>
            <a:ext cx="94079" cy="190413"/>
          </a:xfrm>
          <a:prstGeom prst="roundRect">
            <a:avLst>
              <a:gd name="adj" fmla="val 20000"/>
            </a:avLst>
          </a:prstGeom>
          <a:solidFill>
            <a:srgbClr val="F55C80">
              <a:alpha val="6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1747838" y="7784673"/>
            <a:ext cx="8664543" cy="76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요금은 상대의 실제 상품 가격으로 계산해 묻는다</a:t>
            </a:r>
            <a:endParaRPr sz="1875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1500188" y="8355256"/>
            <a:ext cx="94079" cy="190413"/>
          </a:xfrm>
          <a:prstGeom prst="roundRect">
            <a:avLst>
              <a:gd name="adj" fmla="val 20000"/>
            </a:avLst>
          </a:prstGeom>
          <a:solidFill>
            <a:srgbClr val="F55C80">
              <a:alpha val="6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1747838" y="8244254"/>
            <a:ext cx="8664543" cy="76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다음 행동(</a:t>
            </a:r>
            <a:r>
              <a:rPr lang="ko-KR" altLang="en-US" sz="1875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데모·파일럿·소개</a:t>
            </a:r>
            <a:r>
              <a:rPr lang="ko-KR" altLang="en-US" sz="1875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)까지 확인</a:t>
            </a:r>
            <a:endParaRPr sz="1875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9386334" y="5837250"/>
            <a:ext cx="7758667" cy="3204708"/>
          </a:xfrm>
          <a:prstGeom prst="roundRect">
            <a:avLst>
              <a:gd name="adj" fmla="val 1873"/>
            </a:avLst>
          </a:prstGeom>
          <a:solidFill>
            <a:srgbClr val="FFFFFF">
              <a:alpha val="30980"/>
            </a:srgbClr>
          </a:solidFill>
          <a:ln w="12700" cap="flat" cmpd="sng">
            <a:solidFill>
              <a:srgbClr val="DBDB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10159763" y="6397632"/>
            <a:ext cx="6776241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업종 분담 (팀원 각자)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10159763" y="7041462"/>
            <a:ext cx="6267036" cy="933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ko-KR" altLang="en-US" sz="22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뷰티 · 식품 · </a:t>
            </a:r>
            <a:r>
              <a:rPr lang="ko-KR" altLang="en-US" sz="225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홈리빙</a:t>
            </a:r>
            <a:r>
              <a:rPr lang="ko-KR" altLang="en-US" sz="22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건강기능식품 · 육아용품</a:t>
            </a:r>
            <a:endParaRPr sz="22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10159763" y="8075605"/>
            <a:ext cx="6267036" cy="161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업종별 판매자 페르소나 · 같은 질문 구조(12~14문항)</a:t>
            </a:r>
            <a:endParaRPr sz="19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12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556" name="Google Shape;556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7023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6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1404342" y="762000"/>
            <a:ext cx="234597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0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8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업종별 가설 신호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홈리빙과</a:t>
            </a: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육아용품이 가장 높게 나왔습니다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1143000" y="2157325"/>
            <a:ext cx="4178231" cy="36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가설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4889365" y="2157325"/>
            <a:ext cx="2611435" cy="36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뷰티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7330072" y="2157325"/>
            <a:ext cx="2611435" cy="36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식품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9770778" y="2157325"/>
            <a:ext cx="2611435" cy="36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홈리빙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12211485" y="2157325"/>
            <a:ext cx="2611435" cy="36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건기식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14652188" y="2157325"/>
            <a:ext cx="2611517" cy="36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육아용품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1143000" y="2703128"/>
            <a:ext cx="4178231" cy="38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9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H1 수요 몰라 생산 결정 실패</a:t>
            </a:r>
            <a:endParaRPr sz="1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5008066" y="2599285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4969966" y="2599285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7448773" y="2599285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7410673" y="2599285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9889480" y="2599285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9851380" y="2599285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12330187" y="2599285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12292087" y="2599285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14770894" y="2599285"/>
            <a:ext cx="2374106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14732794" y="2599285"/>
            <a:ext cx="2450306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1143000" y="3332921"/>
            <a:ext cx="4178231" cy="38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9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H2 기존 대안으로 안 풀림</a:t>
            </a:r>
            <a:endParaRPr sz="1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5008066" y="3229078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4969966" y="3229078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7448773" y="3229078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7410673" y="3229078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9889480" y="3229078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9851380" y="3229078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12330187" y="3229078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12292087" y="3229078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14770894" y="3229078"/>
            <a:ext cx="2374106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14732794" y="3229078"/>
            <a:ext cx="2450306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1143000" y="3962714"/>
            <a:ext cx="4178231" cy="38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H3 신청→결제→생산 수용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5008066" y="3858871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4969966" y="3858871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7448773" y="3858871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7410673" y="3858871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9889480" y="3858871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9851380" y="3858871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12330187" y="3858871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12292087" y="3858871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14770894" y="3858871"/>
            <a:ext cx="2374106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03" name="Google Shape;603;p16"/>
          <p:cNvSpPr/>
          <p:nvPr/>
        </p:nvSpPr>
        <p:spPr>
          <a:xfrm>
            <a:off x="14732794" y="3858871"/>
            <a:ext cx="2450306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1143000" y="4614605"/>
            <a:ext cx="4178231" cy="38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9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H4 할인 부담이 작다</a:t>
            </a:r>
            <a:endParaRPr sz="1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5008066" y="4488664"/>
            <a:ext cx="2374032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4989016" y="4510762"/>
            <a:ext cx="24121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7448773" y="4510762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7410673" y="4510762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9889480" y="4510762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9851380" y="4510762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12330187" y="4488664"/>
            <a:ext cx="2374032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12311137" y="4510762"/>
            <a:ext cx="24121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14770894" y="4510762"/>
            <a:ext cx="2374106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14732794" y="4510762"/>
            <a:ext cx="2450306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1143000" y="5266496"/>
            <a:ext cx="4178231" cy="38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H5 요금을 낼 의향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5008066" y="5162653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4969966" y="5162653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7448773" y="5162653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7410673" y="5162653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9889480" y="5162653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9851380" y="5162653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2330187" y="5162653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12292087" y="5162653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4770894" y="5162653"/>
            <a:ext cx="2374106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14732794" y="5162653"/>
            <a:ext cx="2450306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143000" y="5918387"/>
            <a:ext cx="4178231" cy="38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H6 광고 문자 걱정이 작다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5008066" y="5814544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4969966" y="5814544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7448773" y="5814544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7410673" y="5814544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9889480" y="5814544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9851380" y="5814544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12330187" y="5792446"/>
            <a:ext cx="2374032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34" name="Google Shape;634;p16"/>
          <p:cNvSpPr/>
          <p:nvPr/>
        </p:nvSpPr>
        <p:spPr>
          <a:xfrm>
            <a:off x="12311137" y="5814544"/>
            <a:ext cx="24121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14770894" y="5814544"/>
            <a:ext cx="2374106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14732794" y="5814544"/>
            <a:ext cx="2450306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1143000" y="6592376"/>
            <a:ext cx="4178231" cy="38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H7 결제 후 대기를 견딘다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5008066" y="6466435"/>
            <a:ext cx="2374032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4989016" y="6488533"/>
            <a:ext cx="24121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7448773" y="6466435"/>
            <a:ext cx="2374032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41" name="Google Shape;641;p16"/>
          <p:cNvSpPr/>
          <p:nvPr/>
        </p:nvSpPr>
        <p:spPr>
          <a:xfrm>
            <a:off x="7429723" y="6488533"/>
            <a:ext cx="24121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42" name="Google Shape;642;p16"/>
          <p:cNvSpPr/>
          <p:nvPr/>
        </p:nvSpPr>
        <p:spPr>
          <a:xfrm>
            <a:off x="9889480" y="6488533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C75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43" name="Google Shape;643;p16"/>
          <p:cNvSpPr/>
          <p:nvPr/>
        </p:nvSpPr>
        <p:spPr>
          <a:xfrm>
            <a:off x="9851380" y="6488533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12330187" y="6488533"/>
            <a:ext cx="2374032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45" name="Google Shape;645;p16"/>
          <p:cNvSpPr/>
          <p:nvPr/>
        </p:nvSpPr>
        <p:spPr>
          <a:xfrm>
            <a:off x="12292087" y="6488533"/>
            <a:ext cx="24502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46" name="Google Shape;646;p16"/>
          <p:cNvSpPr/>
          <p:nvPr/>
        </p:nvSpPr>
        <p:spPr>
          <a:xfrm>
            <a:off x="14770894" y="6488533"/>
            <a:ext cx="2374106" cy="552450"/>
          </a:xfrm>
          <a:prstGeom prst="roundRect">
            <a:avLst>
              <a:gd name="adj" fmla="val 12000"/>
            </a:avLst>
          </a:pr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47" name="Google Shape;647;p16"/>
          <p:cNvSpPr/>
          <p:nvPr/>
        </p:nvSpPr>
        <p:spPr>
          <a:xfrm>
            <a:off x="14732794" y="6488533"/>
            <a:ext cx="2450306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조건부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48" name="Google Shape;648;p16"/>
          <p:cNvSpPr/>
          <p:nvPr/>
        </p:nvSpPr>
        <p:spPr>
          <a:xfrm>
            <a:off x="1143000" y="7266365"/>
            <a:ext cx="4178231" cy="38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1345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H8 월 구독이 빈도와 맞다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49" name="Google Shape;649;p16"/>
          <p:cNvSpPr/>
          <p:nvPr/>
        </p:nvSpPr>
        <p:spPr>
          <a:xfrm>
            <a:off x="5008066" y="7140424"/>
            <a:ext cx="2374032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4989016" y="7162522"/>
            <a:ext cx="24121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51" name="Google Shape;651;p16"/>
          <p:cNvSpPr/>
          <p:nvPr/>
        </p:nvSpPr>
        <p:spPr>
          <a:xfrm>
            <a:off x="7448773" y="7140424"/>
            <a:ext cx="2374032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52" name="Google Shape;652;p16"/>
          <p:cNvSpPr/>
          <p:nvPr/>
        </p:nvSpPr>
        <p:spPr>
          <a:xfrm>
            <a:off x="7429723" y="7162522"/>
            <a:ext cx="24121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53" name="Google Shape;653;p16"/>
          <p:cNvSpPr/>
          <p:nvPr/>
        </p:nvSpPr>
        <p:spPr>
          <a:xfrm>
            <a:off x="9889480" y="7140424"/>
            <a:ext cx="2374032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9870430" y="7162522"/>
            <a:ext cx="24121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12330187" y="7140424"/>
            <a:ext cx="2374032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56" name="Google Shape;656;p16"/>
          <p:cNvSpPr/>
          <p:nvPr/>
        </p:nvSpPr>
        <p:spPr>
          <a:xfrm>
            <a:off x="12311137" y="7162522"/>
            <a:ext cx="2412132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57" name="Google Shape;657;p16"/>
          <p:cNvSpPr/>
          <p:nvPr/>
        </p:nvSpPr>
        <p:spPr>
          <a:xfrm>
            <a:off x="14770894" y="7140424"/>
            <a:ext cx="2374106" cy="596646"/>
          </a:xfrm>
          <a:prstGeom prst="roundRect">
            <a:avLst>
              <a:gd name="adj" fmla="val 11111"/>
            </a:avLst>
          </a:prstGeom>
          <a:noFill/>
          <a:ln w="19050" cap="flat" cmpd="sng">
            <a:solidFill>
              <a:srgbClr val="1C1C1F">
                <a:alpha val="34902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58" name="Google Shape;658;p16"/>
          <p:cNvSpPr/>
          <p:nvPr/>
        </p:nvSpPr>
        <p:spPr>
          <a:xfrm>
            <a:off x="14751844" y="7162522"/>
            <a:ext cx="2412206" cy="59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반대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59" name="Google Shape;659;p16"/>
          <p:cNvSpPr/>
          <p:nvPr/>
        </p:nvSpPr>
        <p:spPr>
          <a:xfrm>
            <a:off x="1143000" y="8112736"/>
            <a:ext cx="4178231" cy="36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점수 (16점 만점)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60" name="Google Shape;660;p16"/>
          <p:cNvSpPr/>
          <p:nvPr/>
        </p:nvSpPr>
        <p:spPr>
          <a:xfrm>
            <a:off x="5008066" y="7902805"/>
            <a:ext cx="2374032" cy="33147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61" name="Google Shape;661;p16"/>
          <p:cNvSpPr/>
          <p:nvPr/>
        </p:nvSpPr>
        <p:spPr>
          <a:xfrm>
            <a:off x="4969966" y="7935952"/>
            <a:ext cx="2450232" cy="75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8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7448773" y="7902805"/>
            <a:ext cx="2374032" cy="33147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63" name="Google Shape;663;p16"/>
          <p:cNvSpPr/>
          <p:nvPr/>
        </p:nvSpPr>
        <p:spPr>
          <a:xfrm>
            <a:off x="7410673" y="7935952"/>
            <a:ext cx="2450232" cy="75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9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64" name="Google Shape;664;p16"/>
          <p:cNvSpPr/>
          <p:nvPr/>
        </p:nvSpPr>
        <p:spPr>
          <a:xfrm>
            <a:off x="9889480" y="7919377"/>
            <a:ext cx="2374032" cy="707136"/>
          </a:xfrm>
          <a:prstGeom prst="roundRect">
            <a:avLst>
              <a:gd name="adj" fmla="val 3125"/>
            </a:avLst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65" name="Google Shape;665;p16"/>
          <p:cNvSpPr/>
          <p:nvPr/>
        </p:nvSpPr>
        <p:spPr>
          <a:xfrm>
            <a:off x="9851380" y="7919377"/>
            <a:ext cx="2450232" cy="75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66" name="Google Shape;666;p16"/>
          <p:cNvSpPr/>
          <p:nvPr/>
        </p:nvSpPr>
        <p:spPr>
          <a:xfrm>
            <a:off x="12330187" y="7902805"/>
            <a:ext cx="2374032" cy="33147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67" name="Google Shape;667;p16"/>
          <p:cNvSpPr/>
          <p:nvPr/>
        </p:nvSpPr>
        <p:spPr>
          <a:xfrm>
            <a:off x="12292087" y="7935952"/>
            <a:ext cx="2450232" cy="75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14770894" y="7919377"/>
            <a:ext cx="2374106" cy="707136"/>
          </a:xfrm>
          <a:prstGeom prst="roundRect">
            <a:avLst>
              <a:gd name="adj" fmla="val 3125"/>
            </a:avLst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14732794" y="7919377"/>
            <a:ext cx="2450306" cy="75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en-US" sz="19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1143000" y="8886146"/>
            <a:ext cx="17602200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점수: 지지 2 · 조건부 1 · 반대 0 (인터뷰 결과를 같은 기준으로 비교)</a:t>
            </a:r>
            <a:endParaRPr sz="22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71" name="Google Shape;671;p16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</a:t>
            </a:r>
            <a:r>
              <a:rPr lang="ko-KR" altLang="en-US" sz="16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찜 공구</a:t>
            </a:r>
            <a:endParaRPr sz="16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72" name="Google Shape;672;p16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13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73" name="Google Shape;673;p16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674" name="Google Shape;674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8503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7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81" name="Google Shape;681;p17"/>
          <p:cNvSpPr/>
          <p:nvPr/>
        </p:nvSpPr>
        <p:spPr>
          <a:xfrm>
            <a:off x="1404342" y="762000"/>
            <a:ext cx="232575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09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업종별 핵심 발견</a:t>
            </a:r>
            <a:endParaRPr sz="1800" b="1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82" name="Google Shape;682;p17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rPr>
              <a:t>문제는 어디에나 있었고</a:t>
            </a:r>
            <a:r>
              <a:rPr lang="en-US" altLang="ko-KR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rPr>
              <a:t>,</a:t>
            </a: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Calibri"/>
                <a:sym typeface="Calibri"/>
              </a:rPr>
              <a:t> 타깃은 한계가 정했습니다  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83" name="Google Shape;683;p17"/>
          <p:cNvSpPr/>
          <p:nvPr/>
        </p:nvSpPr>
        <p:spPr>
          <a:xfrm>
            <a:off x="1371600" y="2413000"/>
            <a:ext cx="167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업종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84" name="Google Shape;684;p17"/>
          <p:cNvSpPr/>
          <p:nvPr/>
        </p:nvSpPr>
        <p:spPr>
          <a:xfrm>
            <a:off x="2921000" y="2413000"/>
            <a:ext cx="74295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문제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85" name="Google Shape;685;p17"/>
          <p:cNvSpPr/>
          <p:nvPr/>
        </p:nvSpPr>
        <p:spPr>
          <a:xfrm>
            <a:off x="10477500" y="2413000"/>
            <a:ext cx="65405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100" b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한계점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86" name="Google Shape;686;p17"/>
          <p:cNvSpPr/>
          <p:nvPr/>
        </p:nvSpPr>
        <p:spPr>
          <a:xfrm>
            <a:off x="1143000" y="2946400"/>
            <a:ext cx="16002000" cy="1117600"/>
          </a:xfrm>
          <a:prstGeom prst="roundRect">
            <a:avLst>
              <a:gd name="adj" fmla="val 9281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87" name="Google Shape;687;p17"/>
          <p:cNvSpPr/>
          <p:nvPr/>
        </p:nvSpPr>
        <p:spPr>
          <a:xfrm>
            <a:off x="1384300" y="3022600"/>
            <a:ext cx="1676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3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뷰티</a:t>
            </a:r>
            <a:endParaRPr sz="2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88" name="Google Shape;688;p17"/>
          <p:cNvSpPr/>
          <p:nvPr/>
        </p:nvSpPr>
        <p:spPr>
          <a:xfrm>
            <a:off x="2921000" y="3022600"/>
            <a:ext cx="7429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앰플 5,000개 중 1,800개 재고 · 다른 제품은 7주 만에 품절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89" name="Google Shape;689;p17"/>
          <p:cNvSpPr/>
          <p:nvPr/>
        </p:nvSpPr>
        <p:spPr>
          <a:xfrm>
            <a:off x="10477500" y="3022600"/>
            <a:ext cx="6540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올리브영 가격 정책 · 2주 넘는 대기 불가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90" name="Google Shape;690;p17"/>
          <p:cNvSpPr/>
          <p:nvPr/>
        </p:nvSpPr>
        <p:spPr>
          <a:xfrm>
            <a:off x="1143000" y="4191000"/>
            <a:ext cx="16002000" cy="1117600"/>
          </a:xfrm>
          <a:prstGeom prst="roundRect">
            <a:avLst>
              <a:gd name="adj" fmla="val 9281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91" name="Google Shape;691;p17"/>
          <p:cNvSpPr/>
          <p:nvPr/>
        </p:nvSpPr>
        <p:spPr>
          <a:xfrm>
            <a:off x="1384300" y="4267200"/>
            <a:ext cx="1676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3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식품</a:t>
            </a:r>
            <a:endParaRPr sz="2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92" name="Google Shape;692;p17"/>
          <p:cNvSpPr/>
          <p:nvPr/>
        </p:nvSpPr>
        <p:spPr>
          <a:xfrm>
            <a:off x="2921000" y="4267200"/>
            <a:ext cx="7429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단톡방 주문 정리에 하루 · 80박스 취소 처리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93" name="Google Shape;693;p17"/>
          <p:cNvSpPr/>
          <p:nvPr/>
        </p:nvSpPr>
        <p:spPr>
          <a:xfrm>
            <a:off x="10477500" y="4267200"/>
            <a:ext cx="6540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2주 넘으면 취소, 신청 상한이 없으면 못 씀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94" name="Google Shape;694;p17"/>
          <p:cNvSpPr/>
          <p:nvPr/>
        </p:nvSpPr>
        <p:spPr>
          <a:xfrm>
            <a:off x="1143000" y="5435600"/>
            <a:ext cx="16002000" cy="1117600"/>
          </a:xfrm>
          <a:prstGeom prst="roundRect">
            <a:avLst>
              <a:gd name="adj" fmla="val 9281"/>
            </a:avLst>
          </a:prstGeom>
          <a:solidFill>
            <a:srgbClr val="FFF0F3"/>
          </a:solidFill>
          <a:ln w="14275" cap="flat" cmpd="sng">
            <a:solidFill>
              <a:srgbClr val="FDAA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95" name="Google Shape;695;p17"/>
          <p:cNvSpPr/>
          <p:nvPr/>
        </p:nvSpPr>
        <p:spPr>
          <a:xfrm>
            <a:off x="1384300" y="5511800"/>
            <a:ext cx="1676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3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홈리빙</a:t>
            </a:r>
            <a:endParaRPr sz="2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96" name="Google Shape;696;p17"/>
          <p:cNvSpPr/>
          <p:nvPr/>
        </p:nvSpPr>
        <p:spPr>
          <a:xfrm>
            <a:off x="2921000" y="5511800"/>
            <a:ext cx="7429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2,000건에도 수량 결정 못 함 · 재입고 알림 구매 21%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97" name="Google Shape;697;p17"/>
          <p:cNvSpPr/>
          <p:nvPr/>
        </p:nvSpPr>
        <p:spPr>
          <a:xfrm>
            <a:off x="10477500" y="5511800"/>
            <a:ext cx="6540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할인이 15~20%를 넘으면 정가 고객이 불만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98" name="Google Shape;698;p17"/>
          <p:cNvSpPr/>
          <p:nvPr/>
        </p:nvSpPr>
        <p:spPr>
          <a:xfrm>
            <a:off x="1143000" y="6680200"/>
            <a:ext cx="16002000" cy="1117600"/>
          </a:xfrm>
          <a:prstGeom prst="roundRect">
            <a:avLst>
              <a:gd name="adj" fmla="val 9281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99" name="Google Shape;699;p17"/>
          <p:cNvSpPr/>
          <p:nvPr/>
        </p:nvSpPr>
        <p:spPr>
          <a:xfrm>
            <a:off x="1384300" y="6756400"/>
            <a:ext cx="1676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3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건기식</a:t>
            </a:r>
            <a:endParaRPr sz="2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00" name="Google Shape;700;p17"/>
          <p:cNvSpPr/>
          <p:nvPr/>
        </p:nvSpPr>
        <p:spPr>
          <a:xfrm>
            <a:off x="2921000" y="6756400"/>
            <a:ext cx="7429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5,000병 생산, 1년 동안 2,600병 판매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01" name="Google Shape;701;p17"/>
          <p:cNvSpPr/>
          <p:nvPr/>
        </p:nvSpPr>
        <p:spPr>
          <a:xfrm>
            <a:off x="10477500" y="6756400"/>
            <a:ext cx="6540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없이 바로 구매 · 구독 할인·광고 심의와 충돌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02" name="Google Shape;702;p17"/>
          <p:cNvSpPr/>
          <p:nvPr/>
        </p:nvSpPr>
        <p:spPr>
          <a:xfrm>
            <a:off x="1143000" y="7924800"/>
            <a:ext cx="16002000" cy="1117600"/>
          </a:xfrm>
          <a:prstGeom prst="roundRect">
            <a:avLst>
              <a:gd name="adj" fmla="val 9281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03" name="Google Shape;703;p17"/>
          <p:cNvSpPr/>
          <p:nvPr/>
        </p:nvSpPr>
        <p:spPr>
          <a:xfrm>
            <a:off x="1384300" y="8001000"/>
            <a:ext cx="1676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3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육아용품</a:t>
            </a:r>
            <a:endParaRPr sz="2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04" name="Google Shape;704;p17"/>
          <p:cNvSpPr/>
          <p:nvPr/>
        </p:nvSpPr>
        <p:spPr>
          <a:xfrm>
            <a:off x="2921000" y="8001000"/>
            <a:ext cx="7429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출산 준비 찜 3,000건+ · 재생산분 200장 재고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05" name="Google Shape;705;p17"/>
          <p:cNvSpPr/>
          <p:nvPr/>
        </p:nvSpPr>
        <p:spPr>
          <a:xfrm>
            <a:off x="10477500" y="8001000"/>
            <a:ext cx="65405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1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KC 인증 · 불량 시 맘카페 여론 · 식기는 대기 어려움</a:t>
            </a:r>
            <a:endParaRPr sz="21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06" name="Google Shape;706;p17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07" name="Google Shape;707;p17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14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08" name="Google Shape;708;p17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709" name="Google Shape;709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4655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685800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♥ </a:t>
            </a:r>
            <a:r>
              <a:rPr sz="1800" b="1" dirty="0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10-1 · </a:t>
            </a:r>
            <a:r>
              <a:rPr sz="1800" b="1" dirty="0" err="1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소비자</a:t>
            </a:r>
            <a:r>
              <a:rPr sz="1800" b="1" dirty="0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b="1" dirty="0" err="1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설문</a:t>
            </a:r>
            <a:endParaRPr sz="1800" b="1" dirty="0">
              <a:solidFill>
                <a:srgbClr val="555555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165861"/>
            <a:ext cx="1618488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찜 고객은 '결제 없는 신청'을 누르겠다고 답했습니다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59620"/>
            <a:ext cx="5170932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1328" y="2533941"/>
            <a:ext cx="41148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E1  </a:t>
            </a:r>
            <a:r>
              <a:rPr sz="2250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결제 없는 신청을 누른다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082580"/>
            <a:ext cx="3291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7700" y="3356900"/>
            <a:ext cx="1440180" cy="438912"/>
          </a:xfrm>
          <a:prstGeom prst="roundRect">
            <a:avLst>
              <a:gd name="adj" fmla="val 50000"/>
            </a:avLst>
          </a:prstGeom>
          <a:solidFill>
            <a:srgbClr val="EC8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725" b="1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지지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4070132"/>
            <a:ext cx="4526280" cy="592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875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누르겠다 (바로 23% + 할인율 보고 77%)</a:t>
            </a:r>
          </a:p>
          <a:p>
            <a:pPr>
              <a:spcAft>
                <a:spcPts val="300"/>
              </a:spcAft>
            </a:pPr>
            <a:r>
              <a:rPr sz="1725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안 누른다 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2532" y="2259620"/>
            <a:ext cx="5170932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26580" y="2533941"/>
            <a:ext cx="41148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E2  </a:t>
            </a:r>
            <a:r>
              <a:rPr sz="2250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기한 안에 결제한다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6580" y="3082580"/>
            <a:ext cx="3291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77%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02952" y="3356900"/>
            <a:ext cx="1440180" cy="438912"/>
          </a:xfrm>
          <a:prstGeom prst="roundRect">
            <a:avLst>
              <a:gd name="adj" fmla="val 50000"/>
            </a:avLst>
          </a:prstGeom>
          <a:solidFill>
            <a:srgbClr val="EC8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725" b="1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6580" y="4070132"/>
            <a:ext cx="4526280" cy="592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875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3일(72시간) 안에 결제하겠다</a:t>
            </a:r>
          </a:p>
          <a:p>
            <a:pPr>
              <a:spcAft>
                <a:spcPts val="300"/>
              </a:spcAft>
            </a:pPr>
            <a:r>
              <a:rPr sz="1725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24시간 안 62% · 결제 안 함 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87784" y="2259620"/>
            <a:ext cx="5170932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71832" y="2533941"/>
            <a:ext cx="41148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H6  </a:t>
            </a:r>
            <a:r>
              <a:rPr sz="2250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광고 문자를 받아들인다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71832" y="3082580"/>
            <a:ext cx="3291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62%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348204" y="3356900"/>
            <a:ext cx="1440180" cy="438912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725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조건부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71832" y="4070132"/>
            <a:ext cx="4526280" cy="592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875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'내가 찜한 상품이면 괜찮다'</a:t>
            </a:r>
          </a:p>
          <a:p>
            <a:pPr>
              <a:spcAft>
                <a:spcPts val="300"/>
              </a:spcAft>
            </a:pPr>
            <a:r>
              <a:rPr sz="1725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카톡이면 23% · 받기 싫다 15%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277141"/>
            <a:ext cx="7900416" cy="2811779"/>
          </a:xfrm>
          <a:prstGeom prst="roundRect">
            <a:avLst>
              <a:gd name="adj" fmla="val 3500"/>
            </a:avLst>
          </a:prstGeom>
          <a:solidFill>
            <a:srgbClr val="FDF1F4"/>
          </a:solidFill>
          <a:ln w="9525">
            <a:solidFill>
              <a:srgbClr val="F3C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81328" y="5482879"/>
            <a:ext cx="71323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■ </a:t>
            </a:r>
            <a:r>
              <a:rPr sz="2100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찜해 두고 안 산 이유 (복수 응답)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6134137"/>
            <a:ext cx="315468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할인할 때 사려고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6008" y="6141248"/>
            <a:ext cx="308610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36008" y="6141248"/>
            <a:ext cx="1913382" cy="274320"/>
          </a:xfrm>
          <a:prstGeom prst="roundRect">
            <a:avLst>
              <a:gd name="adj" fmla="val 50000"/>
            </a:avLst>
          </a:prstGeom>
          <a:solidFill>
            <a:srgbClr val="EC8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86700" y="6134137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62%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6627915"/>
            <a:ext cx="315468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당장 필요하지 않아서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36008" y="6635024"/>
            <a:ext cx="308610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636009" y="6635024"/>
            <a:ext cx="1419605" cy="274320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86700" y="6627913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46%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7121689"/>
            <a:ext cx="315468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가격이 부담돼서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36008" y="7128800"/>
            <a:ext cx="308610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36009" y="7128800"/>
            <a:ext cx="709802" cy="274320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86700" y="7121689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23%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7615465"/>
            <a:ext cx="315468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다른 곳과 비교 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36008" y="7622576"/>
            <a:ext cx="308610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636008" y="7622576"/>
            <a:ext cx="246888" cy="274320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86700" y="7615465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8%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72016" y="5277141"/>
            <a:ext cx="7900416" cy="2811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56064" y="5482879"/>
            <a:ext cx="71323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■ </a:t>
            </a:r>
            <a:r>
              <a:rPr sz="2100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찜한 상품을 결국 산 계기 (복수 응답)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6064" y="6134137"/>
            <a:ext cx="315468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할인·쿠폰 알림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10744" y="6141248"/>
            <a:ext cx="308610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2810744" y="6141248"/>
            <a:ext cx="1666494" cy="274320"/>
          </a:xfrm>
          <a:prstGeom prst="roundRect">
            <a:avLst>
              <a:gd name="adj" fmla="val 50000"/>
            </a:avLst>
          </a:prstGeom>
          <a:solidFill>
            <a:srgbClr val="EC8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061436" y="6134137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54%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56064" y="6627913"/>
            <a:ext cx="315468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필요한 때가 와서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810744" y="6635024"/>
            <a:ext cx="308610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2810744" y="6635024"/>
            <a:ext cx="1666494" cy="274320"/>
          </a:xfrm>
          <a:prstGeom prst="roundRect">
            <a:avLst>
              <a:gd name="adj" fmla="val 50000"/>
            </a:avLst>
          </a:prstGeom>
          <a:solidFill>
            <a:srgbClr val="EC8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061436" y="6627913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54%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56064" y="7121689"/>
            <a:ext cx="315468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품절 임박 표시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810744" y="7128800"/>
            <a:ext cx="308610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2810745" y="7128800"/>
            <a:ext cx="709802" cy="274320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061436" y="7121689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23%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56064" y="7615465"/>
            <a:ext cx="315468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재입고 알림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810744" y="7622576"/>
            <a:ext cx="308610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2810744" y="7622576"/>
            <a:ext cx="246888" cy="274320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061436" y="7615465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8294661"/>
            <a:ext cx="161848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→ </a:t>
            </a:r>
            <a:r>
              <a:rPr sz="21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찜은</a:t>
            </a:r>
            <a:r>
              <a:rPr sz="21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'</a:t>
            </a:r>
            <a:r>
              <a:rPr sz="21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할인을</a:t>
            </a:r>
            <a:r>
              <a:rPr sz="21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기다리는</a:t>
            </a:r>
            <a:r>
              <a:rPr sz="21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대기열'입니다</a:t>
            </a:r>
            <a:r>
              <a:rPr sz="21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.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조건만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맞으면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신청·결제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의향은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충분했고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, </a:t>
            </a:r>
            <a:endParaRPr lang="en-US" sz="2100" dirty="0">
              <a:solidFill>
                <a:srgbClr val="1A1A1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  <a:p>
            <a:pPr algn="l"/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찜한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상품의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광고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문자도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10명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중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6명이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괜찮다고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1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답했습니다</a:t>
            </a:r>
            <a:r>
              <a:rPr sz="21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" y="8980459"/>
            <a:ext cx="16184880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구글폼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소비자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설문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(2026.10.14) ·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응답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14</a:t>
            </a:r>
            <a:r>
              <a:rPr lang="en-US" altLang="ko-KR"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0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명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중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최근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6개월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자사몰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구매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경험자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13</a:t>
            </a:r>
            <a:r>
              <a:rPr lang="en-US" altLang="ko-KR"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0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명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분석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·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의향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응답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기준</a:t>
            </a:r>
            <a:endParaRPr sz="1575" dirty="0">
              <a:solidFill>
                <a:srgbClr val="8A8A8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1" name="Google Shape;706;p17">
            <a:extLst>
              <a:ext uri="{FF2B5EF4-FFF2-40B4-BE49-F238E27FC236}">
                <a16:creationId xmlns:a16="http://schemas.microsoft.com/office/drawing/2014/main" id="{5B5ED008-D77F-68FD-F5E5-999E5A102D04}"/>
              </a:ext>
            </a:extLst>
          </p:cNvPr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</a:t>
            </a:r>
            <a:r>
              <a:rPr lang="ko-KR" altLang="en-US" sz="16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찜 공구</a:t>
            </a:r>
            <a:endParaRPr sz="16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62" name="Google Shape;707;p17">
            <a:extLst>
              <a:ext uri="{FF2B5EF4-FFF2-40B4-BE49-F238E27FC236}">
                <a16:creationId xmlns:a16="http://schemas.microsoft.com/office/drawing/2014/main" id="{F64125AE-1939-A95F-1EFD-5C580013B743}"/>
              </a:ext>
            </a:extLst>
          </p:cNvPr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15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pic>
        <p:nvPicPr>
          <p:cNvPr id="63" name="Google Shape;709;p17" descr="preencoded.png">
            <a:extLst>
              <a:ext uri="{FF2B5EF4-FFF2-40B4-BE49-F238E27FC236}">
                <a16:creationId xmlns:a16="http://schemas.microsoft.com/office/drawing/2014/main" id="{80BBF9A4-C577-6EE9-3998-2E37695E0D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685800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♥ </a:t>
            </a:r>
            <a:r>
              <a:rPr sz="1800" b="1" dirty="0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10-2 · </a:t>
            </a:r>
            <a:r>
              <a:rPr sz="1800" b="1" dirty="0" err="1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소비자</a:t>
            </a:r>
            <a:r>
              <a:rPr sz="1800" b="1" dirty="0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b="1" dirty="0" err="1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설문</a:t>
            </a:r>
            <a:endParaRPr sz="1800" b="1" dirty="0">
              <a:solidFill>
                <a:srgbClr val="555555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165861"/>
            <a:ext cx="1618488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다만</a:t>
            </a:r>
            <a:r>
              <a:rPr sz="45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'</a:t>
            </a:r>
            <a:r>
              <a:rPr sz="45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</a:t>
            </a:r>
            <a:r>
              <a:rPr sz="45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20%'와 '</a:t>
            </a:r>
            <a:r>
              <a:rPr sz="45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대기</a:t>
            </a:r>
            <a:r>
              <a:rPr sz="45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1주'라는 </a:t>
            </a:r>
            <a:r>
              <a:rPr sz="45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숙제가</a:t>
            </a:r>
            <a:r>
              <a:rPr sz="45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45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남았습니다</a:t>
            </a:r>
            <a:endParaRPr sz="4500" b="1" dirty="0">
              <a:solidFill>
                <a:srgbClr val="1A1A1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7280" y="2400300"/>
            <a:ext cx="7900416" cy="4046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1328" y="2633473"/>
            <a:ext cx="713232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dirty="0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■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신청할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마음이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드는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최소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할인율</a:t>
            </a:r>
            <a:endParaRPr sz="2250" b="1" dirty="0">
              <a:solidFill>
                <a:srgbClr val="1A1A1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1328" y="3271013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3278123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86700" y="3271013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737356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87368" y="3744467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87368" y="3744467"/>
            <a:ext cx="545211" cy="274320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86700" y="3737356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203701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4210812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87368" y="4210812"/>
            <a:ext cx="835989" cy="274320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86700" y="4203701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23%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670045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20% 이상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87368" y="4677155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87369" y="4677155"/>
            <a:ext cx="2253539" cy="274320"/>
          </a:xfrm>
          <a:prstGeom prst="roundRect">
            <a:avLst>
              <a:gd name="adj" fmla="val 50000"/>
            </a:avLst>
          </a:prstGeom>
          <a:solidFill>
            <a:srgbClr val="EC8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86700" y="4670045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62%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136389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사은품·우선 배송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87368" y="5143499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86700" y="5136388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81328" y="5609844"/>
            <a:ext cx="7132320" cy="630936"/>
          </a:xfrm>
          <a:prstGeom prst="roundRect">
            <a:avLst>
              <a:gd name="adj" fmla="val 15000"/>
            </a:avLst>
          </a:prstGeom>
          <a:solidFill>
            <a:srgbClr val="F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14500" y="5786813"/>
            <a:ext cx="6858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판매자 인터뷰(14장)  </a:t>
            </a:r>
            <a:r>
              <a:rPr sz="180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 15~20% 넘으면 정가 고객 불만</a:t>
            </a:r>
            <a:r>
              <a:rPr sz="1800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  → 충돌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72016" y="2400300"/>
            <a:ext cx="7900416" cy="4046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56064" y="2633473"/>
            <a:ext cx="713232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dirty="0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■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결제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후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배송까지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기다릴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수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있는</a:t>
            </a:r>
            <a:r>
              <a:rPr sz="225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25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기간</a:t>
            </a:r>
            <a:endParaRPr sz="2250" b="1" dirty="0">
              <a:solidFill>
                <a:srgbClr val="1A1A1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56064" y="3271013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262104" y="3278123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2262105" y="3278123"/>
            <a:ext cx="2798750" cy="274320"/>
          </a:xfrm>
          <a:prstGeom prst="roundRect">
            <a:avLst>
              <a:gd name="adj" fmla="val 50000"/>
            </a:avLst>
          </a:prstGeom>
          <a:solidFill>
            <a:srgbClr val="EC8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061436" y="3271013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77%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6064" y="3737356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2주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62104" y="3744467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2262104" y="3744467"/>
            <a:ext cx="545211" cy="274320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061436" y="3737356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4" y="4203701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3주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262104" y="4210812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2262104" y="4210812"/>
            <a:ext cx="290778" cy="274320"/>
          </a:xfrm>
          <a:prstGeom prst="roundRect">
            <a:avLst>
              <a:gd name="adj" fmla="val 50000"/>
            </a:avLst>
          </a:prstGeom>
          <a:solidFill>
            <a:srgbClr val="F6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61436" y="4203701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4670045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3주 초과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262104" y="4677155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061436" y="4670045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56064" y="5136388"/>
            <a:ext cx="260604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기다리기 싫다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262104" y="5143499"/>
            <a:ext cx="3634740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061436" y="5136388"/>
            <a:ext cx="8229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7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56064" y="5609844"/>
            <a:ext cx="7132320" cy="630936"/>
          </a:xfrm>
          <a:prstGeom prst="roundRect">
            <a:avLst>
              <a:gd name="adj" fmla="val 15000"/>
            </a:avLst>
          </a:prstGeom>
          <a:solidFill>
            <a:srgbClr val="F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89236" y="5786813"/>
            <a:ext cx="6858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5">
                <a:solidFill>
                  <a:srgbClr val="555555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판매자 인터뷰(15장)  </a:t>
            </a:r>
            <a:r>
              <a:rPr sz="180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결제 후 2~3주 대기 수용</a:t>
            </a:r>
            <a:r>
              <a:rPr sz="1800" b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  → 1~2주 차이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6693408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그래서</a:t>
            </a:r>
            <a:r>
              <a:rPr sz="24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파일럿에서</a:t>
            </a:r>
            <a:r>
              <a:rPr sz="24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이렇게</a:t>
            </a:r>
            <a:r>
              <a:rPr sz="24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바꿔</a:t>
            </a:r>
            <a:r>
              <a:rPr sz="2400" b="1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봅니다</a:t>
            </a:r>
            <a:endParaRPr sz="2400" b="1" dirty="0">
              <a:solidFill>
                <a:srgbClr val="1A1A1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097280" y="7269480"/>
            <a:ext cx="5170932" cy="1645920"/>
          </a:xfrm>
          <a:prstGeom prst="roundRect">
            <a:avLst>
              <a:gd name="adj" fmla="val 3500"/>
            </a:avLst>
          </a:prstGeom>
          <a:solidFill>
            <a:srgbClr val="FDF1F4"/>
          </a:solidFill>
          <a:ln w="9525">
            <a:solidFill>
              <a:srgbClr val="F3C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440180" y="7434072"/>
            <a:ext cx="452628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50"/>
              </a:spcAft>
            </a:pPr>
            <a:r>
              <a:rPr sz="2100" b="1" dirty="0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① </a:t>
            </a:r>
            <a:r>
              <a:rPr sz="2100" b="1" dirty="0" err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</a:t>
            </a:r>
            <a:endParaRPr sz="2100" b="1" dirty="0">
              <a:solidFill>
                <a:srgbClr val="D94A6E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  <a:p>
            <a:pPr>
              <a:spcAft>
                <a:spcPts val="450"/>
              </a:spcAft>
            </a:pP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파일럿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공구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3건을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10%·20%로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나눠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실제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신청률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비교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. '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사은품만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' 0명,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주관식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'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할인율이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커야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끌린다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' →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할인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없는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공구는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보류</a:t>
            </a:r>
            <a:endParaRPr sz="1800" dirty="0">
              <a:solidFill>
                <a:srgbClr val="1A1A1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542532" y="7269480"/>
            <a:ext cx="5170932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85432" y="7434072"/>
            <a:ext cx="4526280" cy="941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50"/>
              </a:spcAft>
            </a:pPr>
            <a:r>
              <a:rPr sz="2100" b="1" dirty="0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② </a:t>
            </a:r>
            <a:r>
              <a:rPr sz="2100" b="1" dirty="0" err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대기</a:t>
            </a:r>
            <a:endParaRPr sz="2100" b="1" dirty="0">
              <a:solidFill>
                <a:srgbClr val="D94A6E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  <a:p>
            <a:pPr>
              <a:spcAft>
                <a:spcPts val="450"/>
              </a:spcAft>
            </a:pP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1주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안에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출고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가능한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상품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(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재고·재생산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확정분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)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부터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공구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.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위젯에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'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배송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예정일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'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표시</a:t>
            </a:r>
            <a:endParaRPr sz="1800" dirty="0">
              <a:solidFill>
                <a:srgbClr val="1A1A1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1987784" y="7269480"/>
            <a:ext cx="5170932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330684" y="7434072"/>
            <a:ext cx="452628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50"/>
              </a:spcAft>
            </a:pPr>
            <a:r>
              <a:rPr sz="2100" b="1" dirty="0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③ </a:t>
            </a:r>
            <a:r>
              <a:rPr sz="2100" b="1" dirty="0" err="1">
                <a:solidFill>
                  <a:srgbClr val="D94A6E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신뢰</a:t>
            </a:r>
            <a:endParaRPr sz="2100" b="1" dirty="0">
              <a:solidFill>
                <a:srgbClr val="D94A6E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  <a:p>
            <a:pPr>
              <a:spcAft>
                <a:spcPts val="450"/>
              </a:spcAft>
            </a:pP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주관식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걱정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반영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: '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공구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뒤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더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싸지면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?' →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공구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후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일정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기간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가격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유지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안내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· '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스팸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같다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' →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문자에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브랜드명·찜한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상품명</a:t>
            </a:r>
            <a:r>
              <a:rPr sz="1800" dirty="0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800" dirty="0" err="1">
                <a:solidFill>
                  <a:srgbClr val="1A1A1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표기</a:t>
            </a:r>
            <a:endParaRPr sz="1800" dirty="0">
              <a:solidFill>
                <a:srgbClr val="1A1A1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97280" y="9052560"/>
            <a:ext cx="16184880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한계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·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표본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13</a:t>
            </a:r>
            <a:r>
              <a:rPr lang="en-US" altLang="ko-KR"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0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명,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패션·잡화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구매자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77% ·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홈리빙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31% ·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육아용품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0% →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홈리빙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구매자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대상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추가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응답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필요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.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의향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응답이므로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실제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신청·결제율은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파일럿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(E1·E2)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에서</a:t>
            </a:r>
            <a:r>
              <a:rPr sz="1575" dirty="0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sz="1575" dirty="0" err="1">
                <a:solidFill>
                  <a:srgbClr val="8A8A8A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확인</a:t>
            </a:r>
            <a:endParaRPr sz="1575" dirty="0">
              <a:solidFill>
                <a:srgbClr val="8A8A8A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9" name="Google Shape;707;p17">
            <a:extLst>
              <a:ext uri="{FF2B5EF4-FFF2-40B4-BE49-F238E27FC236}">
                <a16:creationId xmlns:a16="http://schemas.microsoft.com/office/drawing/2014/main" id="{3F41167B-9E59-CDB3-0FF6-82B1DBE2C4C7}"/>
              </a:ext>
            </a:extLst>
          </p:cNvPr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16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pic>
        <p:nvPicPr>
          <p:cNvPr id="60" name="Google Shape;709;p17" descr="preencoded.png">
            <a:extLst>
              <a:ext uri="{FF2B5EF4-FFF2-40B4-BE49-F238E27FC236}">
                <a16:creationId xmlns:a16="http://schemas.microsoft.com/office/drawing/2014/main" id="{1E589579-35B8-0D97-77B5-4DC48000B27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61" name="Google Shape;706;p17">
            <a:extLst>
              <a:ext uri="{FF2B5EF4-FFF2-40B4-BE49-F238E27FC236}">
                <a16:creationId xmlns:a16="http://schemas.microsoft.com/office/drawing/2014/main" id="{AF77B240-5969-A096-D665-3AAD9C0E79D8}"/>
              </a:ext>
            </a:extLst>
          </p:cNvPr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</a:t>
            </a:r>
            <a:r>
              <a:rPr lang="ko-KR" altLang="en-US" sz="16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찜 공구</a:t>
            </a:r>
            <a:endParaRPr sz="16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8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16" name="Google Shape;716;p18"/>
          <p:cNvSpPr/>
          <p:nvPr/>
        </p:nvSpPr>
        <p:spPr>
          <a:xfrm>
            <a:off x="1404342" y="762000"/>
            <a:ext cx="15633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타깃 결정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카페24에 입점한 </a:t>
            </a:r>
            <a:r>
              <a:rPr lang="ko-KR" altLang="en-US" sz="3900" b="1" i="0" u="none" strike="noStrike" cap="none" spc="-78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홈리빙</a:t>
            </a:r>
            <a:r>
              <a:rPr lang="ko-KR" altLang="en-US" sz="3900" b="1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브랜드부터 시작합니다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18" name="Google Shape;718;p18"/>
          <p:cNvSpPr/>
          <p:nvPr/>
        </p:nvSpPr>
        <p:spPr>
          <a:xfrm>
            <a:off x="1143000" y="2222500"/>
            <a:ext cx="5207000" cy="3810000"/>
          </a:xfrm>
          <a:prstGeom prst="roundRect">
            <a:avLst>
              <a:gd name="adj" fmla="val 1857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19" name="Google Shape;719;p18"/>
          <p:cNvSpPr/>
          <p:nvPr/>
        </p:nvSpPr>
        <p:spPr>
          <a:xfrm>
            <a:off x="1498600" y="2705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20" name="Google Shape;720;p18"/>
          <p:cNvSpPr/>
          <p:nvPr/>
        </p:nvSpPr>
        <p:spPr>
          <a:xfrm>
            <a:off x="1689100" y="25781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이유 1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1498600" y="3149600"/>
            <a:ext cx="4699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3200" b="1" i="0" u="none" strike="noStrike" cap="none" spc="-29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문제가 가장 선명하다</a:t>
            </a:r>
            <a:endParaRPr sz="3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22" name="Google Shape;722;p18"/>
          <p:cNvSpPr/>
          <p:nvPr/>
        </p:nvSpPr>
        <p:spPr>
          <a:xfrm>
            <a:off x="1498600" y="4127500"/>
            <a:ext cx="46990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2,000건에도 수량 결정 불가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재입고 알림 구매 전환 21%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6540500" y="2222500"/>
            <a:ext cx="5207000" cy="3810000"/>
          </a:xfrm>
          <a:prstGeom prst="roundRect">
            <a:avLst>
              <a:gd name="adj" fmla="val 1857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24" name="Google Shape;724;p18"/>
          <p:cNvSpPr/>
          <p:nvPr/>
        </p:nvSpPr>
        <p:spPr>
          <a:xfrm>
            <a:off x="6896100" y="2705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9416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7086600" y="25781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이유 2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6896100" y="3149600"/>
            <a:ext cx="4699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320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기다림을 받아들인다</a:t>
            </a:r>
            <a:endParaRPr sz="32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27" name="Google Shape;727;p18"/>
          <p:cNvSpPr/>
          <p:nvPr/>
        </p:nvSpPr>
        <p:spPr>
          <a:xfrm>
            <a:off x="6896100" y="4127500"/>
            <a:ext cx="46990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후 2~3주 대기 수용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 확정 후 생산 구조가 가능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28" name="Google Shape;728;p18"/>
          <p:cNvSpPr/>
          <p:nvPr/>
        </p:nvSpPr>
        <p:spPr>
          <a:xfrm>
            <a:off x="11938000" y="2222500"/>
            <a:ext cx="5207000" cy="3810000"/>
          </a:xfrm>
          <a:prstGeom prst="roundRect">
            <a:avLst>
              <a:gd name="adj" fmla="val 1857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29" name="Google Shape;729;p18"/>
          <p:cNvSpPr/>
          <p:nvPr/>
        </p:nvSpPr>
        <p:spPr>
          <a:xfrm>
            <a:off x="12293600" y="2705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9416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30" name="Google Shape;730;p18"/>
          <p:cNvSpPr/>
          <p:nvPr/>
        </p:nvSpPr>
        <p:spPr>
          <a:xfrm>
            <a:off x="12484100" y="25781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이유 3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31" name="Google Shape;731;p18"/>
          <p:cNvSpPr/>
          <p:nvPr/>
        </p:nvSpPr>
        <p:spPr>
          <a:xfrm>
            <a:off x="12293600" y="3149600"/>
            <a:ext cx="4699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320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필요한 때가 정해져 있다</a:t>
            </a:r>
            <a:endParaRPr sz="32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32" name="Google Shape;732;p18"/>
          <p:cNvSpPr/>
          <p:nvPr/>
        </p:nvSpPr>
        <p:spPr>
          <a:xfrm>
            <a:off x="12293600" y="4127500"/>
            <a:ext cx="46990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이사·계절</a:t>
            </a:r>
            <a:r>
              <a:rPr lang="ko-KR" altLang="en-US" sz="24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수요로 찜이 오래 쌓임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 공구 개설 시점이 분명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33" name="Google Shape;733;p18"/>
          <p:cNvSpPr/>
          <p:nvPr/>
        </p:nvSpPr>
        <p:spPr>
          <a:xfrm>
            <a:off x="1143000" y="6413500"/>
            <a:ext cx="7912100" cy="2540000"/>
          </a:xfrm>
          <a:prstGeom prst="roundRect">
            <a:avLst>
              <a:gd name="adj" fmla="val 5051"/>
            </a:avLst>
          </a:prstGeom>
          <a:solidFill>
            <a:srgbClr val="FFF0F3">
              <a:alpha val="92157"/>
            </a:srgbClr>
          </a:solidFill>
          <a:ln w="14275" cap="flat" cmpd="sng">
            <a:solidFill>
              <a:srgbClr val="FDAAC1">
                <a:alpha val="92157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34" name="Google Shape;734;p18"/>
          <p:cNvSpPr/>
          <p:nvPr/>
        </p:nvSpPr>
        <p:spPr>
          <a:xfrm>
            <a:off x="1498600" y="6794500"/>
            <a:ext cx="7239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600" b="1" i="0" u="none" strike="noStrike" cap="none" spc="-2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대상 품목</a:t>
            </a:r>
            <a:endParaRPr sz="2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35" name="Google Shape;735;p18"/>
          <p:cNvSpPr/>
          <p:nvPr/>
        </p:nvSpPr>
        <p:spPr>
          <a:xfrm>
            <a:off x="1498600" y="7493000"/>
            <a:ext cx="7239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30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육아용품 </a:t>
            </a:r>
            <a:r>
              <a:rPr lang="ko-KR" altLang="en-US" sz="23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· 그릇 · 주방 · 수납 등 홈</a:t>
            </a:r>
            <a:r>
              <a:rPr lang="en-US" altLang="ko-KR" sz="23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/</a:t>
            </a:r>
            <a:r>
              <a:rPr lang="ko-KR" altLang="en-US" sz="23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리빙</a:t>
            </a:r>
            <a:r>
              <a:rPr lang="ko-KR" altLang="en-US" sz="23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카테고리</a:t>
            </a:r>
            <a:endParaRPr lang="en-US" altLang="ko-KR" sz="2300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</a:endParaRPr>
          </a:p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3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(</a:t>
            </a:r>
            <a:r>
              <a:rPr lang="ko-KR" altLang="en-US" sz="23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패션잡화·뷰티는</a:t>
            </a:r>
            <a:r>
              <a:rPr lang="ko-KR" altLang="en-US" sz="23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검증 후 확장)</a:t>
            </a:r>
            <a:endParaRPr sz="23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36" name="Google Shape;736;p18"/>
          <p:cNvSpPr/>
          <p:nvPr/>
        </p:nvSpPr>
        <p:spPr>
          <a:xfrm>
            <a:off x="9245600" y="6413500"/>
            <a:ext cx="7912100" cy="2540000"/>
          </a:xfrm>
          <a:prstGeom prst="roundRect">
            <a:avLst>
              <a:gd name="adj" fmla="val 5051"/>
            </a:avLst>
          </a:prstGeom>
          <a:solidFill>
            <a:srgbClr val="FFFFFF">
              <a:alpha val="81961"/>
            </a:srgbClr>
          </a:solidFill>
          <a:ln w="14275" cap="flat" cmpd="sng">
            <a:solidFill>
              <a:srgbClr val="1C1C1F">
                <a:alpha val="1294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37" name="Google Shape;737;p18"/>
          <p:cNvSpPr/>
          <p:nvPr/>
        </p:nvSpPr>
        <p:spPr>
          <a:xfrm>
            <a:off x="9601200" y="6794500"/>
            <a:ext cx="7239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600" b="1" i="0" u="none" strike="noStrike" cap="none" spc="-2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검증 반영</a:t>
            </a:r>
            <a:endParaRPr sz="2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38" name="Google Shape;738;p18"/>
          <p:cNvSpPr/>
          <p:nvPr/>
        </p:nvSpPr>
        <p:spPr>
          <a:xfrm>
            <a:off x="9601200" y="7493000"/>
            <a:ext cx="7239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3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H8(월 구독 부적합) → 체험 요금제(0원 + 5%)로 보완</a:t>
            </a:r>
            <a:endParaRPr sz="2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39" name="Google Shape;739;p18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40" name="Google Shape;740;p18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17 / 27</a:t>
            </a:r>
            <a:endParaRPr sz="17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41" name="Google Shape;741;p18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742" name="Google Shape;742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761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3000" y="1200150"/>
            <a:ext cx="116038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1008"/>
              </a:lnSpc>
              <a:buNone/>
            </a:pPr>
            <a:r>
              <a:rPr lang="en-US" sz="3900" b="1" kern="0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보수적으로 잡아도 5.5조, 첫 공략 시장은 전문몰 3,517억</a:t>
            </a:r>
            <a:endParaRPr lang="en-US" sz="39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" y="2152650"/>
            <a:ext cx="5334000" cy="6096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24000" y="2914650"/>
            <a:ext cx="4572000" cy="4572000"/>
          </a:xfrm>
          <a:prstGeom prst="ellipse">
            <a:avLst/>
          </a:prstGeom>
          <a:solidFill>
            <a:srgbClr val="FDCDD6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45160" y="3295650"/>
            <a:ext cx="60587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TAM</a:t>
            </a:r>
            <a:endParaRPr lang="en-US" sz="21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0" y="4438650"/>
            <a:ext cx="3048000" cy="3048000"/>
          </a:xfrm>
          <a:prstGeom prst="ellipse">
            <a:avLst/>
          </a:prstGeom>
          <a:solidFill>
            <a:srgbClr val="FC7598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41961" y="4781550"/>
            <a:ext cx="61227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SAM</a:t>
            </a:r>
            <a:endParaRPr lang="en-US" sz="21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48000" y="5962650"/>
            <a:ext cx="1524000" cy="1524000"/>
          </a:xfrm>
          <a:prstGeom prst="ellipse">
            <a:avLst/>
          </a:prstGeom>
          <a:solidFill>
            <a:srgbClr val="E94162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34891" y="6565106"/>
            <a:ext cx="62641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SOM</a:t>
            </a:r>
            <a:endParaRPr lang="en-US" sz="21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62750" y="2152650"/>
            <a:ext cx="1038225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115175" y="2585070"/>
            <a:ext cx="133350" cy="133350"/>
          </a:xfrm>
          <a:prstGeom prst="ellipse">
            <a:avLst/>
          </a:prstGeom>
          <a:solidFill>
            <a:srgbClr val="FDCDD6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43775" y="2525539"/>
            <a:ext cx="354442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TAM · 국내 온라인 홈리빙(가구) 거래액</a:t>
            </a:r>
            <a:endParaRPr lang="en-US" sz="16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15175" y="2854151"/>
            <a:ext cx="10645140" cy="56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3600" b="1" kern="0" spc="-12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cs typeface="Arial" pitchFamily="34" charset="-120"/>
              </a:rPr>
              <a:t>5조 5,346억 원</a:t>
            </a:r>
            <a:endParaRPr lang="en-US" sz="3600" b="1" dirty="0">
              <a:latin typeface="KoreanSWGI2R" panose="02020600000000000000" pitchFamily="18" charset="-127"/>
              <a:ea typeface="KoreanSWGI2R" panose="02020600000000000000" pitchFamily="18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15175" y="3456087"/>
            <a:ext cx="106451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2025년, 전년 대비 -2.3%. 생활용품까지 넣으면 상한 25조 3,650억 원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62750" y="4248150"/>
            <a:ext cx="1038225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15175" y="4680570"/>
            <a:ext cx="133350" cy="133350"/>
          </a:xfrm>
          <a:prstGeom prst="ellipse">
            <a:avLst/>
          </a:prstGeom>
          <a:solidFill>
            <a:srgbClr val="FC7598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43775" y="4621039"/>
            <a:ext cx="2347451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SAM · 전문몰 가구 거래액</a:t>
            </a:r>
            <a:endParaRPr lang="en-US" sz="16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15175" y="4949651"/>
            <a:ext cx="10645140" cy="56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3600" b="1" kern="0" spc="-12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cs typeface="Arial" pitchFamily="34" charset="-120"/>
              </a:rPr>
              <a:t>3,517억 원</a:t>
            </a:r>
            <a:endParaRPr lang="en-US" sz="3600" b="1" dirty="0">
              <a:latin typeface="KoreanSWGI2R" panose="02020600000000000000" pitchFamily="18" charset="-127"/>
              <a:ea typeface="KoreanSWGI2R" panose="02020600000000000000" pitchFamily="18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15175" y="5551587"/>
            <a:ext cx="106451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자사몰에 가장 가까운 통계청 구분. 4,435억(2023) → 3,517억(2025)으로 감소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762750" y="6343650"/>
            <a:ext cx="10382250" cy="190500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15175" y="6776070"/>
            <a:ext cx="133350" cy="133350"/>
          </a:xfrm>
          <a:prstGeom prst="ellipse">
            <a:avLst/>
          </a:prstGeom>
          <a:solidFill>
            <a:srgbClr val="E94162"/>
          </a:solidFill>
          <a:ln w="9525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43775" y="6716539"/>
            <a:ext cx="38201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SOM · 찜공구를 통한 판매자 거래액 (추정)</a:t>
            </a:r>
            <a:endParaRPr lang="en-US" sz="165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15175" y="7045151"/>
            <a:ext cx="10645140" cy="56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3600" b="1" kern="0" spc="-12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cs typeface="Arial" pitchFamily="34" charset="-120"/>
              </a:rPr>
              <a:t>약 35억 원</a:t>
            </a:r>
            <a:endParaRPr lang="en-US" sz="3600" b="1" dirty="0">
              <a:latin typeface="KoreanSWGI2R" panose="02020600000000000000" pitchFamily="18" charset="-127"/>
              <a:ea typeface="KoreanSWGI2R" panose="02020600000000000000" pitchFamily="18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15175" y="7647087"/>
            <a:ext cx="106451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3년 내 SAM의 1% 가정: 3,517억 × 1% = 35.2억. 우리 매출이 아닌 거래액 규모</a:t>
            </a:r>
            <a:endParaRPr lang="en-US" sz="1500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143000" y="8572500"/>
            <a:ext cx="16002000" cy="752475"/>
          </a:xfrm>
          <a:prstGeom prst="roundRect">
            <a:avLst>
              <a:gd name="adj" fmla="val 20253"/>
            </a:avLst>
          </a:prstGeom>
          <a:solidFill>
            <a:srgbClr val="FFF0F3"/>
          </a:solidFill>
          <a:ln/>
        </p:spPr>
        <p:txBody>
          <a:bodyPr/>
          <a:lstStyle/>
          <a:p>
            <a:endParaRPr lang="ko-KR" altLang="en-US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47800" y="8572500"/>
            <a:ext cx="158724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출처: 통계청(국가데이터처) 「2025년 12월 및 연간 온라인쇼핑동향」(2026.2.2), 2025년 잠정치 · SOM은 점유율 가정에 따른 추정치</a:t>
            </a:r>
            <a:endParaRPr lang="en-US" sz="1425"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6" name="Google Shape;249;p6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37" name="Google Shape;250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32" name="Google Shape;748;p19">
            <a:extLst>
              <a:ext uri="{FF2B5EF4-FFF2-40B4-BE49-F238E27FC236}">
                <a16:creationId xmlns:a16="http://schemas.microsoft.com/office/drawing/2014/main" id="{F3BCB1C7-B777-57DD-BEB2-C7D804F1B956}"/>
              </a:ext>
            </a:extLst>
          </p:cNvPr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3" name="Google Shape;748;p19">
            <a:extLst>
              <a:ext uri="{FF2B5EF4-FFF2-40B4-BE49-F238E27FC236}">
                <a16:creationId xmlns:a16="http://schemas.microsoft.com/office/drawing/2014/main" id="{2FA3C368-C583-B1E1-D249-7BF1D39BD7D5}"/>
              </a:ext>
            </a:extLst>
          </p:cNvPr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4" name="Google Shape;749;p19">
            <a:extLst>
              <a:ext uri="{FF2B5EF4-FFF2-40B4-BE49-F238E27FC236}">
                <a16:creationId xmlns:a16="http://schemas.microsoft.com/office/drawing/2014/main" id="{5B125B2F-8FD0-0AC7-D38D-4F351C16E9B5}"/>
              </a:ext>
            </a:extLst>
          </p:cNvPr>
          <p:cNvSpPr/>
          <p:nvPr/>
        </p:nvSpPr>
        <p:spPr>
          <a:xfrm>
            <a:off x="1404342" y="762000"/>
            <a:ext cx="15633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lvl="0" eaLnBrk="0">
              <a:buClr>
                <a:srgbClr val="1C1C1F"/>
              </a:buClr>
              <a:buSzPts val="1950"/>
            </a:pP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2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시장 규모</a:t>
            </a:r>
            <a:r>
              <a:rPr lang="en-US" altLang="ko-KR" sz="1800" b="1" spc="-12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cs typeface="Arial" pitchFamily="34" charset="-120"/>
              </a:rPr>
              <a:t> ·</a:t>
            </a: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lang="ko-KR" altLang="en-US" sz="1800" b="1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홈리빙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(</a:t>
            </a: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가구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)</a:t>
            </a: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기준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35" name="Google Shape;740;p18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18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0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1404342" y="762000"/>
            <a:ext cx="12144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3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요금제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구독 + 확정 결제액에만 붙는 성공 수수료</a:t>
            </a:r>
            <a:endParaRPr sz="3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85" name="Google Shape;785;p20"/>
          <p:cNvSpPr/>
          <p:nvPr/>
        </p:nvSpPr>
        <p:spPr>
          <a:xfrm>
            <a:off x="1079500" y="2286000"/>
            <a:ext cx="5207000" cy="2819400"/>
          </a:xfrm>
          <a:prstGeom prst="roundRect">
            <a:avLst>
              <a:gd name="adj" fmla="val 4960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2R" panose="02020600000000000000" pitchFamily="18" charset="-127"/>
              <a:ea typeface="KoreanSWGI2R" panose="02020600000000000000" pitchFamily="18" charset="-127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1397000" y="2705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1587500" y="25781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체험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88" name="Google Shape;788;p20"/>
          <p:cNvSpPr/>
          <p:nvPr/>
        </p:nvSpPr>
        <p:spPr>
          <a:xfrm>
            <a:off x="1397000" y="3022600"/>
            <a:ext cx="4572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504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4200"/>
              <a:buFont typeface="Arial"/>
              <a:buNone/>
            </a:pPr>
            <a:r>
              <a:rPr lang="ko-KR" altLang="en-US" sz="4400" b="1" i="0" u="none" strike="noStrike" cap="none" spc="-84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0원</a:t>
            </a:r>
            <a:endParaRPr sz="4400" b="1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1397000" y="38481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성공 수수료 5%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1397000" y="4318000"/>
            <a:ext cx="47625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공구를 1년에 몇 번만 여는 셀러 · 월 1회</a:t>
            </a:r>
            <a:endParaRPr sz="2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6477000" y="2286000"/>
            <a:ext cx="5207000" cy="2819400"/>
          </a:xfrm>
          <a:prstGeom prst="roundRect">
            <a:avLst>
              <a:gd name="adj" fmla="val 4960"/>
            </a:avLst>
          </a:prstGeom>
          <a:solidFill>
            <a:srgbClr val="FFF0F3">
              <a:alpha val="98824"/>
            </a:srgbClr>
          </a:solidFill>
          <a:ln w="14275" cap="flat" cmpd="sng">
            <a:solidFill>
              <a:srgbClr val="FDAAC1">
                <a:alpha val="98824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92" name="Google Shape;792;p20"/>
          <p:cNvSpPr/>
          <p:nvPr/>
        </p:nvSpPr>
        <p:spPr>
          <a:xfrm>
            <a:off x="6794500" y="2705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9416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93" name="Google Shape;793;p20"/>
          <p:cNvSpPr/>
          <p:nvPr/>
        </p:nvSpPr>
        <p:spPr>
          <a:xfrm>
            <a:off x="6985000" y="25781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스타터 · 기본안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6794500" y="3022600"/>
            <a:ext cx="4572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504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4200"/>
              <a:buFont typeface="Arial"/>
              <a:buNone/>
            </a:pPr>
            <a:r>
              <a:rPr lang="ko-KR" altLang="en-US" sz="4400" b="1" i="0" u="none" strike="noStrike" cap="none" spc="-84">
                <a:solidFill>
                  <a:srgbClr val="1C1C1F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29,000원</a:t>
            </a:r>
            <a:endParaRPr sz="4400" b="1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6794500" y="38481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성공 수수료 3%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96" name="Google Shape;796;p20"/>
          <p:cNvSpPr/>
          <p:nvPr/>
        </p:nvSpPr>
        <p:spPr>
          <a:xfrm>
            <a:off x="6794500" y="4318000"/>
            <a:ext cx="47625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공구 월 3회, 수요 레이더, 업종 추천</a:t>
            </a:r>
            <a:endParaRPr sz="2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797" name="Google Shape;797;p20"/>
          <p:cNvSpPr/>
          <p:nvPr/>
        </p:nvSpPr>
        <p:spPr>
          <a:xfrm>
            <a:off x="11874500" y="2286000"/>
            <a:ext cx="5207000" cy="2819400"/>
          </a:xfrm>
          <a:prstGeom prst="roundRect">
            <a:avLst>
              <a:gd name="adj" fmla="val 4960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98" name="Google Shape;798;p20"/>
          <p:cNvSpPr/>
          <p:nvPr/>
        </p:nvSpPr>
        <p:spPr>
          <a:xfrm>
            <a:off x="12192000" y="2705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9416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12382500" y="25781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그로스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00" name="Google Shape;800;p20"/>
          <p:cNvSpPr/>
          <p:nvPr/>
        </p:nvSpPr>
        <p:spPr>
          <a:xfrm>
            <a:off x="12192000" y="3022600"/>
            <a:ext cx="4572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5504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4200"/>
              <a:buFont typeface="Arial"/>
              <a:buNone/>
            </a:pPr>
            <a:r>
              <a:rPr lang="ko-KR" altLang="en-US" sz="4400" b="1" i="0" u="none" strike="noStrike" cap="none" spc="-84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79,000원</a:t>
            </a:r>
            <a:endParaRPr sz="4400" b="1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01" name="Google Shape;801;p20"/>
          <p:cNvSpPr/>
          <p:nvPr/>
        </p:nvSpPr>
        <p:spPr>
          <a:xfrm>
            <a:off x="12192000" y="38481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성공 수수료 2%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12192000" y="4318000"/>
            <a:ext cx="47625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공구 무제한, </a:t>
            </a:r>
            <a:r>
              <a:rPr lang="ko-KR" altLang="en-US" sz="20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대기열</a:t>
            </a:r>
            <a:r>
              <a:rPr lang="ko-KR" altLang="en-US" sz="20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, 엑셀 업로드</a:t>
            </a:r>
            <a:endParaRPr sz="2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1371600" y="53721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몰의 월 확정 결제액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04" name="Google Shape;804;p20"/>
          <p:cNvSpPr/>
          <p:nvPr/>
        </p:nvSpPr>
        <p:spPr>
          <a:xfrm>
            <a:off x="4229100" y="53721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가장 싼 요금제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05" name="Google Shape;805;p20"/>
          <p:cNvSpPr/>
          <p:nvPr/>
        </p:nvSpPr>
        <p:spPr>
          <a:xfrm>
            <a:off x="6705600" y="5372100"/>
            <a:ext cx="10414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이런 셀러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06" name="Google Shape;806;p20"/>
          <p:cNvSpPr/>
          <p:nvPr/>
        </p:nvSpPr>
        <p:spPr>
          <a:xfrm>
            <a:off x="1143000" y="5880100"/>
            <a:ext cx="16002000" cy="787400"/>
          </a:xfrm>
          <a:prstGeom prst="roundRect">
            <a:avLst>
              <a:gd name="adj" fmla="val 13203"/>
            </a:avLst>
          </a:prstGeom>
          <a:solidFill>
            <a:srgbClr val="FFFFFF">
              <a:alpha val="92941"/>
            </a:srgbClr>
          </a:solidFill>
          <a:ln w="14275" cap="flat" cmpd="sng">
            <a:solidFill>
              <a:srgbClr val="1C1C1F">
                <a:alpha val="1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07" name="Google Shape;807;p20"/>
          <p:cNvSpPr/>
          <p:nvPr/>
        </p:nvSpPr>
        <p:spPr>
          <a:xfrm>
            <a:off x="1384300" y="6032500"/>
            <a:ext cx="2857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145만 원 미만</a:t>
            </a:r>
            <a:endParaRPr sz="2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08" name="Google Shape;808;p20"/>
          <p:cNvSpPr/>
          <p:nvPr/>
        </p:nvSpPr>
        <p:spPr>
          <a:xfrm>
            <a:off x="4241800" y="60325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체험</a:t>
            </a:r>
            <a:endParaRPr sz="2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09" name="Google Shape;809;p20"/>
          <p:cNvSpPr/>
          <p:nvPr/>
        </p:nvSpPr>
        <p:spPr>
          <a:xfrm>
            <a:off x="6718300" y="60325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한정 컬러·재생산 때만 1년에 2~3번</a:t>
            </a:r>
            <a:endParaRPr sz="2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10" name="Google Shape;810;p20"/>
          <p:cNvSpPr/>
          <p:nvPr/>
        </p:nvSpPr>
        <p:spPr>
          <a:xfrm>
            <a:off x="1143000" y="6794500"/>
            <a:ext cx="16002000" cy="787400"/>
          </a:xfrm>
          <a:prstGeom prst="roundRect">
            <a:avLst>
              <a:gd name="adj" fmla="val 13203"/>
            </a:avLst>
          </a:prstGeom>
          <a:solidFill>
            <a:srgbClr val="FFFFFF">
              <a:alpha val="92941"/>
            </a:srgbClr>
          </a:solidFill>
          <a:ln w="14275" cap="flat" cmpd="sng">
            <a:solidFill>
              <a:srgbClr val="1C1C1F">
                <a:alpha val="1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11" name="Google Shape;811;p20"/>
          <p:cNvSpPr/>
          <p:nvPr/>
        </p:nvSpPr>
        <p:spPr>
          <a:xfrm>
            <a:off x="1384300" y="6946900"/>
            <a:ext cx="2857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145만~500만 원</a:t>
            </a:r>
            <a:endParaRPr sz="2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12" name="Google Shape;812;p20"/>
          <p:cNvSpPr/>
          <p:nvPr/>
        </p:nvSpPr>
        <p:spPr>
          <a:xfrm>
            <a:off x="4241800" y="69469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스타터</a:t>
            </a:r>
            <a:endParaRPr sz="2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13" name="Google Shape;813;p20"/>
          <p:cNvSpPr/>
          <p:nvPr/>
        </p:nvSpPr>
        <p:spPr>
          <a:xfrm>
            <a:off x="6718300" y="69469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1~2회, 공구당 50~100개</a:t>
            </a:r>
            <a:endParaRPr sz="2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14" name="Google Shape;814;p20"/>
          <p:cNvSpPr/>
          <p:nvPr/>
        </p:nvSpPr>
        <p:spPr>
          <a:xfrm>
            <a:off x="1143000" y="7708900"/>
            <a:ext cx="16002000" cy="787400"/>
          </a:xfrm>
          <a:prstGeom prst="roundRect">
            <a:avLst>
              <a:gd name="adj" fmla="val 13203"/>
            </a:avLst>
          </a:prstGeom>
          <a:solidFill>
            <a:srgbClr val="FFFFFF">
              <a:alpha val="92941"/>
            </a:srgbClr>
          </a:solidFill>
          <a:ln w="14275" cap="flat" cmpd="sng">
            <a:solidFill>
              <a:srgbClr val="1C1C1F">
                <a:alpha val="1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15" name="Google Shape;815;p20"/>
          <p:cNvSpPr/>
          <p:nvPr/>
        </p:nvSpPr>
        <p:spPr>
          <a:xfrm>
            <a:off x="1384300" y="7861300"/>
            <a:ext cx="2857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500만 원 이상</a:t>
            </a:r>
            <a:endParaRPr sz="2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16" name="Google Shape;816;p20"/>
          <p:cNvSpPr/>
          <p:nvPr/>
        </p:nvSpPr>
        <p:spPr>
          <a:xfrm>
            <a:off x="4241800" y="78613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그로스</a:t>
            </a:r>
            <a:endParaRPr sz="2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17" name="Google Shape;817;p20"/>
          <p:cNvSpPr/>
          <p:nvPr/>
        </p:nvSpPr>
        <p:spPr>
          <a:xfrm>
            <a:off x="6718300" y="78613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2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3회 이상, 또는 객단가 10만 원 이상 침구</a:t>
            </a:r>
            <a:endParaRPr sz="22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18" name="Google Shape;818;p20"/>
          <p:cNvSpPr/>
          <p:nvPr/>
        </p:nvSpPr>
        <p:spPr>
          <a:xfrm>
            <a:off x="1143000" y="8839200"/>
            <a:ext cx="16002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목표 미달 시 수수료 0원 · 판매자 총비용률 약 3.4~5.0%(할인 제외) vs 와디즈 13~15%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19" name="Google Shape;819;p20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20" name="Google Shape;820;p20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19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21" name="Google Shape;821;p20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822" name="Google Shape;822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6337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1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29" name="Google Shape;829;p21"/>
          <p:cNvSpPr/>
          <p:nvPr/>
        </p:nvSpPr>
        <p:spPr>
          <a:xfrm>
            <a:off x="1404342" y="762000"/>
            <a:ext cx="385514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lvl="0" eaLnBrk="0">
              <a:buClr>
                <a:srgbClr val="1C1C1F"/>
              </a:buClr>
              <a:buSzPts val="1950"/>
            </a:pP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r>
              <a:rPr lang="en-US" altLang="ko-KR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4</a:t>
            </a:r>
            <a:r>
              <a:rPr 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-1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</a:t>
            </a: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· 비즈니스 모델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(</a:t>
            </a:r>
            <a:r>
              <a:rPr lang="ko-KR" altLang="en-US" sz="18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스타터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몰 1곳, 월)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30" name="Google Shape;830;p21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매출 59.0만 원, 공헌이익 45.7만 원 (77%)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31" name="Google Shape;831;p21"/>
          <p:cNvSpPr/>
          <p:nvPr/>
        </p:nvSpPr>
        <p:spPr>
          <a:xfrm>
            <a:off x="1066975" y="2330820"/>
            <a:ext cx="95400" cy="9540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32" name="Google Shape;832;p21"/>
          <p:cNvSpPr/>
          <p:nvPr/>
        </p:nvSpPr>
        <p:spPr>
          <a:xfrm>
            <a:off x="1257475" y="2245095"/>
            <a:ext cx="9534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5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고정 가정</a:t>
            </a:r>
            <a:endParaRPr sz="16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33" name="Google Shape;833;p21"/>
          <p:cNvSpPr/>
          <p:nvPr/>
        </p:nvSpPr>
        <p:spPr>
          <a:xfrm>
            <a:off x="2325142" y="2148795"/>
            <a:ext cx="1416621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34" name="Google Shape;834;p21"/>
          <p:cNvSpPr/>
          <p:nvPr/>
        </p:nvSpPr>
        <p:spPr>
          <a:xfrm>
            <a:off x="2510879" y="2220232"/>
            <a:ext cx="112134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공구 2회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35" name="Google Shape;835;p21"/>
          <p:cNvSpPr/>
          <p:nvPr/>
        </p:nvSpPr>
        <p:spPr>
          <a:xfrm>
            <a:off x="3856062" y="2148795"/>
            <a:ext cx="1600274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36" name="Google Shape;836;p21"/>
          <p:cNvSpPr/>
          <p:nvPr/>
        </p:nvSpPr>
        <p:spPr>
          <a:xfrm>
            <a:off x="4041800" y="2220232"/>
            <a:ext cx="13049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초대 2,000명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37" name="Google Shape;837;p21"/>
          <p:cNvSpPr/>
          <p:nvPr/>
        </p:nvSpPr>
        <p:spPr>
          <a:xfrm>
            <a:off x="5570637" y="2148795"/>
            <a:ext cx="1747019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38" name="Google Shape;838;p21"/>
          <p:cNvSpPr/>
          <p:nvPr/>
        </p:nvSpPr>
        <p:spPr>
          <a:xfrm>
            <a:off x="5756374" y="2220232"/>
            <a:ext cx="14517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신청 전환 10%</a:t>
            </a:r>
            <a:endParaRPr sz="16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39" name="Google Shape;839;p21"/>
          <p:cNvSpPr/>
          <p:nvPr/>
        </p:nvSpPr>
        <p:spPr>
          <a:xfrm>
            <a:off x="7431956" y="2148795"/>
            <a:ext cx="1747019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40" name="Google Shape;840;p21"/>
          <p:cNvSpPr/>
          <p:nvPr/>
        </p:nvSpPr>
        <p:spPr>
          <a:xfrm>
            <a:off x="7617693" y="2220232"/>
            <a:ext cx="14517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전환 60%</a:t>
            </a:r>
            <a:endParaRPr sz="16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41" name="Google Shape;841;p21"/>
          <p:cNvSpPr/>
          <p:nvPr/>
        </p:nvSpPr>
        <p:spPr>
          <a:xfrm>
            <a:off x="9293275" y="2148795"/>
            <a:ext cx="1925166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9479012" y="2220232"/>
            <a:ext cx="162989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객단가 77,900원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43" name="Google Shape;843;p21"/>
          <p:cNvSpPr/>
          <p:nvPr/>
        </p:nvSpPr>
        <p:spPr>
          <a:xfrm>
            <a:off x="1195755" y="2923781"/>
            <a:ext cx="32632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500" b="1" i="0" u="none" strike="noStrike" cap="none" spc="-2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거래와 우리 매출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44" name="Google Shape;844;p21"/>
          <p:cNvSpPr/>
          <p:nvPr/>
        </p:nvSpPr>
        <p:spPr>
          <a:xfrm>
            <a:off x="1371600" y="3685194"/>
            <a:ext cx="2494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항목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45" name="Google Shape;845;p21"/>
          <p:cNvSpPr/>
          <p:nvPr/>
        </p:nvSpPr>
        <p:spPr>
          <a:xfrm>
            <a:off x="3830166" y="3685194"/>
            <a:ext cx="29484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수식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46" name="Google Shape;846;p21"/>
          <p:cNvSpPr/>
          <p:nvPr/>
        </p:nvSpPr>
        <p:spPr>
          <a:xfrm>
            <a:off x="7454900" y="3685194"/>
            <a:ext cx="12700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금액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47" name="Google Shape;847;p21"/>
          <p:cNvSpPr/>
          <p:nvPr/>
        </p:nvSpPr>
        <p:spPr>
          <a:xfrm>
            <a:off x="1143000" y="4073207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48" name="Google Shape;848;p21"/>
          <p:cNvSpPr/>
          <p:nvPr/>
        </p:nvSpPr>
        <p:spPr>
          <a:xfrm>
            <a:off x="1385888" y="4177672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신청 수 (1회)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49" name="Google Shape;849;p21"/>
          <p:cNvSpPr/>
          <p:nvPr/>
        </p:nvSpPr>
        <p:spPr>
          <a:xfrm>
            <a:off x="3835152" y="4177672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2,000명 × 10%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50" name="Google Shape;850;p21"/>
          <p:cNvSpPr/>
          <p:nvPr/>
        </p:nvSpPr>
        <p:spPr>
          <a:xfrm>
            <a:off x="6489836" y="4177672"/>
            <a:ext cx="22587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200명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51" name="Google Shape;851;p21"/>
          <p:cNvSpPr/>
          <p:nvPr/>
        </p:nvSpPr>
        <p:spPr>
          <a:xfrm>
            <a:off x="1143000" y="4676057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52" name="Google Shape;852;p21"/>
          <p:cNvSpPr/>
          <p:nvPr/>
        </p:nvSpPr>
        <p:spPr>
          <a:xfrm>
            <a:off x="1385888" y="4780521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수 (1회)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53" name="Google Shape;853;p21"/>
          <p:cNvSpPr/>
          <p:nvPr/>
        </p:nvSpPr>
        <p:spPr>
          <a:xfrm>
            <a:off x="3835152" y="4780521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200명 × 60%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54" name="Google Shape;854;p21"/>
          <p:cNvSpPr/>
          <p:nvPr/>
        </p:nvSpPr>
        <p:spPr>
          <a:xfrm>
            <a:off x="6489836" y="4780521"/>
            <a:ext cx="22587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120건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55" name="Google Shape;855;p21"/>
          <p:cNvSpPr/>
          <p:nvPr/>
        </p:nvSpPr>
        <p:spPr>
          <a:xfrm>
            <a:off x="1143000" y="5278906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56" name="Google Shape;856;p21"/>
          <p:cNvSpPr/>
          <p:nvPr/>
        </p:nvSpPr>
        <p:spPr>
          <a:xfrm>
            <a:off x="1385888" y="5383371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1회 확정 결제액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57" name="Google Shape;857;p21"/>
          <p:cNvSpPr/>
          <p:nvPr/>
        </p:nvSpPr>
        <p:spPr>
          <a:xfrm>
            <a:off x="3835152" y="5383371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120건 × 77,900원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58" name="Google Shape;858;p21"/>
          <p:cNvSpPr/>
          <p:nvPr/>
        </p:nvSpPr>
        <p:spPr>
          <a:xfrm>
            <a:off x="6489836" y="5383371"/>
            <a:ext cx="22587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9,348,000원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59" name="Google Shape;859;p21"/>
          <p:cNvSpPr/>
          <p:nvPr/>
        </p:nvSpPr>
        <p:spPr>
          <a:xfrm>
            <a:off x="1143000" y="5881756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EF1F3"/>
          </a:solidFill>
          <a:ln w="14275" cap="flat" cmpd="sng">
            <a:solidFill>
              <a:srgbClr val="FDA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60" name="Google Shape;860;p21"/>
          <p:cNvSpPr/>
          <p:nvPr/>
        </p:nvSpPr>
        <p:spPr>
          <a:xfrm>
            <a:off x="1385888" y="5986220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확정 결제액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61" name="Google Shape;861;p21"/>
          <p:cNvSpPr/>
          <p:nvPr/>
        </p:nvSpPr>
        <p:spPr>
          <a:xfrm>
            <a:off x="3835152" y="5986220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9,348,000원 × 2회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62" name="Google Shape;862;p21"/>
          <p:cNvSpPr/>
          <p:nvPr/>
        </p:nvSpPr>
        <p:spPr>
          <a:xfrm>
            <a:off x="6489836" y="5986220"/>
            <a:ext cx="22587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18,696,000원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63" name="Google Shape;863;p21"/>
          <p:cNvSpPr/>
          <p:nvPr/>
        </p:nvSpPr>
        <p:spPr>
          <a:xfrm>
            <a:off x="1143000" y="6484605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64" name="Google Shape;864;p21"/>
          <p:cNvSpPr/>
          <p:nvPr/>
        </p:nvSpPr>
        <p:spPr>
          <a:xfrm>
            <a:off x="1385888" y="6589070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구독료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65" name="Google Shape;865;p21"/>
          <p:cNvSpPr/>
          <p:nvPr/>
        </p:nvSpPr>
        <p:spPr>
          <a:xfrm>
            <a:off x="3835152" y="6589070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스타터 요금제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66" name="Google Shape;866;p21"/>
          <p:cNvSpPr/>
          <p:nvPr/>
        </p:nvSpPr>
        <p:spPr>
          <a:xfrm>
            <a:off x="6489836" y="6589070"/>
            <a:ext cx="22587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29,000원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67" name="Google Shape;867;p21"/>
          <p:cNvSpPr/>
          <p:nvPr/>
        </p:nvSpPr>
        <p:spPr>
          <a:xfrm>
            <a:off x="1143000" y="7087455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68" name="Google Shape;868;p21"/>
          <p:cNvSpPr/>
          <p:nvPr/>
        </p:nvSpPr>
        <p:spPr>
          <a:xfrm>
            <a:off x="1385888" y="7191919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성공 수수료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69" name="Google Shape;869;p21"/>
          <p:cNvSpPr/>
          <p:nvPr/>
        </p:nvSpPr>
        <p:spPr>
          <a:xfrm>
            <a:off x="3835152" y="7191919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18,696,000원 × 3%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0" name="Google Shape;870;p21"/>
          <p:cNvSpPr/>
          <p:nvPr/>
        </p:nvSpPr>
        <p:spPr>
          <a:xfrm>
            <a:off x="6489836" y="7191919"/>
            <a:ext cx="22587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560,880원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1143000" y="7690304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0F3">
              <a:alpha val="98824"/>
            </a:srgbClr>
          </a:solidFill>
          <a:ln w="14275" cap="flat" cmpd="sng">
            <a:solidFill>
              <a:srgbClr val="FDAAC1">
                <a:alpha val="98824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72" name="Google Shape;872;p21"/>
          <p:cNvSpPr/>
          <p:nvPr/>
        </p:nvSpPr>
        <p:spPr>
          <a:xfrm>
            <a:off x="1385888" y="7794769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매출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3" name="Google Shape;873;p21"/>
          <p:cNvSpPr/>
          <p:nvPr/>
        </p:nvSpPr>
        <p:spPr>
          <a:xfrm>
            <a:off x="3835152" y="7794769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구독료 + 수수료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4" name="Google Shape;874;p21"/>
          <p:cNvSpPr/>
          <p:nvPr/>
        </p:nvSpPr>
        <p:spPr>
          <a:xfrm>
            <a:off x="6489836" y="7794769"/>
            <a:ext cx="22587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589,880원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5" name="Google Shape;875;p21"/>
          <p:cNvSpPr/>
          <p:nvPr/>
        </p:nvSpPr>
        <p:spPr>
          <a:xfrm>
            <a:off x="9349155" y="2923781"/>
            <a:ext cx="32632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500" b="1" i="0" u="none" strike="noStrike" cap="none" spc="-2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비용과 공헌이익</a:t>
            </a:r>
            <a:endParaRPr sz="25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6" name="Google Shape;876;p21"/>
          <p:cNvSpPr/>
          <p:nvPr/>
        </p:nvSpPr>
        <p:spPr>
          <a:xfrm>
            <a:off x="9525000" y="3687841"/>
            <a:ext cx="2494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항목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7" name="Google Shape;877;p21"/>
          <p:cNvSpPr/>
          <p:nvPr/>
        </p:nvSpPr>
        <p:spPr>
          <a:xfrm>
            <a:off x="11983566" y="3687841"/>
            <a:ext cx="29484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수식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8" name="Google Shape;878;p21"/>
          <p:cNvSpPr/>
          <p:nvPr/>
        </p:nvSpPr>
        <p:spPr>
          <a:xfrm>
            <a:off x="14643100" y="3657600"/>
            <a:ext cx="2260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금액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79" name="Google Shape;879;p21"/>
          <p:cNvSpPr/>
          <p:nvPr/>
        </p:nvSpPr>
        <p:spPr>
          <a:xfrm>
            <a:off x="9296400" y="4075854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80" name="Google Shape;880;p21"/>
          <p:cNvSpPr/>
          <p:nvPr/>
        </p:nvSpPr>
        <p:spPr>
          <a:xfrm>
            <a:off x="9539288" y="4180318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스토어 수수료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81" name="Google Shape;881;p21"/>
          <p:cNvSpPr/>
          <p:nvPr/>
        </p:nvSpPr>
        <p:spPr>
          <a:xfrm>
            <a:off x="11988552" y="4180318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589,880원 × 20%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82" name="Google Shape;882;p21"/>
          <p:cNvSpPr/>
          <p:nvPr/>
        </p:nvSpPr>
        <p:spPr>
          <a:xfrm>
            <a:off x="14643100" y="4191000"/>
            <a:ext cx="2258802" cy="35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117,976원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83" name="Google Shape;883;p21"/>
          <p:cNvSpPr/>
          <p:nvPr/>
        </p:nvSpPr>
        <p:spPr>
          <a:xfrm>
            <a:off x="9296400" y="4678703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84" name="Google Shape;884;p21"/>
          <p:cNvSpPr/>
          <p:nvPr/>
        </p:nvSpPr>
        <p:spPr>
          <a:xfrm>
            <a:off x="9539288" y="4783168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인프라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85" name="Google Shape;885;p21"/>
          <p:cNvSpPr/>
          <p:nvPr/>
        </p:nvSpPr>
        <p:spPr>
          <a:xfrm>
            <a:off x="11988552" y="4783168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300만 원 ÷ 300몰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86" name="Google Shape;886;p21"/>
          <p:cNvSpPr/>
          <p:nvPr/>
        </p:nvSpPr>
        <p:spPr>
          <a:xfrm>
            <a:off x="14643100" y="4800600"/>
            <a:ext cx="2258802" cy="35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10,000원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87" name="Google Shape;887;p21"/>
          <p:cNvSpPr/>
          <p:nvPr/>
        </p:nvSpPr>
        <p:spPr>
          <a:xfrm>
            <a:off x="9296400" y="5281553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88" name="Google Shape;888;p21"/>
          <p:cNvSpPr/>
          <p:nvPr/>
        </p:nvSpPr>
        <p:spPr>
          <a:xfrm>
            <a:off x="9539288" y="5386017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CS · 운영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89" name="Google Shape;889;p21"/>
          <p:cNvSpPr/>
          <p:nvPr/>
        </p:nvSpPr>
        <p:spPr>
          <a:xfrm>
            <a:off x="11988552" y="5386017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몰당 월 고정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90" name="Google Shape;890;p21"/>
          <p:cNvSpPr/>
          <p:nvPr/>
        </p:nvSpPr>
        <p:spPr>
          <a:xfrm>
            <a:off x="14643100" y="5384800"/>
            <a:ext cx="2258802" cy="35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5,000원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91" name="Google Shape;891;p21"/>
          <p:cNvSpPr/>
          <p:nvPr/>
        </p:nvSpPr>
        <p:spPr>
          <a:xfrm>
            <a:off x="9296400" y="5884402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92" name="Google Shape;892;p21"/>
          <p:cNvSpPr/>
          <p:nvPr/>
        </p:nvSpPr>
        <p:spPr>
          <a:xfrm>
            <a:off x="9539288" y="5988867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카페24 API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93" name="Google Shape;893;p21"/>
          <p:cNvSpPr/>
          <p:nvPr/>
        </p:nvSpPr>
        <p:spPr>
          <a:xfrm>
            <a:off x="11988552" y="5988867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호출당 과금 없음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94" name="Google Shape;894;p21"/>
          <p:cNvSpPr/>
          <p:nvPr/>
        </p:nvSpPr>
        <p:spPr>
          <a:xfrm>
            <a:off x="14643100" y="5956300"/>
            <a:ext cx="2258802" cy="35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0원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95" name="Google Shape;895;p21"/>
          <p:cNvSpPr/>
          <p:nvPr/>
        </p:nvSpPr>
        <p:spPr>
          <a:xfrm>
            <a:off x="9296400" y="6487035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896" name="Google Shape;896;p21"/>
          <p:cNvSpPr/>
          <p:nvPr/>
        </p:nvSpPr>
        <p:spPr>
          <a:xfrm>
            <a:off x="9539288" y="6591716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비용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97" name="Google Shape;897;p21"/>
          <p:cNvSpPr/>
          <p:nvPr/>
        </p:nvSpPr>
        <p:spPr>
          <a:xfrm>
            <a:off x="11988552" y="6591716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위 네 항목의 합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98" name="Google Shape;898;p21"/>
          <p:cNvSpPr/>
          <p:nvPr/>
        </p:nvSpPr>
        <p:spPr>
          <a:xfrm>
            <a:off x="14643100" y="6540500"/>
            <a:ext cx="2258802" cy="35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132,976원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899" name="Google Shape;899;p21"/>
          <p:cNvSpPr/>
          <p:nvPr/>
        </p:nvSpPr>
        <p:spPr>
          <a:xfrm>
            <a:off x="9296400" y="7090101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0F3">
              <a:alpha val="96863"/>
            </a:srgbClr>
          </a:solidFill>
          <a:ln w="14275" cap="flat" cmpd="sng">
            <a:solidFill>
              <a:srgbClr val="FDAAC1">
                <a:alpha val="9686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9539288" y="7194566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공헌이익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01" name="Google Shape;901;p21"/>
          <p:cNvSpPr/>
          <p:nvPr/>
        </p:nvSpPr>
        <p:spPr>
          <a:xfrm>
            <a:off x="11988552" y="7194566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589,880원 − 132,976원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02" name="Google Shape;902;p21"/>
          <p:cNvSpPr/>
          <p:nvPr/>
        </p:nvSpPr>
        <p:spPr>
          <a:xfrm>
            <a:off x="14643100" y="7188200"/>
            <a:ext cx="2258802" cy="35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456,904원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03" name="Google Shape;903;p21"/>
          <p:cNvSpPr/>
          <p:nvPr/>
        </p:nvSpPr>
        <p:spPr>
          <a:xfrm>
            <a:off x="9296400" y="7692951"/>
            <a:ext cx="7848600" cy="543000"/>
          </a:xfrm>
          <a:prstGeom prst="roundRect">
            <a:avLst>
              <a:gd name="adj" fmla="val 14654"/>
            </a:avLst>
          </a:prstGeom>
          <a:solidFill>
            <a:srgbClr val="FFF0F3">
              <a:alpha val="96863"/>
            </a:srgbClr>
          </a:solidFill>
          <a:ln w="14275" cap="flat" cmpd="sng">
            <a:solidFill>
              <a:srgbClr val="FDAAC1">
                <a:alpha val="9686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04" name="Google Shape;904;p21"/>
          <p:cNvSpPr/>
          <p:nvPr/>
        </p:nvSpPr>
        <p:spPr>
          <a:xfrm>
            <a:off x="9539288" y="7797415"/>
            <a:ext cx="24846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공헌이익률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05" name="Google Shape;905;p21"/>
          <p:cNvSpPr/>
          <p:nvPr/>
        </p:nvSpPr>
        <p:spPr>
          <a:xfrm>
            <a:off x="11988552" y="7797415"/>
            <a:ext cx="29364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456,904원 ÷ 589,880원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06" name="Google Shape;906;p21"/>
          <p:cNvSpPr/>
          <p:nvPr/>
        </p:nvSpPr>
        <p:spPr>
          <a:xfrm>
            <a:off x="14643100" y="7823200"/>
            <a:ext cx="2258802" cy="35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r" rtl="0" eaLnBrk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77.5%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07" name="Google Shape;907;p21"/>
          <p:cNvSpPr/>
          <p:nvPr/>
        </p:nvSpPr>
        <p:spPr>
          <a:xfrm>
            <a:off x="1143000" y="8662164"/>
            <a:ext cx="17602200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1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모두 추정치 · 스토어 수수료 20%는 확인 전 가정 · 문자비는 판매자 카페24 충전분에서 차감</a:t>
            </a:r>
            <a:endParaRPr sz="21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08" name="Google Shape;908;p21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09" name="Google Shape;909;p21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20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10" name="Google Shape;910;p21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911" name="Google Shape;911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6504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2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18" name="Google Shape;918;p22"/>
          <p:cNvSpPr/>
          <p:nvPr/>
        </p:nvSpPr>
        <p:spPr>
          <a:xfrm>
            <a:off x="1404342" y="762000"/>
            <a:ext cx="18055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sz="18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r>
              <a:rPr lang="en-US" altLang="ko-KR" sz="185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4</a:t>
            </a:r>
            <a:r>
              <a:rPr lang="ko-KR" altLang="en-US" sz="18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-2 · </a:t>
            </a:r>
            <a:r>
              <a:rPr lang="ko-KR" altLang="en-US" sz="185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비즈니스 모델</a:t>
            </a:r>
            <a:endParaRPr sz="18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19" name="Google Shape;919;p22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객단가가 바뀌어도 공헌이익률은 75% 이상입니다</a:t>
            </a:r>
            <a:endParaRPr sz="3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20" name="Google Shape;920;p22"/>
          <p:cNvSpPr/>
          <p:nvPr/>
        </p:nvSpPr>
        <p:spPr>
          <a:xfrm>
            <a:off x="1143000" y="2148855"/>
            <a:ext cx="8784134" cy="6671370"/>
          </a:xfrm>
          <a:prstGeom prst="roundRect">
            <a:avLst>
              <a:gd name="adj" fmla="val 1428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21" name="Google Shape;921;p22"/>
          <p:cNvSpPr/>
          <p:nvPr/>
        </p:nvSpPr>
        <p:spPr>
          <a:xfrm>
            <a:off x="1423987" y="2467942"/>
            <a:ext cx="245559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객단가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22" name="Google Shape;922;p22"/>
          <p:cNvSpPr/>
          <p:nvPr/>
        </p:nvSpPr>
        <p:spPr>
          <a:xfrm>
            <a:off x="3917677" y="2467942"/>
            <a:ext cx="187136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ko-KR" alt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4만 원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23" name="Google Shape;923;p22"/>
          <p:cNvSpPr/>
          <p:nvPr/>
        </p:nvSpPr>
        <p:spPr>
          <a:xfrm>
            <a:off x="5827142" y="2296492"/>
            <a:ext cx="1947565" cy="1264741"/>
          </a:xfrm>
          <a:custGeom>
            <a:avLst/>
            <a:gdLst/>
            <a:ahLst/>
            <a:cxnLst/>
            <a:rect l="l" t="t" r="r" b="b"/>
            <a:pathLst>
              <a:path w="1947565" h="1264741" extrusionOk="0">
                <a:moveTo>
                  <a:pt x="76200" y="0"/>
                </a:moveTo>
                <a:lnTo>
                  <a:pt x="1871365" y="0"/>
                </a:lnTo>
                <a:cubicBezTo>
                  <a:pt x="1891574" y="0"/>
                  <a:pt x="1910956" y="8028"/>
                  <a:pt x="1925247" y="22318"/>
                </a:cubicBezTo>
                <a:cubicBezTo>
                  <a:pt x="1939537" y="36609"/>
                  <a:pt x="1947565" y="55991"/>
                  <a:pt x="1947565" y="76200"/>
                </a:cubicBezTo>
                <a:lnTo>
                  <a:pt x="1947565" y="1264741"/>
                </a:lnTo>
                <a:lnTo>
                  <a:pt x="0" y="1264741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DCD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24" name="Google Shape;924;p22"/>
          <p:cNvSpPr/>
          <p:nvPr/>
        </p:nvSpPr>
        <p:spPr>
          <a:xfrm>
            <a:off x="5865242" y="2467942"/>
            <a:ext cx="187136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ko-KR" alt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77,900원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25" name="Google Shape;925;p22"/>
          <p:cNvSpPr/>
          <p:nvPr/>
        </p:nvSpPr>
        <p:spPr>
          <a:xfrm>
            <a:off x="7812807" y="2467942"/>
            <a:ext cx="187136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ko-KR" altLang="en-US" sz="22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10만 원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26" name="Google Shape;926;p22"/>
          <p:cNvSpPr/>
          <p:nvPr/>
        </p:nvSpPr>
        <p:spPr>
          <a:xfrm>
            <a:off x="1347788" y="3561234"/>
            <a:ext cx="2531790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27" name="Google Shape;927;p22"/>
          <p:cNvSpPr/>
          <p:nvPr/>
        </p:nvSpPr>
        <p:spPr>
          <a:xfrm>
            <a:off x="1423987" y="3746971"/>
            <a:ext cx="2455590" cy="94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몰당 월 확정 결제액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28" name="Google Shape;928;p22"/>
          <p:cNvSpPr/>
          <p:nvPr/>
        </p:nvSpPr>
        <p:spPr>
          <a:xfrm>
            <a:off x="3879577" y="3561234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29" name="Google Shape;929;p22"/>
          <p:cNvSpPr/>
          <p:nvPr/>
        </p:nvSpPr>
        <p:spPr>
          <a:xfrm>
            <a:off x="3917677" y="3746971"/>
            <a:ext cx="1871365" cy="94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960만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30" name="Google Shape;930;p22"/>
          <p:cNvSpPr/>
          <p:nvPr/>
        </p:nvSpPr>
        <p:spPr>
          <a:xfrm>
            <a:off x="5827142" y="3561234"/>
            <a:ext cx="1947565" cy="1259979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31" name="Google Shape;931;p22"/>
          <p:cNvSpPr/>
          <p:nvPr/>
        </p:nvSpPr>
        <p:spPr>
          <a:xfrm>
            <a:off x="5827142" y="3561234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32" name="Google Shape;932;p22"/>
          <p:cNvSpPr/>
          <p:nvPr/>
        </p:nvSpPr>
        <p:spPr>
          <a:xfrm>
            <a:off x="5865242" y="3746971"/>
            <a:ext cx="1871365" cy="94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1,870만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33" name="Google Shape;933;p22"/>
          <p:cNvSpPr/>
          <p:nvPr/>
        </p:nvSpPr>
        <p:spPr>
          <a:xfrm>
            <a:off x="7774707" y="3561234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34" name="Google Shape;934;p22"/>
          <p:cNvSpPr/>
          <p:nvPr/>
        </p:nvSpPr>
        <p:spPr>
          <a:xfrm>
            <a:off x="7812807" y="3746971"/>
            <a:ext cx="1871365" cy="94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2,400만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35" name="Google Shape;935;p22"/>
          <p:cNvSpPr/>
          <p:nvPr/>
        </p:nvSpPr>
        <p:spPr>
          <a:xfrm>
            <a:off x="1347788" y="4821213"/>
            <a:ext cx="2531790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36" name="Google Shape;936;p22"/>
          <p:cNvSpPr/>
          <p:nvPr/>
        </p:nvSpPr>
        <p:spPr>
          <a:xfrm>
            <a:off x="1423987" y="5006950"/>
            <a:ext cx="2455590" cy="92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우리 매출 / 월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37" name="Google Shape;937;p22"/>
          <p:cNvSpPr/>
          <p:nvPr/>
        </p:nvSpPr>
        <p:spPr>
          <a:xfrm>
            <a:off x="3879577" y="4821213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38" name="Google Shape;938;p22"/>
          <p:cNvSpPr/>
          <p:nvPr/>
        </p:nvSpPr>
        <p:spPr>
          <a:xfrm>
            <a:off x="3917677" y="5006950"/>
            <a:ext cx="1871365" cy="92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317,000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39" name="Google Shape;939;p22"/>
          <p:cNvSpPr/>
          <p:nvPr/>
        </p:nvSpPr>
        <p:spPr>
          <a:xfrm>
            <a:off x="5827142" y="4821213"/>
            <a:ext cx="1947565" cy="1240929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40" name="Google Shape;940;p22"/>
          <p:cNvSpPr/>
          <p:nvPr/>
        </p:nvSpPr>
        <p:spPr>
          <a:xfrm>
            <a:off x="5827142" y="4821213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41" name="Google Shape;941;p22"/>
          <p:cNvSpPr/>
          <p:nvPr/>
        </p:nvSpPr>
        <p:spPr>
          <a:xfrm>
            <a:off x="5865242" y="5006950"/>
            <a:ext cx="1871365" cy="92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589,880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42" name="Google Shape;942;p22"/>
          <p:cNvSpPr/>
          <p:nvPr/>
        </p:nvSpPr>
        <p:spPr>
          <a:xfrm>
            <a:off x="7774707" y="4821213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43" name="Google Shape;943;p22"/>
          <p:cNvSpPr/>
          <p:nvPr/>
        </p:nvSpPr>
        <p:spPr>
          <a:xfrm>
            <a:off x="7812807" y="5006950"/>
            <a:ext cx="1871365" cy="92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749,000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44" name="Google Shape;944;p22"/>
          <p:cNvSpPr/>
          <p:nvPr/>
        </p:nvSpPr>
        <p:spPr>
          <a:xfrm>
            <a:off x="1347788" y="6062142"/>
            <a:ext cx="2531790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45" name="Google Shape;945;p22"/>
          <p:cNvSpPr/>
          <p:nvPr/>
        </p:nvSpPr>
        <p:spPr>
          <a:xfrm>
            <a:off x="1423987" y="6247879"/>
            <a:ext cx="2455590" cy="92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공헌이익 / 월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46" name="Google Shape;946;p22"/>
          <p:cNvSpPr/>
          <p:nvPr/>
        </p:nvSpPr>
        <p:spPr>
          <a:xfrm>
            <a:off x="3879577" y="6062142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47" name="Google Shape;947;p22"/>
          <p:cNvSpPr/>
          <p:nvPr/>
        </p:nvSpPr>
        <p:spPr>
          <a:xfrm>
            <a:off x="3917677" y="6247879"/>
            <a:ext cx="1871365" cy="92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238,600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48" name="Google Shape;948;p22"/>
          <p:cNvSpPr/>
          <p:nvPr/>
        </p:nvSpPr>
        <p:spPr>
          <a:xfrm>
            <a:off x="5827142" y="6062142"/>
            <a:ext cx="1947565" cy="1240929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49" name="Google Shape;949;p22"/>
          <p:cNvSpPr/>
          <p:nvPr/>
        </p:nvSpPr>
        <p:spPr>
          <a:xfrm>
            <a:off x="5827142" y="6062142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50" name="Google Shape;950;p22"/>
          <p:cNvSpPr/>
          <p:nvPr/>
        </p:nvSpPr>
        <p:spPr>
          <a:xfrm>
            <a:off x="5865242" y="6247879"/>
            <a:ext cx="1871365" cy="92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456,904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51" name="Google Shape;951;p22"/>
          <p:cNvSpPr/>
          <p:nvPr/>
        </p:nvSpPr>
        <p:spPr>
          <a:xfrm>
            <a:off x="7774707" y="6062142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52" name="Google Shape;952;p22"/>
          <p:cNvSpPr/>
          <p:nvPr/>
        </p:nvSpPr>
        <p:spPr>
          <a:xfrm>
            <a:off x="7812807" y="6247879"/>
            <a:ext cx="1871365" cy="92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584,200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53" name="Google Shape;953;p22"/>
          <p:cNvSpPr/>
          <p:nvPr/>
        </p:nvSpPr>
        <p:spPr>
          <a:xfrm>
            <a:off x="1347788" y="7303071"/>
            <a:ext cx="2531790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54" name="Google Shape;954;p22"/>
          <p:cNvSpPr/>
          <p:nvPr/>
        </p:nvSpPr>
        <p:spPr>
          <a:xfrm>
            <a:off x="1423987" y="7488808"/>
            <a:ext cx="2455590" cy="105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공헌이익률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55" name="Google Shape;955;p22"/>
          <p:cNvSpPr/>
          <p:nvPr/>
        </p:nvSpPr>
        <p:spPr>
          <a:xfrm>
            <a:off x="3879577" y="7303071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56" name="Google Shape;956;p22"/>
          <p:cNvSpPr/>
          <p:nvPr/>
        </p:nvSpPr>
        <p:spPr>
          <a:xfrm>
            <a:off x="3917677" y="7488808"/>
            <a:ext cx="1871365" cy="105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75%</a:t>
            </a:r>
            <a:endParaRPr sz="3000" b="0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57" name="Google Shape;957;p22"/>
          <p:cNvSpPr/>
          <p:nvPr/>
        </p:nvSpPr>
        <p:spPr>
          <a:xfrm>
            <a:off x="5827142" y="7303071"/>
            <a:ext cx="1947565" cy="1369516"/>
          </a:xfrm>
          <a:custGeom>
            <a:avLst/>
            <a:gdLst/>
            <a:ahLst/>
            <a:cxnLst/>
            <a:rect l="l" t="t" r="r" b="b"/>
            <a:pathLst>
              <a:path w="1947565" h="1369516" extrusionOk="0">
                <a:moveTo>
                  <a:pt x="0" y="0"/>
                </a:moveTo>
                <a:lnTo>
                  <a:pt x="1947565" y="0"/>
                </a:lnTo>
                <a:lnTo>
                  <a:pt x="1947565" y="1293316"/>
                </a:lnTo>
                <a:cubicBezTo>
                  <a:pt x="1947565" y="1335400"/>
                  <a:pt x="1913449" y="1369516"/>
                  <a:pt x="1871365" y="1369516"/>
                </a:cubicBezTo>
                <a:lnTo>
                  <a:pt x="76200" y="1369516"/>
                </a:lnTo>
                <a:cubicBezTo>
                  <a:pt x="34116" y="1369516"/>
                  <a:pt x="0" y="1335400"/>
                  <a:pt x="0" y="1293316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58" name="Google Shape;958;p22"/>
          <p:cNvSpPr/>
          <p:nvPr/>
        </p:nvSpPr>
        <p:spPr>
          <a:xfrm>
            <a:off x="5827142" y="7303071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59" name="Google Shape;959;p22"/>
          <p:cNvSpPr/>
          <p:nvPr/>
        </p:nvSpPr>
        <p:spPr>
          <a:xfrm>
            <a:off x="5865242" y="7488808"/>
            <a:ext cx="1871365" cy="105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C1C1F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77%</a:t>
            </a:r>
            <a:endParaRPr sz="3000" b="0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60" name="Google Shape;960;p22"/>
          <p:cNvSpPr/>
          <p:nvPr/>
        </p:nvSpPr>
        <p:spPr>
          <a:xfrm>
            <a:off x="7774707" y="7303071"/>
            <a:ext cx="1947565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61" name="Google Shape;961;p22"/>
          <p:cNvSpPr/>
          <p:nvPr/>
        </p:nvSpPr>
        <p:spPr>
          <a:xfrm>
            <a:off x="7812807" y="7488808"/>
            <a:ext cx="1871365" cy="105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78%</a:t>
            </a:r>
            <a:endParaRPr sz="3000" b="0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62" name="Google Shape;962;p22"/>
          <p:cNvSpPr/>
          <p:nvPr/>
        </p:nvSpPr>
        <p:spPr>
          <a:xfrm>
            <a:off x="10117634" y="2149948"/>
            <a:ext cx="7027366" cy="6671370"/>
          </a:xfrm>
          <a:prstGeom prst="roundRect">
            <a:avLst>
              <a:gd name="adj" fmla="val 1428"/>
            </a:avLst>
          </a:prstGeom>
          <a:solidFill>
            <a:srgbClr val="FFF0F3">
              <a:alpha val="98824"/>
            </a:srgbClr>
          </a:solidFill>
          <a:ln w="14275" cap="flat" cmpd="sng">
            <a:solidFill>
              <a:srgbClr val="FDAAC1">
                <a:alpha val="98824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63" name="Google Shape;963;p22"/>
          <p:cNvSpPr/>
          <p:nvPr/>
        </p:nvSpPr>
        <p:spPr>
          <a:xfrm>
            <a:off x="10474821" y="2469036"/>
            <a:ext cx="6944291" cy="45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550"/>
              <a:buFont typeface="Arial"/>
              <a:buNone/>
            </a:pPr>
            <a:r>
              <a:rPr lang="ko-KR" altLang="en-US" sz="2550" b="1" i="0" u="none" strike="noStrike" cap="none" spc="-25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판매자의 진짜 비용은 할인</a:t>
            </a:r>
            <a:endParaRPr sz="25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64" name="Google Shape;964;p22"/>
          <p:cNvSpPr/>
          <p:nvPr/>
        </p:nvSpPr>
        <p:spPr>
          <a:xfrm>
            <a:off x="10474821" y="3023346"/>
            <a:ext cx="6502381" cy="80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1,870만 원 10% 할인 시 할인액 약 208만 원 </a:t>
            </a:r>
            <a:endParaRPr lang="en-US" altLang="ko-KR" sz="195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= 앱 비용(약 67만 원)의 3배</a:t>
            </a:r>
            <a:endParaRPr sz="19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65" name="Google Shape;965;p22"/>
          <p:cNvSpPr/>
          <p:nvPr/>
        </p:nvSpPr>
        <p:spPr>
          <a:xfrm>
            <a:off x="10474821" y="3924352"/>
            <a:ext cx="6502381" cy="80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</a:t>
            </a:r>
            <a:r>
              <a:rPr lang="ko-KR" altLang="en-US" sz="19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할인 폭은 0%부터 판매자가 선택 </a:t>
            </a:r>
            <a:endParaRPr lang="en-US" altLang="ko-KR" sz="195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  </a:t>
            </a: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</a:t>
            </a:r>
            <a:r>
              <a:rPr lang="ko-KR" altLang="en-US" sz="195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적립금·사은품·우선</a:t>
            </a: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발송도 가능</a:t>
            </a:r>
            <a:endParaRPr sz="19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66" name="Google Shape;966;p22"/>
          <p:cNvSpPr/>
          <p:nvPr/>
        </p:nvSpPr>
        <p:spPr>
          <a:xfrm>
            <a:off x="10474821" y="7863162"/>
            <a:ext cx="6312991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67" name="Google Shape;967;p22"/>
          <p:cNvSpPr/>
          <p:nvPr/>
        </p:nvSpPr>
        <p:spPr>
          <a:xfrm>
            <a:off x="10474821" y="8048900"/>
            <a:ext cx="6502381" cy="49143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550"/>
              <a:buFont typeface="Arial"/>
              <a:buNone/>
            </a:pPr>
            <a:r>
              <a:rPr lang="ko-KR" altLang="en-US" sz="25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“팔릴 만큼만 할인하고,팔린 만큼만 만든다”</a:t>
            </a:r>
            <a:endParaRPr sz="25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68" name="Google Shape;968;p22"/>
          <p:cNvSpPr/>
          <p:nvPr/>
        </p:nvSpPr>
        <p:spPr>
          <a:xfrm>
            <a:off x="1143000" y="9029700"/>
            <a:ext cx="17602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스타터 · 신청 전환 10% · 객단가 77,900원 = 와디즈 홈·리빙 1,134개 평균 · 스토어 수수료 20% 가정 [추정]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69" name="Google Shape;969;p22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70" name="Google Shape;970;p22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21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71" name="Google Shape;971;p22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972" name="Google Shape;972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9515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3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79" name="Google Shape;979;p23"/>
          <p:cNvSpPr/>
          <p:nvPr/>
        </p:nvSpPr>
        <p:spPr>
          <a:xfrm>
            <a:off x="1404342" y="762000"/>
            <a:ext cx="148772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5</a:t>
            </a:r>
            <a:r>
              <a:rPr 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· 검증 계획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80" name="Google Shape;980;p23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파일럿에서 세 가지 가설을 확인합니다</a:t>
            </a:r>
            <a:endParaRPr sz="3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81" name="Google Shape;981;p23"/>
          <p:cNvSpPr/>
          <p:nvPr/>
        </p:nvSpPr>
        <p:spPr>
          <a:xfrm>
            <a:off x="922512" y="2149402"/>
            <a:ext cx="6728296" cy="7223820"/>
          </a:xfrm>
          <a:prstGeom prst="roundRect">
            <a:avLst>
              <a:gd name="adj" fmla="val 1416"/>
            </a:avLst>
          </a:prstGeom>
          <a:solidFill>
            <a:srgbClr val="FFF0F3"/>
          </a:solidFill>
          <a:ln w="14275" cap="flat" cmpd="sng">
            <a:solidFill>
              <a:srgbClr val="FDAA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82" name="Google Shape;982;p23"/>
          <p:cNvSpPr/>
          <p:nvPr/>
        </p:nvSpPr>
        <p:spPr>
          <a:xfrm>
            <a:off x="1264662" y="2807393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83" name="Google Shape;983;p23"/>
          <p:cNvSpPr/>
          <p:nvPr/>
        </p:nvSpPr>
        <p:spPr>
          <a:xfrm>
            <a:off x="1474212" y="2701374"/>
            <a:ext cx="3367804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400" b="1" i="0" u="none" strike="noStrike" cap="none" spc="36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북극성 지표</a:t>
            </a:r>
            <a:endParaRPr sz="24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84" name="Google Shape;984;p23"/>
          <p:cNvSpPr/>
          <p:nvPr/>
        </p:nvSpPr>
        <p:spPr>
          <a:xfrm>
            <a:off x="1249865" y="7428291"/>
            <a:ext cx="6447600" cy="956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1044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4800"/>
              <a:buFont typeface="Arial"/>
              <a:buNone/>
            </a:pPr>
            <a:r>
              <a:rPr lang="ko-KR" altLang="en-US" sz="4800" i="0" u="none" strike="noStrike" cap="none" spc="-150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월간 공구 확정 결제액</a:t>
            </a:r>
            <a:endParaRPr sz="4800" i="0" u="none" strike="noStrike" cap="none" spc="-150" dirty="0">
              <a:solidFill>
                <a:srgbClr val="E94162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85" name="Google Shape;985;p23"/>
          <p:cNvSpPr/>
          <p:nvPr/>
        </p:nvSpPr>
        <p:spPr>
          <a:xfrm>
            <a:off x="1312287" y="8410399"/>
            <a:ext cx="6447673" cy="42192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판매자 성과와 우리 매출이 함께 움직임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86" name="Google Shape;986;p23"/>
          <p:cNvSpPr/>
          <p:nvPr/>
        </p:nvSpPr>
        <p:spPr>
          <a:xfrm>
            <a:off x="8061796" y="2149592"/>
            <a:ext cx="9083204" cy="2306315"/>
          </a:xfrm>
          <a:prstGeom prst="roundRect">
            <a:avLst>
              <a:gd name="adj" fmla="val 4130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87" name="Google Shape;987;p23"/>
          <p:cNvSpPr/>
          <p:nvPr/>
        </p:nvSpPr>
        <p:spPr>
          <a:xfrm>
            <a:off x="8380884" y="2904597"/>
            <a:ext cx="933450" cy="4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4902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300"/>
              <a:buFont typeface="Arial"/>
              <a:buNone/>
            </a:pPr>
            <a:r>
              <a:rPr lang="en-US" sz="3300" b="1" i="0" u="none" strike="noStrike" cap="none" spc="-66" dirty="0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E1</a:t>
            </a:r>
            <a:endParaRPr sz="3300" b="0" i="0" u="none" strike="noStrike" cap="none" dirty="0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88" name="Google Shape;988;p23"/>
          <p:cNvSpPr/>
          <p:nvPr/>
        </p:nvSpPr>
        <p:spPr>
          <a:xfrm>
            <a:off x="9428634" y="2904597"/>
            <a:ext cx="813700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고객은 결제 없는 신청을 누른다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89" name="Google Shape;989;p23"/>
          <p:cNvSpPr/>
          <p:nvPr/>
        </p:nvSpPr>
        <p:spPr>
          <a:xfrm>
            <a:off x="9428634" y="3415078"/>
            <a:ext cx="93069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성공 기준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90" name="Google Shape;990;p23"/>
          <p:cNvSpPr/>
          <p:nvPr/>
        </p:nvSpPr>
        <p:spPr>
          <a:xfrm>
            <a:off x="10416480" y="3396028"/>
            <a:ext cx="460780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신청 전환 5% 이상, 공구 성사율 60% 이상</a:t>
            </a:r>
            <a:endParaRPr sz="18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91" name="Google Shape;991;p23"/>
          <p:cNvSpPr/>
          <p:nvPr/>
        </p:nvSpPr>
        <p:spPr>
          <a:xfrm>
            <a:off x="8061796" y="4610839"/>
            <a:ext cx="9083204" cy="2306389"/>
          </a:xfrm>
          <a:prstGeom prst="roundRect">
            <a:avLst>
              <a:gd name="adj" fmla="val 4130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92" name="Google Shape;992;p23"/>
          <p:cNvSpPr/>
          <p:nvPr/>
        </p:nvSpPr>
        <p:spPr>
          <a:xfrm>
            <a:off x="8380884" y="5365918"/>
            <a:ext cx="933450" cy="4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4902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300"/>
              <a:buFont typeface="Arial"/>
              <a:buNone/>
            </a:pPr>
            <a:r>
              <a:rPr lang="en-US" sz="3300" b="1" i="0" u="none" strike="noStrike" cap="none" spc="-66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E2</a:t>
            </a:r>
            <a:endParaRPr sz="3300" b="0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93" name="Google Shape;993;p23"/>
          <p:cNvSpPr/>
          <p:nvPr/>
        </p:nvSpPr>
        <p:spPr>
          <a:xfrm>
            <a:off x="9428634" y="5365918"/>
            <a:ext cx="813700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신청자는 기한 안에 결제한다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94" name="Google Shape;994;p23"/>
          <p:cNvSpPr/>
          <p:nvPr/>
        </p:nvSpPr>
        <p:spPr>
          <a:xfrm>
            <a:off x="9428634" y="5876399"/>
            <a:ext cx="93069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성공 기준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95" name="Google Shape;995;p23"/>
          <p:cNvSpPr/>
          <p:nvPr/>
        </p:nvSpPr>
        <p:spPr>
          <a:xfrm>
            <a:off x="10416480" y="5857349"/>
            <a:ext cx="358305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72시간 안에 결제 전환 50% 이상</a:t>
            </a:r>
            <a:endParaRPr sz="18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96" name="Google Shape;996;p23"/>
          <p:cNvSpPr/>
          <p:nvPr/>
        </p:nvSpPr>
        <p:spPr>
          <a:xfrm>
            <a:off x="8061796" y="7075157"/>
            <a:ext cx="9083204" cy="2306315"/>
          </a:xfrm>
          <a:prstGeom prst="roundRect">
            <a:avLst>
              <a:gd name="adj" fmla="val 4130"/>
            </a:avLst>
          </a:prstGeom>
          <a:solidFill>
            <a:srgbClr val="FFFFFF">
              <a:alpha val="92941"/>
            </a:srgbClr>
          </a:solidFill>
          <a:ln w="14275" cap="flat" cmpd="sng">
            <a:solidFill>
              <a:srgbClr val="1C1C1F">
                <a:alpha val="1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997" name="Google Shape;997;p23"/>
          <p:cNvSpPr/>
          <p:nvPr/>
        </p:nvSpPr>
        <p:spPr>
          <a:xfrm>
            <a:off x="8380884" y="7830162"/>
            <a:ext cx="933450" cy="4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94902"/>
              </a:lnSpc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300"/>
              <a:buFont typeface="Arial"/>
              <a:buNone/>
            </a:pPr>
            <a:r>
              <a:rPr lang="en-US" sz="3300" b="1" i="0" u="none" strike="noStrike" cap="none" spc="-66">
                <a:solidFill>
                  <a:srgbClr val="E94162"/>
                </a:solidFill>
                <a:latin typeface="KoreanSWGI2R" panose="02020600000000000000" pitchFamily="18" charset="-127"/>
                <a:ea typeface="KoreanSWGI2R" panose="02020600000000000000" pitchFamily="18" charset="-127"/>
                <a:sym typeface="Arial"/>
              </a:rPr>
              <a:t>E3</a:t>
            </a:r>
            <a:endParaRPr sz="3300" b="0" i="0" u="none" strike="noStrike" cap="none">
              <a:solidFill>
                <a:schemeClr val="dk1"/>
              </a:solidFill>
              <a:latin typeface="KoreanSWGI2R" panose="02020600000000000000" pitchFamily="18" charset="-127"/>
              <a:ea typeface="KoreanSWGI2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98" name="Google Shape;998;p23"/>
          <p:cNvSpPr/>
          <p:nvPr/>
        </p:nvSpPr>
        <p:spPr>
          <a:xfrm>
            <a:off x="9428634" y="7830162"/>
            <a:ext cx="813700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400" b="1" i="0" u="none" strike="noStrike" cap="none" spc="-24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판매자는 돈을 낸다</a:t>
            </a:r>
            <a:endParaRPr sz="24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999" name="Google Shape;999;p23"/>
          <p:cNvSpPr/>
          <p:nvPr/>
        </p:nvSpPr>
        <p:spPr>
          <a:xfrm>
            <a:off x="9428634" y="8340643"/>
            <a:ext cx="93069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성공 기준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00" name="Google Shape;1000;p23"/>
          <p:cNvSpPr/>
          <p:nvPr/>
        </p:nvSpPr>
        <p:spPr>
          <a:xfrm>
            <a:off x="10416480" y="8321593"/>
            <a:ext cx="35848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파일럿 10곳 중 곳 이상 유료 전환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01" name="Google Shape;1001;p23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02" name="Google Shape;1002;p23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22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03" name="Google Shape;1003;p23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1004" name="Google Shape;1004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D2D38EE-E4E9-86DC-D844-71733CA1A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710" y="3553941"/>
            <a:ext cx="3055161" cy="305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48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1404342" y="762000"/>
            <a:ext cx="15633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16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돈의 흐름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고객의 돈은 판매자에게 바로 갑니다</a:t>
            </a:r>
            <a:endParaRPr sz="39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143000" y="2148795"/>
            <a:ext cx="7905750" cy="3410757"/>
          </a:xfrm>
          <a:prstGeom prst="roundRect">
            <a:avLst>
              <a:gd name="adj" fmla="val 1913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1500188" y="2558369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1690688" y="2472644"/>
            <a:ext cx="2101304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55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고객이 내는 상품 대금</a:t>
            </a:r>
            <a:endParaRPr sz="15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1500188" y="3048907"/>
            <a:ext cx="1098872" cy="714375"/>
          </a:xfrm>
          <a:prstGeom prst="roundRect">
            <a:avLst>
              <a:gd name="adj" fmla="val 10667"/>
            </a:avLst>
          </a:prstGeom>
          <a:solidFill>
            <a:srgbClr val="FF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1785938" y="3220357"/>
            <a:ext cx="6035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15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고객</a:t>
            </a:r>
            <a:endParaRPr sz="21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2713360" y="3163207"/>
            <a:ext cx="4953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</a:t>
            </a:r>
            <a:endParaRPr sz="3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3322960" y="3048907"/>
            <a:ext cx="2850133" cy="714375"/>
          </a:xfrm>
          <a:prstGeom prst="roundRect">
            <a:avLst>
              <a:gd name="adj" fmla="val 10667"/>
            </a:avLst>
          </a:prstGeom>
          <a:solidFill>
            <a:srgbClr val="1C1C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3608710" y="3220357"/>
            <a:ext cx="236413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ko-KR" altLang="en-US" sz="2050" b="1" i="0" u="none" strike="noStrike" cap="none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판매자 </a:t>
            </a:r>
            <a:r>
              <a:rPr lang="ko-KR" altLang="en-US" sz="2050" b="1" i="0" u="none" strike="noStrike" cap="none" dirty="0" err="1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자사몰</a:t>
            </a:r>
            <a:r>
              <a:rPr lang="ko-KR" altLang="en-US" sz="2050" b="1" i="0" u="none" strike="noStrike" cap="none" dirty="0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결제</a:t>
            </a:r>
            <a:endParaRPr sz="20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500188" y="4068082"/>
            <a:ext cx="7910512" cy="42192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쿠폰 적용 후 판매자 몰에서 직접 결제</a:t>
            </a:r>
            <a:endParaRPr sz="2400" b="1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9239250" y="2149591"/>
            <a:ext cx="7905750" cy="3409961"/>
          </a:xfrm>
          <a:prstGeom prst="roundRect">
            <a:avLst>
              <a:gd name="adj" fmla="val 1913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9596438" y="2559166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9786938" y="2473441"/>
            <a:ext cx="1426294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우리가 받는 돈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9596438" y="3049703"/>
            <a:ext cx="1362521" cy="714375"/>
          </a:xfrm>
          <a:prstGeom prst="roundRect">
            <a:avLst>
              <a:gd name="adj" fmla="val 10667"/>
            </a:avLst>
          </a:prstGeom>
          <a:solidFill>
            <a:srgbClr val="FFF0F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9882188" y="3221153"/>
            <a:ext cx="86722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판매자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11073259" y="3164003"/>
            <a:ext cx="4953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</a:t>
            </a:r>
            <a:endParaRPr sz="3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11682859" y="3049703"/>
            <a:ext cx="2313533" cy="714375"/>
          </a:xfrm>
          <a:prstGeom prst="roundRect">
            <a:avLst>
              <a:gd name="adj" fmla="val 10667"/>
            </a:avLst>
          </a:prstGeom>
          <a:solidFill>
            <a:srgbClr val="FFF0F3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11968609" y="3221153"/>
            <a:ext cx="181823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40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카페24 스토어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14110692" y="3164003"/>
            <a:ext cx="4953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→</a:t>
            </a:r>
            <a:endParaRPr sz="3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14720292" y="3049703"/>
            <a:ext cx="1447205" cy="714375"/>
          </a:xfrm>
          <a:prstGeom prst="roundRect">
            <a:avLst>
              <a:gd name="adj" fmla="val 10667"/>
            </a:avLst>
          </a:prstGeom>
          <a:solidFill>
            <a:srgbClr val="1C1C1F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5006042" y="3221153"/>
            <a:ext cx="95190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ko-KR" altLang="en-US" sz="2100" b="1" i="0" u="none" strike="noStrike" cap="none">
                <a:solidFill>
                  <a:srgbClr val="FFFFF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공구</a:t>
            </a:r>
            <a:endParaRPr sz="21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9596438" y="4068878"/>
            <a:ext cx="7910512" cy="42192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4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월 구독료 + 확정 결제액 3% (카페24 인앱결제)</a:t>
            </a:r>
            <a:endParaRPr sz="2400" b="1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1143000" y="6267821"/>
            <a:ext cx="16002000" cy="2580051"/>
          </a:xfrm>
          <a:prstGeom prst="roundRect">
            <a:avLst>
              <a:gd name="adj" fmla="val 4680"/>
            </a:avLst>
          </a:prstGeom>
          <a:solidFill>
            <a:srgbClr val="FFF0F3">
              <a:alpha val="96863"/>
            </a:srgbClr>
          </a:solidFill>
          <a:ln w="14275" cap="flat" cmpd="sng">
            <a:solidFill>
              <a:srgbClr val="FDAAC1">
                <a:alpha val="96863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softEdge rad="12700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1500188" y="680239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1690688" y="6716670"/>
            <a:ext cx="1426294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spc="36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그래서 좋은 점</a:t>
            </a:r>
            <a:endParaRPr sz="16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1500188" y="7203267"/>
            <a:ext cx="16816388" cy="50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285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결제금을 받지 않아 PG·전자금융업 등록 불필요</a:t>
            </a:r>
            <a:endParaRPr sz="28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1547813" y="7996787"/>
            <a:ext cx="16816388" cy="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고객 전화번호 미저장 · 카페24 문자 API가 회원 ID로 발송, 수신거부자 자동 제외</a:t>
            </a:r>
            <a:endParaRPr sz="19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23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450" name="Google Shape;450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4510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4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11" name="Google Shape;1011;p24"/>
          <p:cNvSpPr/>
          <p:nvPr/>
        </p:nvSpPr>
        <p:spPr>
          <a:xfrm>
            <a:off x="1404342" y="762000"/>
            <a:ext cx="214035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7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4주 MVP 목표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12" name="Google Shape;1012;p24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이번 4주의 </a:t>
            </a:r>
            <a:r>
              <a:rPr lang="ko-KR" altLang="en-US" sz="3900" b="1" spc="-78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핵심 목표와</a:t>
            </a:r>
            <a:r>
              <a:rPr lang="ko-KR" altLang="en-US" sz="3900" b="1" i="0" u="none" strike="noStrike" cap="none" spc="-78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성공 기준</a:t>
            </a:r>
            <a:endParaRPr sz="3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13" name="Google Shape;1013;p24"/>
          <p:cNvSpPr/>
          <p:nvPr/>
        </p:nvSpPr>
        <p:spPr>
          <a:xfrm>
            <a:off x="1143000" y="2148795"/>
            <a:ext cx="16002000" cy="1057200"/>
          </a:xfrm>
          <a:prstGeom prst="roundRect">
            <a:avLst>
              <a:gd name="adj" fmla="val 9009"/>
            </a:avLst>
          </a:prstGeom>
          <a:solidFill>
            <a:srgbClr val="FFF0F3"/>
          </a:solidFill>
          <a:ln w="14275" cap="flat" cmpd="sng">
            <a:solidFill>
              <a:srgbClr val="FDAA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14" name="Google Shape;1014;p24"/>
          <p:cNvSpPr/>
          <p:nvPr/>
        </p:nvSpPr>
        <p:spPr>
          <a:xfrm>
            <a:off x="1500188" y="264336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15" name="Google Shape;1015;p24"/>
          <p:cNvSpPr/>
          <p:nvPr/>
        </p:nvSpPr>
        <p:spPr>
          <a:xfrm>
            <a:off x="1690700" y="2451100"/>
            <a:ext cx="1651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800" b="1" spc="36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핵심목표</a:t>
            </a:r>
            <a:endParaRPr sz="2800" b="1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16" name="Google Shape;1016;p24"/>
          <p:cNvSpPr/>
          <p:nvPr/>
        </p:nvSpPr>
        <p:spPr>
          <a:xfrm>
            <a:off x="3544699" y="2410695"/>
            <a:ext cx="1509807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000"/>
              <a:buFont typeface="Arial"/>
              <a:buNone/>
            </a:pPr>
            <a:r>
              <a:rPr lang="ko-KR" altLang="en-US" sz="30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확정 수량으로 생산을 결정한 </a:t>
            </a:r>
            <a:r>
              <a:rPr lang="ko-KR" altLang="en-US" sz="30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홈리빙</a:t>
            </a:r>
            <a:r>
              <a:rPr lang="ko-KR" altLang="en-US" sz="30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판매자 1곳</a:t>
            </a:r>
            <a:endParaRPr sz="3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17" name="Google Shape;1017;p24"/>
          <p:cNvSpPr/>
          <p:nvPr/>
        </p:nvSpPr>
        <p:spPr>
          <a:xfrm>
            <a:off x="1342950" y="3744063"/>
            <a:ext cx="25146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지표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18" name="Google Shape;1018;p24"/>
          <p:cNvSpPr/>
          <p:nvPr/>
        </p:nvSpPr>
        <p:spPr>
          <a:xfrm>
            <a:off x="3819450" y="3744063"/>
            <a:ext cx="110223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정의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19" name="Google Shape;1019;p24"/>
          <p:cNvSpPr/>
          <p:nvPr/>
        </p:nvSpPr>
        <p:spPr>
          <a:xfrm>
            <a:off x="14030250" y="3744063"/>
            <a:ext cx="31434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성공 기준 (28일 차)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24" name="Google Shape;1024;p24"/>
          <p:cNvSpPr/>
          <p:nvPr/>
        </p:nvSpPr>
        <p:spPr>
          <a:xfrm>
            <a:off x="1114350" y="4344677"/>
            <a:ext cx="16002000" cy="736800"/>
          </a:xfrm>
          <a:prstGeom prst="roundRect">
            <a:avLst>
              <a:gd name="adj" fmla="val 11397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25" name="Google Shape;1025;p24"/>
          <p:cNvSpPr/>
          <p:nvPr/>
        </p:nvSpPr>
        <p:spPr>
          <a:xfrm>
            <a:off x="1357238" y="4529366"/>
            <a:ext cx="2514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파일럿 규모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26" name="Google Shape;1026;p24"/>
          <p:cNvSpPr/>
          <p:nvPr/>
        </p:nvSpPr>
        <p:spPr>
          <a:xfrm>
            <a:off x="3833737" y="4529366"/>
            <a:ext cx="10990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설치한 홈리빙 몰 · 연 공구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27" name="Google Shape;1027;p24"/>
          <p:cNvSpPr/>
          <p:nvPr/>
        </p:nvSpPr>
        <p:spPr>
          <a:xfrm>
            <a:off x="14015963" y="4507387"/>
            <a:ext cx="31434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3몰 · 3건 이상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28" name="Google Shape;1028;p24"/>
          <p:cNvSpPr/>
          <p:nvPr/>
        </p:nvSpPr>
        <p:spPr>
          <a:xfrm>
            <a:off x="1114350" y="5165528"/>
            <a:ext cx="16002000" cy="736800"/>
          </a:xfrm>
          <a:prstGeom prst="roundRect">
            <a:avLst>
              <a:gd name="adj" fmla="val 11397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29" name="Google Shape;1029;p24"/>
          <p:cNvSpPr/>
          <p:nvPr/>
        </p:nvSpPr>
        <p:spPr>
          <a:xfrm>
            <a:off x="1357238" y="5350219"/>
            <a:ext cx="2514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공구 성사율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30" name="Google Shape;1030;p24"/>
          <p:cNvSpPr/>
          <p:nvPr/>
        </p:nvSpPr>
        <p:spPr>
          <a:xfrm>
            <a:off x="3833737" y="5350219"/>
            <a:ext cx="10990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목표 달성 ÷ 개설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31" name="Google Shape;1031;p24"/>
          <p:cNvSpPr/>
          <p:nvPr/>
        </p:nvSpPr>
        <p:spPr>
          <a:xfrm>
            <a:off x="14015963" y="5328239"/>
            <a:ext cx="31434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60% 이상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32" name="Google Shape;1032;p24"/>
          <p:cNvSpPr/>
          <p:nvPr/>
        </p:nvSpPr>
        <p:spPr>
          <a:xfrm>
            <a:off x="1114350" y="5986381"/>
            <a:ext cx="16002000" cy="736800"/>
          </a:xfrm>
          <a:prstGeom prst="roundRect">
            <a:avLst>
              <a:gd name="adj" fmla="val 11397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33" name="Google Shape;1033;p24"/>
          <p:cNvSpPr/>
          <p:nvPr/>
        </p:nvSpPr>
        <p:spPr>
          <a:xfrm>
            <a:off x="1357238" y="6171070"/>
            <a:ext cx="2514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초대 → 신청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34" name="Google Shape;1034;p24"/>
          <p:cNvSpPr/>
          <p:nvPr/>
        </p:nvSpPr>
        <p:spPr>
          <a:xfrm>
            <a:off x="3833737" y="6171070"/>
            <a:ext cx="10990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신청 회원 ÷ 초대 문자를 받은 회원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35" name="Google Shape;1035;p24"/>
          <p:cNvSpPr/>
          <p:nvPr/>
        </p:nvSpPr>
        <p:spPr>
          <a:xfrm>
            <a:off x="14015963" y="6149091"/>
            <a:ext cx="31434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5% 이상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36" name="Google Shape;1036;p24"/>
          <p:cNvSpPr/>
          <p:nvPr/>
        </p:nvSpPr>
        <p:spPr>
          <a:xfrm>
            <a:off x="1114350" y="6807232"/>
            <a:ext cx="16002000" cy="736800"/>
          </a:xfrm>
          <a:prstGeom prst="roundRect">
            <a:avLst>
              <a:gd name="adj" fmla="val 11397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37" name="Google Shape;1037;p24"/>
          <p:cNvSpPr/>
          <p:nvPr/>
        </p:nvSpPr>
        <p:spPr>
          <a:xfrm>
            <a:off x="1357238" y="6991922"/>
            <a:ext cx="2514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신청 → 결제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38" name="Google Shape;1038;p24"/>
          <p:cNvSpPr/>
          <p:nvPr/>
        </p:nvSpPr>
        <p:spPr>
          <a:xfrm>
            <a:off x="3833737" y="6991922"/>
            <a:ext cx="10990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72시간 안에 쿠폰 결제 ÷ 신청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39" name="Google Shape;1039;p24"/>
          <p:cNvSpPr/>
          <p:nvPr/>
        </p:nvSpPr>
        <p:spPr>
          <a:xfrm>
            <a:off x="14015963" y="6969943"/>
            <a:ext cx="31434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50% 이상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40" name="Google Shape;1040;p24"/>
          <p:cNvSpPr/>
          <p:nvPr/>
        </p:nvSpPr>
        <p:spPr>
          <a:xfrm>
            <a:off x="1114350" y="7628083"/>
            <a:ext cx="16002000" cy="736800"/>
          </a:xfrm>
          <a:prstGeom prst="roundRect">
            <a:avLst>
              <a:gd name="adj" fmla="val 11397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41" name="Google Shape;1041;p24"/>
          <p:cNvSpPr/>
          <p:nvPr/>
        </p:nvSpPr>
        <p:spPr>
          <a:xfrm>
            <a:off x="1357238" y="7812774"/>
            <a:ext cx="2514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정확성 · 보안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42" name="Google Shape;1042;p24"/>
          <p:cNvSpPr/>
          <p:nvPr/>
        </p:nvSpPr>
        <p:spPr>
          <a:xfrm>
            <a:off x="3833737" y="7812774"/>
            <a:ext cx="10990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20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쿠폰 누락 · 결제 대사 불일치 · 개인정보 저장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43" name="Google Shape;1043;p24"/>
          <p:cNvSpPr/>
          <p:nvPr/>
        </p:nvSpPr>
        <p:spPr>
          <a:xfrm>
            <a:off x="14015963" y="7790795"/>
            <a:ext cx="31434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모두 0건</a:t>
            </a:r>
            <a:endParaRPr sz="2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44" name="Google Shape;1044;p24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45" name="Google Shape;1045;p24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24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46" name="Google Shape;1046;p24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1047" name="Google Shape;1047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793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85;p25">
            <a:extLst>
              <a:ext uri="{FF2B5EF4-FFF2-40B4-BE49-F238E27FC236}">
                <a16:creationId xmlns:a16="http://schemas.microsoft.com/office/drawing/2014/main" id="{58447354-20A2-670E-1905-14F5CD3B1D8F}"/>
              </a:ext>
            </a:extLst>
          </p:cNvPr>
          <p:cNvSpPr/>
          <p:nvPr/>
        </p:nvSpPr>
        <p:spPr>
          <a:xfrm>
            <a:off x="9239252" y="6146326"/>
            <a:ext cx="7905750" cy="2682657"/>
          </a:xfrm>
          <a:prstGeom prst="roundRect">
            <a:avLst>
              <a:gd name="adj" fmla="val 7057"/>
            </a:avLst>
          </a:prstGeom>
          <a:solidFill>
            <a:srgbClr val="FFF0F3">
              <a:alpha val="92941"/>
            </a:srgbClr>
          </a:solidFill>
          <a:ln w="14275" cap="flat" cmpd="sng">
            <a:solidFill>
              <a:srgbClr val="FDAAC1">
                <a:alpha val="9294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53" name="Google Shape;1053;p25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54" name="Google Shape;1054;p25"/>
          <p:cNvSpPr/>
          <p:nvPr/>
        </p:nvSpPr>
        <p:spPr>
          <a:xfrm>
            <a:off x="1404342" y="762000"/>
            <a:ext cx="167746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1</a:t>
            </a: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8</a:t>
            </a:r>
            <a:r>
              <a:rPr 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· MVP 범위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55" name="Google Shape;1055;p25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필수 기능 10개, 5명이 약 10주</a:t>
            </a:r>
            <a:endParaRPr sz="3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56" name="Google Shape;1056;p25"/>
          <p:cNvSpPr/>
          <p:nvPr/>
        </p:nvSpPr>
        <p:spPr>
          <a:xfrm>
            <a:off x="1143000" y="2148794"/>
            <a:ext cx="5206975" cy="3496946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58" name="Google Shape;1058;p25"/>
          <p:cNvSpPr/>
          <p:nvPr/>
        </p:nvSpPr>
        <p:spPr>
          <a:xfrm>
            <a:off x="1690688" y="2472644"/>
            <a:ext cx="751284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① 개설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59" name="Google Shape;1059;p25"/>
          <p:cNvSpPr/>
          <p:nvPr/>
        </p:nvSpPr>
        <p:spPr>
          <a:xfrm>
            <a:off x="1500188" y="3006044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60" name="Google Shape;1060;p25"/>
          <p:cNvSpPr/>
          <p:nvPr/>
        </p:nvSpPr>
        <p:spPr>
          <a:xfrm>
            <a:off x="1747838" y="2877456"/>
            <a:ext cx="4669445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카페24 앱 설치·권한 연결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61" name="Google Shape;1061;p25"/>
          <p:cNvSpPr/>
          <p:nvPr/>
        </p:nvSpPr>
        <p:spPr>
          <a:xfrm>
            <a:off x="1500188" y="3465625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62" name="Google Shape;1062;p25"/>
          <p:cNvSpPr/>
          <p:nvPr/>
        </p:nvSpPr>
        <p:spPr>
          <a:xfrm>
            <a:off x="1747838" y="3337038"/>
            <a:ext cx="4669445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5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수요 레이더: 상품별 찜 수, 수신동의자 수</a:t>
            </a:r>
            <a:endParaRPr sz="18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63" name="Google Shape;1063;p25"/>
          <p:cNvSpPr/>
          <p:nvPr/>
        </p:nvSpPr>
        <p:spPr>
          <a:xfrm>
            <a:off x="1500188" y="3925206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64" name="Google Shape;1064;p25"/>
          <p:cNvSpPr/>
          <p:nvPr/>
        </p:nvSpPr>
        <p:spPr>
          <a:xfrm>
            <a:off x="1747838" y="3796619"/>
            <a:ext cx="4669445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공구 개설: 목표 수량, 할인가, 마감일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65" name="Google Shape;1065;p25"/>
          <p:cNvSpPr/>
          <p:nvPr/>
        </p:nvSpPr>
        <p:spPr>
          <a:xfrm>
            <a:off x="1500188" y="4384788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66" name="Google Shape;1066;p25"/>
          <p:cNvSpPr/>
          <p:nvPr/>
        </p:nvSpPr>
        <p:spPr>
          <a:xfrm>
            <a:off x="1747838" y="4256200"/>
            <a:ext cx="4669445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초대 문자: 동의자만, (광고) 표기 자동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67" name="Google Shape;1067;p25"/>
          <p:cNvSpPr/>
          <p:nvPr/>
        </p:nvSpPr>
        <p:spPr>
          <a:xfrm>
            <a:off x="6540475" y="2149584"/>
            <a:ext cx="5206975" cy="3496946"/>
          </a:xfrm>
          <a:prstGeom prst="roundRect">
            <a:avLst>
              <a:gd name="adj" fmla="val 1863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69" name="Google Shape;1069;p25"/>
          <p:cNvSpPr/>
          <p:nvPr/>
        </p:nvSpPr>
        <p:spPr>
          <a:xfrm>
            <a:off x="7088163" y="2473434"/>
            <a:ext cx="751284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② 신청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70" name="Google Shape;1070;p25"/>
          <p:cNvSpPr/>
          <p:nvPr/>
        </p:nvSpPr>
        <p:spPr>
          <a:xfrm>
            <a:off x="6897663" y="3006834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71" name="Google Shape;1071;p25"/>
          <p:cNvSpPr/>
          <p:nvPr/>
        </p:nvSpPr>
        <p:spPr>
          <a:xfrm>
            <a:off x="7145313" y="2878247"/>
            <a:ext cx="4669445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상품 페이지 위젯: 진행률, 신청 버튼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72" name="Google Shape;1072;p25"/>
          <p:cNvSpPr/>
          <p:nvPr/>
        </p:nvSpPr>
        <p:spPr>
          <a:xfrm>
            <a:off x="6897663" y="3466416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73" name="Google Shape;1073;p25"/>
          <p:cNvSpPr/>
          <p:nvPr/>
        </p:nvSpPr>
        <p:spPr>
          <a:xfrm>
            <a:off x="7145313" y="3337828"/>
            <a:ext cx="4669445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참여 신청: 로그인 회원, 결제 없음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74" name="Google Shape;1074;p25"/>
          <p:cNvSpPr/>
          <p:nvPr/>
        </p:nvSpPr>
        <p:spPr>
          <a:xfrm>
            <a:off x="6897663" y="3925997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75" name="Google Shape;1075;p25"/>
          <p:cNvSpPr/>
          <p:nvPr/>
        </p:nvSpPr>
        <p:spPr>
          <a:xfrm>
            <a:off x="7145313" y="3797409"/>
            <a:ext cx="4669445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마감 판정과 결과 안내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76" name="Google Shape;1076;p25"/>
          <p:cNvSpPr/>
          <p:nvPr/>
        </p:nvSpPr>
        <p:spPr>
          <a:xfrm>
            <a:off x="6897663" y="4385578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77" name="Google Shape;1077;p25"/>
          <p:cNvSpPr/>
          <p:nvPr/>
        </p:nvSpPr>
        <p:spPr>
          <a:xfrm>
            <a:off x="7145313" y="4256991"/>
            <a:ext cx="4669445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달성 시 회원 전용 쿠폰 자동 발급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78" name="Google Shape;1078;p25"/>
          <p:cNvSpPr/>
          <p:nvPr/>
        </p:nvSpPr>
        <p:spPr>
          <a:xfrm>
            <a:off x="11937950" y="2152105"/>
            <a:ext cx="5207050" cy="3496946"/>
          </a:xfrm>
          <a:prstGeom prst="roundRect">
            <a:avLst>
              <a:gd name="adj" fmla="val 1863"/>
            </a:avLst>
          </a:prstGeom>
          <a:solidFill>
            <a:srgbClr val="FFFFFF">
              <a:alpha val="98039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80" name="Google Shape;1080;p25"/>
          <p:cNvSpPr/>
          <p:nvPr/>
        </p:nvSpPr>
        <p:spPr>
          <a:xfrm>
            <a:off x="12485638" y="2475955"/>
            <a:ext cx="751284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③ 발주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81" name="Google Shape;1081;p25"/>
          <p:cNvSpPr/>
          <p:nvPr/>
        </p:nvSpPr>
        <p:spPr>
          <a:xfrm>
            <a:off x="12295138" y="3009355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>
              <a:alpha val="9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82" name="Google Shape;1082;p25"/>
          <p:cNvSpPr/>
          <p:nvPr/>
        </p:nvSpPr>
        <p:spPr>
          <a:xfrm>
            <a:off x="12542788" y="2880768"/>
            <a:ext cx="4669527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추적: 쿠폰 쓴 주문 집계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83" name="Google Shape;1083;p25"/>
          <p:cNvSpPr/>
          <p:nvPr/>
        </p:nvSpPr>
        <p:spPr>
          <a:xfrm>
            <a:off x="12295138" y="3468937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5C80">
              <a:alpha val="9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84" name="Google Shape;1084;p25"/>
          <p:cNvSpPr/>
          <p:nvPr/>
        </p:nvSpPr>
        <p:spPr>
          <a:xfrm>
            <a:off x="12542788" y="3340349"/>
            <a:ext cx="4669527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확정 수량 리포트와 발주 메모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85" name="Google Shape;1085;p25"/>
          <p:cNvSpPr/>
          <p:nvPr/>
        </p:nvSpPr>
        <p:spPr>
          <a:xfrm>
            <a:off x="1143000" y="6146327"/>
            <a:ext cx="7905750" cy="2682657"/>
          </a:xfrm>
          <a:prstGeom prst="roundRect">
            <a:avLst>
              <a:gd name="adj" fmla="val 7057"/>
            </a:avLst>
          </a:prstGeom>
          <a:solidFill>
            <a:srgbClr val="FFF0F3">
              <a:alpha val="92941"/>
            </a:srgbClr>
          </a:solidFill>
          <a:ln w="14275" cap="flat" cmpd="sng">
            <a:solidFill>
              <a:srgbClr val="FDAAC1">
                <a:alpha val="9294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086" name="Google Shape;1086;p25"/>
          <p:cNvSpPr/>
          <p:nvPr/>
        </p:nvSpPr>
        <p:spPr>
          <a:xfrm>
            <a:off x="1462088" y="6544436"/>
            <a:ext cx="7994333" cy="38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100" b="1" i="0" u="none" strike="noStrike" cap="none" spc="-2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출시 후 다음 순서</a:t>
            </a:r>
            <a:endParaRPr sz="21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87" name="Google Shape;1087;p25"/>
          <p:cNvSpPr/>
          <p:nvPr/>
        </p:nvSpPr>
        <p:spPr>
          <a:xfrm>
            <a:off x="1462088" y="7024482"/>
            <a:ext cx="7994333" cy="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 panose="020B0604020202020204" pitchFamily="34" charset="0"/>
              <a:buChar char="•"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성과 대시보드</a:t>
            </a:r>
            <a:endParaRPr lang="en-US" altLang="ko-KR" sz="195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342900" marR="0" lvl="0" indent="-34290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 panose="020B0604020202020204" pitchFamily="34" charset="0"/>
              <a:buChar char="•"/>
            </a:pPr>
            <a:r>
              <a:rPr lang="ko-KR" altLang="en-US" sz="195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재입고</a:t>
            </a: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신청자 연동</a:t>
            </a:r>
            <a:endParaRPr lang="en-US" altLang="ko-KR" sz="195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342900" marR="0" lvl="0" indent="-34290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 panose="020B0604020202020204" pitchFamily="34" charset="0"/>
              <a:buChar char="•"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미결제 자리 </a:t>
            </a:r>
            <a:r>
              <a:rPr lang="ko-KR" altLang="en-US" sz="195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대기열</a:t>
            </a:r>
            <a:endParaRPr sz="19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89" name="Google Shape;1089;p25"/>
          <p:cNvSpPr/>
          <p:nvPr/>
        </p:nvSpPr>
        <p:spPr>
          <a:xfrm>
            <a:off x="9558338" y="6544436"/>
            <a:ext cx="7994333" cy="38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100"/>
              <a:buFont typeface="Arial"/>
              <a:buNone/>
            </a:pPr>
            <a:r>
              <a:rPr lang="ko-KR" altLang="en-US" sz="2100" b="1" i="0" u="none" strike="noStrike" cap="none" spc="-2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하지 않는 것</a:t>
            </a:r>
            <a:endParaRPr sz="21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91" name="Google Shape;1091;p25"/>
          <p:cNvSpPr/>
          <p:nvPr/>
        </p:nvSpPr>
        <p:spPr>
          <a:xfrm>
            <a:off x="1143000" y="9029700"/>
            <a:ext cx="17602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판매자는 모바일 </a:t>
            </a:r>
            <a:r>
              <a:rPr lang="ko-KR" altLang="en-US" sz="18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웹앱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(PWA), 고객은 설치 없이 </a:t>
            </a:r>
            <a:r>
              <a:rPr lang="ko-KR" altLang="en-US" sz="1800" b="1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위젯·문자로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사용</a:t>
            </a:r>
            <a:endParaRPr sz="1800" b="1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92" name="Google Shape;1092;p25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93" name="Google Shape;1093;p25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25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094" name="Google Shape;1094;p25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1095" name="Google Shape;1095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2" name="Google Shape;1090;p25">
            <a:extLst>
              <a:ext uri="{FF2B5EF4-FFF2-40B4-BE49-F238E27FC236}">
                <a16:creationId xmlns:a16="http://schemas.microsoft.com/office/drawing/2014/main" id="{3A830C3E-5370-029C-4EE9-531AE8C16428}"/>
              </a:ext>
            </a:extLst>
          </p:cNvPr>
          <p:cNvSpPr/>
          <p:nvPr/>
        </p:nvSpPr>
        <p:spPr>
          <a:xfrm>
            <a:off x="9558338" y="7024482"/>
            <a:ext cx="7994333" cy="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342900" marR="0" lvl="0" indent="-34290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 panose="020B0604020202020204" pitchFamily="34" charset="0"/>
              <a:buChar char="•"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자체 결제</a:t>
            </a:r>
            <a:endParaRPr lang="en-US" altLang="ko-KR" sz="195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342900" marR="0" lvl="0" indent="-34290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 panose="020B0604020202020204" pitchFamily="34" charset="0"/>
              <a:buChar char="•"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비회원 참여</a:t>
            </a:r>
            <a:endParaRPr lang="en-US" altLang="ko-KR" sz="195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342900" marR="0" lvl="0" indent="-34290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 panose="020B0604020202020204" pitchFamily="34" charset="0"/>
              <a:buChar char="•"/>
            </a:pPr>
            <a:r>
              <a:rPr lang="ko-KR" altLang="en-US" sz="19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새 고객을 찾는 </a:t>
            </a:r>
            <a:r>
              <a:rPr lang="ko-KR" altLang="en-US" sz="195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마켓플레이스</a:t>
            </a:r>
            <a:endParaRPr sz="19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1593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32;p26">
            <a:extLst>
              <a:ext uri="{FF2B5EF4-FFF2-40B4-BE49-F238E27FC236}">
                <a16:creationId xmlns:a16="http://schemas.microsoft.com/office/drawing/2014/main" id="{B1A609CC-CBA3-57BE-ADC0-9F8E68A09C88}"/>
              </a:ext>
            </a:extLst>
          </p:cNvPr>
          <p:cNvSpPr/>
          <p:nvPr/>
        </p:nvSpPr>
        <p:spPr>
          <a:xfrm>
            <a:off x="11938025" y="7771823"/>
            <a:ext cx="5206975" cy="1619250"/>
          </a:xfrm>
          <a:prstGeom prst="roundRect">
            <a:avLst>
              <a:gd name="adj" fmla="val 5882"/>
            </a:avLst>
          </a:prstGeom>
          <a:solidFill>
            <a:srgbClr val="FFF0F3">
              <a:alpha val="81961"/>
            </a:srgbClr>
          </a:solidFill>
          <a:ln w="14275" cap="flat" cmpd="sng">
            <a:solidFill>
              <a:srgbClr val="FDAAC1">
                <a:alpha val="8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4" name="Google Shape;1132;p26">
            <a:extLst>
              <a:ext uri="{FF2B5EF4-FFF2-40B4-BE49-F238E27FC236}">
                <a16:creationId xmlns:a16="http://schemas.microsoft.com/office/drawing/2014/main" id="{CE112225-E829-64B2-2E2F-1569AF18E990}"/>
              </a:ext>
            </a:extLst>
          </p:cNvPr>
          <p:cNvSpPr/>
          <p:nvPr/>
        </p:nvSpPr>
        <p:spPr>
          <a:xfrm>
            <a:off x="6540512" y="7777284"/>
            <a:ext cx="5206975" cy="1619250"/>
          </a:xfrm>
          <a:prstGeom prst="roundRect">
            <a:avLst>
              <a:gd name="adj" fmla="val 5882"/>
            </a:avLst>
          </a:prstGeom>
          <a:solidFill>
            <a:srgbClr val="FFF0F3">
              <a:alpha val="81961"/>
            </a:srgbClr>
          </a:solidFill>
          <a:ln w="14275" cap="flat" cmpd="sng">
            <a:solidFill>
              <a:srgbClr val="FDAAC1">
                <a:alpha val="8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01" name="Google Shape;1101;p26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02" name="Google Shape;1102;p26"/>
          <p:cNvSpPr/>
          <p:nvPr/>
        </p:nvSpPr>
        <p:spPr>
          <a:xfrm>
            <a:off x="1404342" y="762000"/>
            <a:ext cx="280878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</a:t>
            </a:r>
            <a:r>
              <a:rPr lang="en-US" altLang="ko-KR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9</a:t>
            </a:r>
            <a:r>
              <a:rPr lang="ko-KR" alt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· 4주 계획과 판정 규칙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03" name="Google Shape;1103;p26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61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3900"/>
              <a:buFont typeface="Arial"/>
              <a:buNone/>
            </a:pPr>
            <a:r>
              <a:rPr lang="ko-KR" altLang="en-US" sz="3900" b="1" i="0" u="none" strike="noStrike" cap="none" spc="-78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결과를 보기 전에 판정 규칙을 정했습니다</a:t>
            </a:r>
            <a:endParaRPr sz="39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04" name="Google Shape;1104;p26"/>
          <p:cNvSpPr/>
          <p:nvPr/>
        </p:nvSpPr>
        <p:spPr>
          <a:xfrm>
            <a:off x="1143000" y="2148855"/>
            <a:ext cx="3857625" cy="53950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05" name="Google Shape;1105;p26"/>
          <p:cNvSpPr/>
          <p:nvPr/>
        </p:nvSpPr>
        <p:spPr>
          <a:xfrm>
            <a:off x="1423988" y="2501280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06" name="Google Shape;1106;p26"/>
          <p:cNvSpPr/>
          <p:nvPr/>
        </p:nvSpPr>
        <p:spPr>
          <a:xfrm>
            <a:off x="1614488" y="2415555"/>
            <a:ext cx="1504429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1주 · 관문 확인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07" name="Google Shape;1107;p26"/>
          <p:cNvSpPr/>
          <p:nvPr/>
        </p:nvSpPr>
        <p:spPr>
          <a:xfrm>
            <a:off x="1423988" y="2820367"/>
            <a:ext cx="339451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관문 4개 확인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lvl="0" eaLnBrk="0">
              <a:lnSpc>
                <a:spcPct val="130909"/>
              </a:lnSpc>
              <a:buClr>
                <a:srgbClr val="1C1C1F"/>
              </a:buClr>
              <a:buSzPts val="1800"/>
            </a:pPr>
            <a:r>
              <a:rPr lang="ko-KR" altLang="en-US" sz="180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   · 회원 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검증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R="0" lvl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</a:pPr>
            <a:r>
              <a:rPr lang="ko-KR" altLang="en-US" sz="180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   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· 쿠폰 발급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R="0" lvl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</a:pPr>
            <a:r>
              <a:rPr lang="ko-KR" altLang="en-US" sz="180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   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· 지정 몰 설치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R="0" lvl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</a:pPr>
            <a:r>
              <a:rPr lang="ko-KR" altLang="en-US" sz="1800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   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· 찜 100명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파일럿 3몰 섭외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08" name="Google Shape;1108;p26"/>
          <p:cNvSpPr/>
          <p:nvPr/>
        </p:nvSpPr>
        <p:spPr>
          <a:xfrm>
            <a:off x="1423988" y="6486599"/>
            <a:ext cx="3295650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09" name="Google Shape;1109;p26"/>
          <p:cNvSpPr/>
          <p:nvPr/>
        </p:nvSpPr>
        <p:spPr>
          <a:xfrm>
            <a:off x="1423988" y="6634237"/>
            <a:ext cx="362521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성공기준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10" name="Google Shape;1110;p26"/>
          <p:cNvSpPr/>
          <p:nvPr/>
        </p:nvSpPr>
        <p:spPr>
          <a:xfrm>
            <a:off x="1423988" y="6948562"/>
            <a:ext cx="3625215" cy="3714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75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위조 ID 100% 거부, 쿠폰 누락 0</a:t>
            </a:r>
            <a:endParaRPr sz="17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11" name="Google Shape;1111;p26"/>
          <p:cNvSpPr/>
          <p:nvPr/>
        </p:nvSpPr>
        <p:spPr>
          <a:xfrm>
            <a:off x="5191125" y="2149947"/>
            <a:ext cx="3857625" cy="5395020"/>
          </a:xfrm>
          <a:prstGeom prst="roundRect">
            <a:avLst>
              <a:gd name="adj" fmla="val 2469"/>
            </a:avLst>
          </a:prstGeom>
          <a:solidFill>
            <a:srgbClr val="FFFFFF">
              <a:alpha val="98824"/>
            </a:srgbClr>
          </a:solidFill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12" name="Google Shape;1112;p26"/>
          <p:cNvSpPr/>
          <p:nvPr/>
        </p:nvSpPr>
        <p:spPr>
          <a:xfrm>
            <a:off x="5472113" y="2502372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882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13" name="Google Shape;1113;p26"/>
          <p:cNvSpPr/>
          <p:nvPr/>
        </p:nvSpPr>
        <p:spPr>
          <a:xfrm>
            <a:off x="5662613" y="2416647"/>
            <a:ext cx="1805732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2주 · 초대 → 신청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14" name="Google Shape;1114;p26"/>
          <p:cNvSpPr/>
          <p:nvPr/>
        </p:nvSpPr>
        <p:spPr>
          <a:xfrm>
            <a:off x="5472113" y="2821459"/>
            <a:ext cx="339451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대상 추출 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수신동의 필터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문자 발송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위젯·신청</a:t>
            </a: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API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15" name="Google Shape;1115;p26"/>
          <p:cNvSpPr/>
          <p:nvPr/>
        </p:nvSpPr>
        <p:spPr>
          <a:xfrm>
            <a:off x="5472113" y="6487691"/>
            <a:ext cx="3295650" cy="14288"/>
          </a:xfrm>
          <a:prstGeom prst="rect">
            <a:avLst/>
          </a:prstGeom>
          <a:solidFill>
            <a:srgbClr val="1C1C1F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16" name="Google Shape;1116;p26"/>
          <p:cNvSpPr/>
          <p:nvPr/>
        </p:nvSpPr>
        <p:spPr>
          <a:xfrm>
            <a:off x="5472113" y="6635329"/>
            <a:ext cx="362521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lvl="0" eaLnBrk="0">
              <a:buClr>
                <a:srgbClr val="1C1C1F"/>
              </a:buClr>
              <a:buSzPts val="1800"/>
            </a:pP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성공기준</a:t>
            </a:r>
            <a:endParaRPr lang="ko-KR" altLang="en-US" sz="180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17" name="Google Shape;1117;p26"/>
          <p:cNvSpPr/>
          <p:nvPr/>
        </p:nvSpPr>
        <p:spPr>
          <a:xfrm>
            <a:off x="5472113" y="6949654"/>
            <a:ext cx="362521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테스트몰에서 초대부터 신청까지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18" name="Google Shape;1118;p26"/>
          <p:cNvSpPr/>
          <p:nvPr/>
        </p:nvSpPr>
        <p:spPr>
          <a:xfrm>
            <a:off x="9239250" y="2152966"/>
            <a:ext cx="3857625" cy="5395020"/>
          </a:xfrm>
          <a:prstGeom prst="roundRect">
            <a:avLst>
              <a:gd name="adj" fmla="val 2469"/>
            </a:avLst>
          </a:prstGeom>
          <a:solidFill>
            <a:srgbClr val="FFFFFF">
              <a:alpha val="96863"/>
            </a:srgbClr>
          </a:solidFill>
          <a:ln w="14275" cap="flat" cmpd="sng">
            <a:solidFill>
              <a:srgbClr val="1C1C1F">
                <a:alpha val="1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19" name="Google Shape;1119;p26"/>
          <p:cNvSpPr/>
          <p:nvPr/>
        </p:nvSpPr>
        <p:spPr>
          <a:xfrm>
            <a:off x="9520238" y="2505391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20" name="Google Shape;1120;p26"/>
          <p:cNvSpPr/>
          <p:nvPr/>
        </p:nvSpPr>
        <p:spPr>
          <a:xfrm>
            <a:off x="9710738" y="2419666"/>
            <a:ext cx="1302172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5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3주 · 첫 공구</a:t>
            </a:r>
            <a:endParaRPr sz="16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21" name="Google Shape;1121;p26"/>
          <p:cNvSpPr/>
          <p:nvPr/>
        </p:nvSpPr>
        <p:spPr>
          <a:xfrm>
            <a:off x="9520238" y="2824479"/>
            <a:ext cx="339451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마감 판정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쿠폰 발급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주문 대사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리포트 </a:t>
            </a:r>
            <a:endParaRPr lang="en-US" altLang="ko-KR" sz="180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8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17일 차 공구 3건 오픈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22" name="Google Shape;1122;p26"/>
          <p:cNvSpPr/>
          <p:nvPr/>
        </p:nvSpPr>
        <p:spPr>
          <a:xfrm>
            <a:off x="9520238" y="6490711"/>
            <a:ext cx="3295650" cy="14288"/>
          </a:xfrm>
          <a:prstGeom prst="rect">
            <a:avLst/>
          </a:prstGeom>
          <a:solidFill>
            <a:srgbClr val="1C1C1F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23" name="Google Shape;1123;p26"/>
          <p:cNvSpPr/>
          <p:nvPr/>
        </p:nvSpPr>
        <p:spPr>
          <a:xfrm>
            <a:off x="9520238" y="6638348"/>
            <a:ext cx="362521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lvl="0" eaLnBrk="0">
              <a:buClr>
                <a:srgbClr val="1C1C1F"/>
              </a:buClr>
              <a:buSzPts val="1800"/>
            </a:pP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성공기준</a:t>
            </a:r>
            <a:endParaRPr lang="ko-KR" altLang="en-US" sz="180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24" name="Google Shape;1124;p26"/>
          <p:cNvSpPr/>
          <p:nvPr/>
        </p:nvSpPr>
        <p:spPr>
          <a:xfrm>
            <a:off x="9520238" y="6952673"/>
            <a:ext cx="362521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공구 3건 오픈, 연동 오류 0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25" name="Google Shape;1125;p26"/>
          <p:cNvSpPr/>
          <p:nvPr/>
        </p:nvSpPr>
        <p:spPr>
          <a:xfrm>
            <a:off x="13287375" y="2159393"/>
            <a:ext cx="3857625" cy="5395020"/>
          </a:xfrm>
          <a:prstGeom prst="roundRect">
            <a:avLst>
              <a:gd name="adj" fmla="val 2469"/>
            </a:avLst>
          </a:prstGeom>
          <a:solidFill>
            <a:srgbClr val="FFFFFF">
              <a:alpha val="92157"/>
            </a:srgbClr>
          </a:solidFill>
          <a:ln w="14275" cap="flat" cmpd="sng">
            <a:solidFill>
              <a:srgbClr val="1C1C1F">
                <a:alpha val="1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26" name="Google Shape;1126;p26"/>
          <p:cNvSpPr/>
          <p:nvPr/>
        </p:nvSpPr>
        <p:spPr>
          <a:xfrm>
            <a:off x="13568363" y="2511818"/>
            <a:ext cx="95250" cy="95250"/>
          </a:xfrm>
          <a:prstGeom prst="roundRect">
            <a:avLst>
              <a:gd name="adj" fmla="val 20000"/>
            </a:avLst>
          </a:prstGeom>
          <a:solidFill>
            <a:srgbClr val="E94162">
              <a:alpha val="9215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27" name="Google Shape;1127;p26"/>
          <p:cNvSpPr/>
          <p:nvPr/>
        </p:nvSpPr>
        <p:spPr>
          <a:xfrm>
            <a:off x="13758863" y="2426093"/>
            <a:ext cx="1805732" cy="29051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700" b="1" i="0" u="none" strike="noStrike" cap="none" spc="36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4주 · 결제 → 결정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28" name="Google Shape;1128;p26"/>
          <p:cNvSpPr/>
          <p:nvPr/>
        </p:nvSpPr>
        <p:spPr>
          <a:xfrm>
            <a:off x="13568363" y="2830905"/>
            <a:ext cx="339451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7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22일 차 판정</a:t>
            </a:r>
            <a:endParaRPr lang="en-US" altLang="ko-KR" sz="175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7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72시간 결제</a:t>
            </a:r>
            <a:endParaRPr lang="en-US" altLang="ko-KR" sz="175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7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26일 차 확정 리포트 </a:t>
            </a:r>
            <a:endParaRPr lang="en-US" altLang="ko-KR" sz="1750" b="0" i="0" u="none" strike="noStrike" cap="none" dirty="0">
              <a:solidFill>
                <a:srgbClr val="1C1C1F"/>
              </a:solidFill>
              <a:latin typeface="KoreanSWGI1R" panose="02020600000000000000" pitchFamily="18" charset="-127"/>
              <a:ea typeface="KoreanSWGI1R" panose="02020600000000000000" pitchFamily="18" charset="-127"/>
              <a:sym typeface="Arial"/>
            </a:endParaRPr>
          </a:p>
          <a:p>
            <a:pPr marL="285750" marR="0" lvl="0" indent="-28575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 panose="020B0604020202020204" pitchFamily="34" charset="0"/>
              <a:buChar char="•"/>
            </a:pPr>
            <a:r>
              <a:rPr lang="ko-KR" altLang="en-US" sz="175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발주 인터뷰</a:t>
            </a:r>
            <a:endParaRPr sz="175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29" name="Google Shape;1129;p26"/>
          <p:cNvSpPr/>
          <p:nvPr/>
        </p:nvSpPr>
        <p:spPr>
          <a:xfrm>
            <a:off x="13568363" y="6497137"/>
            <a:ext cx="3295650" cy="14288"/>
          </a:xfrm>
          <a:prstGeom prst="rect">
            <a:avLst/>
          </a:prstGeom>
          <a:solidFill>
            <a:srgbClr val="1C1C1F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30" name="Google Shape;1130;p26"/>
          <p:cNvSpPr/>
          <p:nvPr/>
        </p:nvSpPr>
        <p:spPr>
          <a:xfrm>
            <a:off x="13568363" y="6644775"/>
            <a:ext cx="362521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lvl="0" eaLnBrk="0">
              <a:buClr>
                <a:srgbClr val="1C1C1F"/>
              </a:buClr>
              <a:buSzPts val="1800"/>
            </a:pPr>
            <a:r>
              <a:rPr lang="ko-KR" alt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성공기준</a:t>
            </a:r>
            <a:endParaRPr lang="ko-KR" altLang="en-US" sz="1800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31" name="Google Shape;1131;p26"/>
          <p:cNvSpPr/>
          <p:nvPr/>
        </p:nvSpPr>
        <p:spPr>
          <a:xfrm>
            <a:off x="13568363" y="6959100"/>
            <a:ext cx="3625215" cy="371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75"/>
              <a:buFont typeface="Arial"/>
              <a:buNone/>
            </a:pPr>
            <a:r>
              <a:rPr lang="ko-KR" altLang="en-US" sz="1875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28일 차 판정</a:t>
            </a:r>
            <a:endParaRPr sz="1875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32" name="Google Shape;1132;p26"/>
          <p:cNvSpPr/>
          <p:nvPr/>
        </p:nvSpPr>
        <p:spPr>
          <a:xfrm>
            <a:off x="1143000" y="7777284"/>
            <a:ext cx="5206975" cy="1619250"/>
          </a:xfrm>
          <a:prstGeom prst="roundRect">
            <a:avLst>
              <a:gd name="adj" fmla="val 5882"/>
            </a:avLst>
          </a:prstGeom>
          <a:solidFill>
            <a:srgbClr val="FFF0F3">
              <a:alpha val="81961"/>
            </a:srgbClr>
          </a:solidFill>
          <a:ln w="14275" cap="flat" cmpd="sng">
            <a:solidFill>
              <a:srgbClr val="FDAAC1">
                <a:alpha val="8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sp>
        <p:nvSpPr>
          <p:cNvPr id="1133" name="Google Shape;1133;p26"/>
          <p:cNvSpPr/>
          <p:nvPr/>
        </p:nvSpPr>
        <p:spPr>
          <a:xfrm>
            <a:off x="1443038" y="8020172"/>
            <a:ext cx="506759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ko-KR" altLang="en-US" sz="2250" b="1" i="0" u="none" strike="noStrike" cap="none" spc="-22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Go · 다음 단계로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34" name="Google Shape;1134;p26"/>
          <p:cNvSpPr/>
          <p:nvPr/>
        </p:nvSpPr>
        <p:spPr>
          <a:xfrm>
            <a:off x="1443038" y="8467847"/>
            <a:ext cx="474510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모두 충족 → 5주 차 심사, 파일럿 10몰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36" name="Google Shape;1136;p26"/>
          <p:cNvSpPr/>
          <p:nvPr/>
        </p:nvSpPr>
        <p:spPr>
          <a:xfrm>
            <a:off x="6840513" y="8049229"/>
            <a:ext cx="506759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ko-KR" altLang="en-US" sz="2250" b="1" i="0" u="none" strike="noStrike" cap="none" spc="-22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보완 · 2주 추가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37" name="Google Shape;1137;p26"/>
          <p:cNvSpPr/>
          <p:nvPr/>
        </p:nvSpPr>
        <p:spPr>
          <a:xfrm>
            <a:off x="6840513" y="8496904"/>
            <a:ext cx="4745107" cy="723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결제 전환만 50% 미만 → 조건 바꿔 2건 더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39" name="Google Shape;1139;p26"/>
          <p:cNvSpPr/>
          <p:nvPr/>
        </p:nvSpPr>
        <p:spPr>
          <a:xfrm>
            <a:off x="12237988" y="8101469"/>
            <a:ext cx="50676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250"/>
              <a:buFont typeface="Arial"/>
              <a:buNone/>
            </a:pPr>
            <a:r>
              <a:rPr lang="ko-KR" altLang="en-US" sz="2250" b="1" i="0" u="none" strike="noStrike" cap="none" spc="-22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재검토 · 가정을 다시</a:t>
            </a:r>
            <a:endParaRPr sz="22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40" name="Google Shape;1140;p26"/>
          <p:cNvSpPr/>
          <p:nvPr/>
        </p:nvSpPr>
        <p:spPr>
          <a:xfrm>
            <a:off x="12237988" y="8549144"/>
            <a:ext cx="4745184" cy="72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8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신청 전환 모두 2% 미만 → 개발 중단</a:t>
            </a:r>
            <a:endParaRPr sz="18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41" name="Google Shape;1141;p26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42" name="Google Shape;1142;p26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26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43" name="Google Shape;1143;p26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1144" name="Google Shape;1144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8801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7"/>
          <p:cNvSpPr/>
          <p:nvPr/>
        </p:nvSpPr>
        <p:spPr>
          <a:xfrm>
            <a:off x="1143000" y="771525"/>
            <a:ext cx="2232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E94162"/>
              </a:buClr>
              <a:buSzPts val="1950"/>
              <a:buFont typeface="Arial"/>
              <a:buNone/>
            </a:pPr>
            <a:r>
              <a:rPr lang="en-US" sz="1350" b="1" i="0" u="none" strike="noStrike" cap="none">
                <a:solidFill>
                  <a:srgbClr val="E94162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♥</a:t>
            </a:r>
            <a:endParaRPr sz="135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1" name="Google Shape;1151;p27"/>
          <p:cNvSpPr/>
          <p:nvPr/>
        </p:nvSpPr>
        <p:spPr>
          <a:xfrm>
            <a:off x="1404342" y="762000"/>
            <a:ext cx="219462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en-US" altLang="ko-KR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20</a:t>
            </a:r>
            <a:r>
              <a:rPr 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 </a:t>
            </a:r>
            <a:r>
              <a:rPr lang="en-US" sz="1800" b="1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· </a:t>
            </a:r>
            <a:r>
              <a:rPr lang="en-US" sz="180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Q&amp;A</a:t>
            </a:r>
            <a:endParaRPr sz="18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2" name="Google Shape;1152;p27"/>
          <p:cNvSpPr/>
          <p:nvPr/>
        </p:nvSpPr>
        <p:spPr>
          <a:xfrm>
            <a:off x="1143000" y="1200150"/>
            <a:ext cx="17602200" cy="68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3750" b="1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멘토님 질문사항</a:t>
            </a:r>
            <a:endParaRPr sz="57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3" name="Google Shape;1153;p27"/>
          <p:cNvSpPr/>
          <p:nvPr/>
        </p:nvSpPr>
        <p:spPr>
          <a:xfrm>
            <a:off x="1257300" y="2476500"/>
            <a:ext cx="774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300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1. 신청이 결제로 이어질까요?</a:t>
            </a:r>
            <a:endParaRPr sz="3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4" name="Google Shape;1154;p27"/>
          <p:cNvSpPr/>
          <p:nvPr/>
        </p:nvSpPr>
        <p:spPr>
          <a:xfrm>
            <a:off x="1257300" y="3238500"/>
            <a:ext cx="7493000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3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신청 → 결제 50% 목표와 결제 기간 선택(24·48·72시간)이 현실적인지</a:t>
            </a:r>
            <a:endParaRPr sz="23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5" name="Google Shape;1155;p27"/>
          <p:cNvSpPr/>
          <p:nvPr/>
        </p:nvSpPr>
        <p:spPr>
          <a:xfrm>
            <a:off x="9359900" y="2476500"/>
            <a:ext cx="774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300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2. 카페24 의존, 괜찮을까요?</a:t>
            </a:r>
            <a:endParaRPr sz="3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6" name="Google Shape;1156;p27"/>
          <p:cNvSpPr/>
          <p:nvPr/>
        </p:nvSpPr>
        <p:spPr>
          <a:xfrm>
            <a:off x="9359900" y="3238500"/>
            <a:ext cx="7493000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3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스토어 출시 → 공식 제휴 순서와, 카페24 직접 개발 위험 대비책</a:t>
            </a:r>
            <a:endParaRPr sz="23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7" name="Google Shape;1157;p27"/>
          <p:cNvSpPr/>
          <p:nvPr/>
        </p:nvSpPr>
        <p:spPr>
          <a:xfrm>
            <a:off x="1257300" y="4762500"/>
            <a:ext cx="774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300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3. 요금제가 셀러 빈도에 맞을까요?</a:t>
            </a:r>
            <a:endParaRPr sz="3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8" name="Google Shape;1158;p27"/>
          <p:cNvSpPr/>
          <p:nvPr/>
        </p:nvSpPr>
        <p:spPr>
          <a:xfrm>
            <a:off x="1257300" y="5524500"/>
            <a:ext cx="7493000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300" b="0" i="0" u="none" strike="noStrike" cap="none" dirty="0" err="1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체험·스타터·그로스</a:t>
            </a:r>
            <a:r>
              <a:rPr lang="ko-KR" altLang="en-US" sz="23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 3단 요금제가 셀러 빈도에 맞는지</a:t>
            </a:r>
            <a:endParaRPr sz="23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59" name="Google Shape;1159;p27"/>
          <p:cNvSpPr/>
          <p:nvPr/>
        </p:nvSpPr>
        <p:spPr>
          <a:xfrm>
            <a:off x="9359900" y="4762500"/>
            <a:ext cx="774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ko-KR" altLang="en-US" sz="3000" b="1" i="0" u="none" strike="noStrike" cap="none" spc="-29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4. 파일럿 3몰을 어디서 찾을까요?</a:t>
            </a:r>
            <a:endParaRPr sz="3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60" name="Google Shape;1160;p27"/>
          <p:cNvSpPr/>
          <p:nvPr/>
        </p:nvSpPr>
        <p:spPr>
          <a:xfrm>
            <a:off x="9359900" y="5524500"/>
            <a:ext cx="7493000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3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 100개+ 품절 상품이 있는 브랜드를 1주 안에 섭외하는 방법</a:t>
            </a:r>
            <a:endParaRPr sz="23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61" name="Google Shape;1161;p27"/>
          <p:cNvSpPr/>
          <p:nvPr/>
        </p:nvSpPr>
        <p:spPr>
          <a:xfrm>
            <a:off x="1143000" y="9744075"/>
            <a:ext cx="1334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l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ko-KR" alt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찜꽁 · 찜 공구</a:t>
            </a:r>
            <a:endParaRPr sz="16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62" name="Google Shape;1162;p27"/>
          <p:cNvSpPr/>
          <p:nvPr/>
        </p:nvSpPr>
        <p:spPr>
          <a:xfrm>
            <a:off x="15600475" y="9744075"/>
            <a:ext cx="9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5400" tIns="25400" rIns="25400" bIns="25400" anchor="t" anchorCtr="0">
            <a:noAutofit/>
          </a:bodyPr>
          <a:lstStyle/>
          <a:p>
            <a:pPr marL="0" marR="0" lvl="0" indent="0" algn="r" rtl="0" eaLnBrk="0"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27 / 27</a:t>
            </a:r>
            <a:endParaRPr sz="17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63" name="Google Shape;1163;p27"/>
          <p:cNvSpPr/>
          <p:nvPr/>
        </p:nvSpPr>
        <p:spPr>
          <a:xfrm>
            <a:off x="16557625" y="9553575"/>
            <a:ext cx="561975" cy="561975"/>
          </a:xfrm>
          <a:prstGeom prst="ellipse">
            <a:avLst/>
          </a:prstGeom>
          <a:noFill/>
          <a:ln w="14275" cap="flat" cmpd="sng">
            <a:solidFill>
              <a:srgbClr val="1C1C1F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 eaLnBrk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oreanSWGI1R" panose="02020600000000000000" pitchFamily="18" charset="-127"/>
              <a:ea typeface="KoreanSWGI1R" panose="02020600000000000000" pitchFamily="18" charset="-127"/>
            </a:endParaRPr>
          </a:p>
        </p:txBody>
      </p:sp>
      <p:pic>
        <p:nvPicPr>
          <p:cNvPr id="1164" name="Google Shape;1164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7625" y="9553575"/>
            <a:ext cx="561975" cy="5619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65" name="Google Shape;1165;p27"/>
          <p:cNvSpPr/>
          <p:nvPr/>
        </p:nvSpPr>
        <p:spPr>
          <a:xfrm>
            <a:off x="1257300" y="7048500"/>
            <a:ext cx="774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en-US" sz="3000" b="1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5</a:t>
            </a:r>
            <a:r>
              <a:rPr lang="en-US" sz="3000" b="1" i="0" u="none" strike="noStrike" cap="none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. </a:t>
            </a:r>
            <a:r>
              <a:rPr lang="ko-KR" altLang="en-US" sz="3000" b="1" spc="-29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수요 신호를 어떻게 보충해야 할까요?</a:t>
            </a:r>
            <a:endParaRPr sz="3000" b="0" i="0" u="none" strike="noStrike" cap="none" dirty="0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66" name="Google Shape;1166;p27"/>
          <p:cNvSpPr/>
          <p:nvPr/>
        </p:nvSpPr>
        <p:spPr>
          <a:xfrm>
            <a:off x="1257300" y="7810500"/>
            <a:ext cx="7493000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300" b="0" i="0" u="none" strike="noStrike" cap="none" dirty="0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장바구니 데이터만으로 공구 오픈 기준을 잡아도 되는지</a:t>
            </a:r>
          </a:p>
        </p:txBody>
      </p:sp>
      <p:sp>
        <p:nvSpPr>
          <p:cNvPr id="1167" name="Google Shape;1167;p27"/>
          <p:cNvSpPr/>
          <p:nvPr/>
        </p:nvSpPr>
        <p:spPr>
          <a:xfrm>
            <a:off x="9359900" y="7048500"/>
            <a:ext cx="774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1356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2850"/>
              <a:buFont typeface="Arial"/>
              <a:buNone/>
            </a:pPr>
            <a:r>
              <a:rPr lang="en-US" sz="3000" b="1" spc="-29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6</a:t>
            </a:r>
            <a:r>
              <a:rPr lang="en-US" sz="3000" b="1" i="0" u="none" strike="noStrike" cap="none" spc="-29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. </a:t>
            </a:r>
            <a:r>
              <a:rPr lang="ko-KR" altLang="en-US" sz="3000" b="1" spc="-29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</a:rPr>
              <a:t>문제정의가 뾰족한가요?</a:t>
            </a:r>
            <a:endParaRPr sz="3000" b="0" i="0" u="none" strike="noStrike" cap="none">
              <a:solidFill>
                <a:schemeClr val="dk1"/>
              </a:solidFill>
              <a:latin typeface="KoreanSWGI1R" panose="02020600000000000000" pitchFamily="18" charset="-127"/>
              <a:ea typeface="KoreanSWGI1R" panose="02020600000000000000" pitchFamily="18" charset="-127"/>
              <a:cs typeface="Calibri"/>
              <a:sym typeface="Calibri"/>
            </a:endParaRPr>
          </a:p>
        </p:txBody>
      </p:sp>
      <p:sp>
        <p:nvSpPr>
          <p:cNvPr id="1168" name="Google Shape;1168;p27"/>
          <p:cNvSpPr/>
          <p:nvPr/>
        </p:nvSpPr>
        <p:spPr>
          <a:xfrm>
            <a:off x="9359900" y="7810500"/>
            <a:ext cx="7493000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 eaLnBrk="0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1C1C1F"/>
              </a:buClr>
              <a:buSzPts val="1950"/>
              <a:buFont typeface="Arial"/>
              <a:buNone/>
            </a:pPr>
            <a:r>
              <a:rPr lang="ko-KR" altLang="en-US" sz="2300" b="0" i="0" u="none" strike="noStrike" cap="none">
                <a:solidFill>
                  <a:srgbClr val="1C1C1F"/>
                </a:solidFill>
                <a:latin typeface="KoreanSWGI1R" panose="02020600000000000000" pitchFamily="18" charset="-127"/>
                <a:ea typeface="KoreanSWGI1R" panose="02020600000000000000" pitchFamily="18" charset="-127"/>
                <a:sym typeface="Arial"/>
              </a:rPr>
              <a:t>문제정의에서 보완할 점이 있다면 솔직하게 피드백 부탁드립니다</a:t>
            </a:r>
          </a:p>
        </p:txBody>
      </p:sp>
    </p:spTree>
    <p:extLst>
      <p:ext uri="{BB962C8B-B14F-4D97-AF65-F5344CB8AC3E}">
        <p14:creationId xmlns:p14="http://schemas.microsoft.com/office/powerpoint/2010/main" val="453531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AC75BE6-5D0C-4343-9221-DC390AD6C52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3068b205-3d07-43a8-8dc9-ca969db4e6b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0B27656-5328-4A55-9E5B-4372DA512FBD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c2d3cb90-6089-4313-923d-d44b194c302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3630</Words>
  <Application>Microsoft Macintosh PowerPoint</Application>
  <PresentationFormat>사용자 지정</PresentationFormat>
  <Paragraphs>844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맑은 고딕</vt:lpstr>
      <vt:lpstr>KoreanSWGI1R</vt:lpstr>
      <vt:lpstr>KoreanSWGI2R</vt:lpstr>
      <vt:lpstr>Arial</vt:lpstr>
      <vt:lpstr>Calibri</vt:lpstr>
      <vt:lpstr>Office Theme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하유정</cp:lastModifiedBy>
  <cp:revision>26</cp:revision>
  <dcterms:modified xsi:type="dcterms:W3CDTF">2026-10-14T06:52:40Z</dcterms:modified>
</cp:coreProperties>
</file>